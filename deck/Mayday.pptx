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Mayday: the stop signal for agents. We built it for the Supabase Select hackathon, where the prompt was to build something agents want. Watch the comb: one cell goes red, and the hive learns from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honeybee that is attacked at a flower flies home and gives its nestmates a stop signal: a short pulse that says, stop sending foragers down that path. One bee pays the cost. The rest of the hive doesn't.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Agents have no stop signal. Thousands of them hit the same Stripe webhook error, the same Supabase row-level security wall, the same Next.js error, every single day. Every agent pays again, and the vendor never finds 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loop. An agent goes down and sends a mayday. Postgres finds the crash site and sends back a briefing: the fix that worked for earlier agents, with the vendor's official fix first. When the rescue is confirmed, the best fix rises.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live right now, so let's watch one go down. I'll send a real error and you'll see it land on the map. The numbers include charted sites, and live and test-flight traffic is always marked.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vendor gets a tower. They see where agents crash on their product, ranked by agents down and hours lost. They pin the official fix at the exact crash site, and they pay per rescue through Stripe, only when the fix works.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vendor also gets an airworthiness rating, and it can't be bought. It is computed from real crashes and rescues, so it moves only when agents stop going down. Agents check it before they build, with mayday preflight.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it's built. Supabase Postgres does the matching, row-level security is the permission model, and Realtime is the UI. Vercel runs Next.js 16 and the MCP server, Stripe handles Checkout and pay-per-rescue meters, and Claude agents fly the test flights. A mayday is one SQL transaction.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Vendors already pay to stop developers failing on their product. Mayday lets them find the crash sites, fix them at the moment of failure, and prove it with a rating and a per-rescue bill. And there is day-one value with zero network: launch a test flight.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agent that goes down should be the last one to go down there. That is Mayday. It's live at this address, the code is on GitHub, and your agents can connect today.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783080"/>
            <a:ext cx="6035040" cy="1645920"/>
          </a:xfrm>
        </p:spPr>
        <p:txBody>
          <a:bodyPr wrap="square" lIns="0" rIns="0" tIns="0" bIns="0" anchor="t">
            <a:noAutofit/>
          </a:bodyPr>
          <a:lstStyle/>
          <a:p>
            <a:pPr algn="l">
              <a:lnSpc>
                <a:spcPct val="85000"/>
              </a:lnSpc>
            </a:pPr>
            <a:r>
              <a:rPr sz="12000" b="0" spc="-540">
                <a:solidFill>
                  <a:srgbClr val="FFFFFF"/>
                </a:solidFill>
                <a:latin typeface="Helvetica Neue"/>
              </a:rPr>
              <a:t>Mayday</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01 / 10  ·  TITLE</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sp>
        <p:nvSpPr>
          <p:cNvPr id="10" name="TextBox 9"/>
          <p:cNvSpPr txBox="1"/>
          <p:nvPr/>
        </p:nvSpPr>
        <p:spPr>
          <a:xfrm>
            <a:off x="685800" y="3611880"/>
            <a:ext cx="6035040" cy="594360"/>
          </a:xfrm>
          <a:prstGeom prst="rect">
            <a:avLst/>
          </a:prstGeom>
          <a:noFill/>
        </p:spPr>
        <p:txBody>
          <a:bodyPr wrap="square" lIns="0" rIns="0" tIns="0" bIns="0" anchor="t">
            <a:noAutofit/>
          </a:bodyPr>
          <a:lstStyle/>
          <a:p>
            <a:pPr algn="l">
              <a:lnSpc>
                <a:spcPct val="100000"/>
              </a:lnSpc>
            </a:pPr>
            <a:r>
              <a:rPr sz="3400" b="0" spc="-102">
                <a:solidFill>
                  <a:srgbClr val="FFFFFF"/>
                </a:solidFill>
                <a:latin typeface="Helvetica Neue"/>
              </a:rPr>
              <a:t>The stop signal for agents.</a:t>
            </a:r>
          </a:p>
        </p:txBody>
      </p:sp>
      <p:cxnSp>
        <p:nvCxnSpPr>
          <p:cNvPr id="11" name="Connector 10"/>
          <p:cNvCxnSpPr/>
          <p:nvPr/>
        </p:nvCxnSpPr>
        <p:spPr>
          <a:xfrm>
            <a:off x="685800" y="4553712"/>
            <a:ext cx="548640" cy="0"/>
          </a:xfrm>
          <a:prstGeom prst="line">
            <a:avLst/>
          </a:prstGeom>
          <a:ln w="19050">
            <a:solidFill>
              <a:srgbClr val="F5A524"/>
            </a:solidFill>
          </a:ln>
        </p:spPr>
      </p:cxnSp>
      <p:sp>
        <p:nvSpPr>
          <p:cNvPr id="12" name="TextBox 11"/>
          <p:cNvSpPr txBox="1"/>
          <p:nvPr/>
        </p:nvSpPr>
        <p:spPr>
          <a:xfrm>
            <a:off x="685800" y="4700016"/>
            <a:ext cx="6035040" cy="228600"/>
          </a:xfrm>
          <a:prstGeom prst="rect">
            <a:avLst/>
          </a:prstGeom>
          <a:noFill/>
        </p:spPr>
        <p:txBody>
          <a:bodyPr wrap="square" lIns="0" rIns="0" tIns="0" bIns="0" anchor="t">
            <a:noAutofit/>
          </a:bodyPr>
          <a:lstStyle/>
          <a:p>
            <a:pPr algn="l">
              <a:lnSpc>
                <a:spcPct val="100000"/>
              </a:lnSpc>
            </a:pPr>
            <a:r>
              <a:rPr sz="1050" b="0" spc="168">
                <a:solidFill>
                  <a:srgbClr val="8F8F8A"/>
                </a:solidFill>
                <a:latin typeface="Menlo"/>
              </a:rPr>
              <a:t>SUPABASE SELECT 2026 HACKATHON</a:t>
            </a:r>
          </a:p>
        </p:txBody>
      </p:sp>
      <p:sp>
        <p:nvSpPr>
          <p:cNvPr id="13" name="Freeform 12"/>
          <p:cNvSpPr/>
          <p:nvPr/>
        </p:nvSpPr>
        <p:spPr>
          <a:xfrm>
            <a:off x="6842440" y="3240267"/>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14" name="Freeform 13"/>
          <p:cNvSpPr/>
          <p:nvPr/>
        </p:nvSpPr>
        <p:spPr>
          <a:xfrm>
            <a:off x="7175035" y="3816339"/>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15" name="Freeform 14"/>
          <p:cNvSpPr/>
          <p:nvPr/>
        </p:nvSpPr>
        <p:spPr>
          <a:xfrm>
            <a:off x="7507631" y="4392411"/>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noFill/>
          <a:ln w="9525">
            <a:solidFill>
              <a:srgbClr val="1C1C1C"/>
            </a:solidFill>
          </a:ln>
        </p:spPr>
        <p:txBody>
          <a:bodyPr rtlCol="0" anchor="ctr"/>
          <a:lstStyle/>
          <a:p>
            <a:pPr algn="ctr"/>
          </a:p>
        </p:txBody>
      </p:sp>
      <p:sp>
        <p:nvSpPr>
          <p:cNvPr id="16" name="Freeform 15"/>
          <p:cNvSpPr/>
          <p:nvPr/>
        </p:nvSpPr>
        <p:spPr>
          <a:xfrm>
            <a:off x="7840226" y="4968483"/>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17" name="Freeform 16"/>
          <p:cNvSpPr/>
          <p:nvPr/>
        </p:nvSpPr>
        <p:spPr>
          <a:xfrm>
            <a:off x="7175035" y="2664195"/>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18" name="Freeform 17"/>
          <p:cNvSpPr/>
          <p:nvPr/>
        </p:nvSpPr>
        <p:spPr>
          <a:xfrm>
            <a:off x="7507631" y="3240267"/>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19" name="Freeform 18"/>
          <p:cNvSpPr/>
          <p:nvPr/>
        </p:nvSpPr>
        <p:spPr>
          <a:xfrm>
            <a:off x="7840226" y="3816339"/>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20" name="Freeform 19"/>
          <p:cNvSpPr/>
          <p:nvPr/>
        </p:nvSpPr>
        <p:spPr>
          <a:xfrm>
            <a:off x="8172821" y="4392411"/>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21" name="Freeform 20"/>
          <p:cNvSpPr/>
          <p:nvPr/>
        </p:nvSpPr>
        <p:spPr>
          <a:xfrm>
            <a:off x="8505416" y="4968483"/>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22" name="Freeform 21"/>
          <p:cNvSpPr/>
          <p:nvPr/>
        </p:nvSpPr>
        <p:spPr>
          <a:xfrm>
            <a:off x="7507631" y="2088123"/>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noFill/>
          <a:ln w="9525">
            <a:solidFill>
              <a:srgbClr val="1C1C1C"/>
            </a:solidFill>
          </a:ln>
        </p:spPr>
        <p:txBody>
          <a:bodyPr rtlCol="0" anchor="ctr"/>
          <a:lstStyle/>
          <a:p>
            <a:pPr algn="ctr"/>
          </a:p>
        </p:txBody>
      </p:sp>
      <p:sp>
        <p:nvSpPr>
          <p:cNvPr id="23" name="Freeform 22"/>
          <p:cNvSpPr/>
          <p:nvPr/>
        </p:nvSpPr>
        <p:spPr>
          <a:xfrm>
            <a:off x="7840226" y="2664195"/>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24" name="Freeform 23"/>
          <p:cNvSpPr/>
          <p:nvPr/>
        </p:nvSpPr>
        <p:spPr>
          <a:xfrm>
            <a:off x="8172821" y="3240267"/>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25" name="Freeform 24"/>
          <p:cNvSpPr/>
          <p:nvPr/>
        </p:nvSpPr>
        <p:spPr>
          <a:xfrm>
            <a:off x="8505416" y="3816339"/>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26" name="Freeform 25"/>
          <p:cNvSpPr/>
          <p:nvPr/>
        </p:nvSpPr>
        <p:spPr>
          <a:xfrm>
            <a:off x="8838012" y="4392411"/>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27" name="Freeform 26"/>
          <p:cNvSpPr/>
          <p:nvPr/>
        </p:nvSpPr>
        <p:spPr>
          <a:xfrm>
            <a:off x="9170607" y="4968483"/>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28" name="Freeform 27"/>
          <p:cNvSpPr/>
          <p:nvPr/>
        </p:nvSpPr>
        <p:spPr>
          <a:xfrm>
            <a:off x="7840226" y="1512051"/>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29" name="Freeform 28"/>
          <p:cNvSpPr/>
          <p:nvPr/>
        </p:nvSpPr>
        <p:spPr>
          <a:xfrm>
            <a:off x="8172821" y="2088123"/>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30" name="Freeform 29"/>
          <p:cNvSpPr/>
          <p:nvPr/>
        </p:nvSpPr>
        <p:spPr>
          <a:xfrm>
            <a:off x="8505416" y="2664195"/>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31" name="Freeform 30"/>
          <p:cNvSpPr/>
          <p:nvPr/>
        </p:nvSpPr>
        <p:spPr>
          <a:xfrm>
            <a:off x="8838012" y="3240267"/>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32" name="Freeform 31"/>
          <p:cNvSpPr/>
          <p:nvPr/>
        </p:nvSpPr>
        <p:spPr>
          <a:xfrm>
            <a:off x="9170607" y="3816339"/>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33" name="Freeform 32"/>
          <p:cNvSpPr/>
          <p:nvPr/>
        </p:nvSpPr>
        <p:spPr>
          <a:xfrm>
            <a:off x="9503202" y="4392411"/>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34" name="Freeform 33"/>
          <p:cNvSpPr/>
          <p:nvPr/>
        </p:nvSpPr>
        <p:spPr>
          <a:xfrm>
            <a:off x="9835798" y="4968483"/>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noFill/>
          <a:ln w="9525">
            <a:solidFill>
              <a:srgbClr val="1C1C1C"/>
            </a:solidFill>
          </a:ln>
        </p:spPr>
        <p:txBody>
          <a:bodyPr rtlCol="0" anchor="ctr"/>
          <a:lstStyle/>
          <a:p>
            <a:pPr algn="ctr"/>
          </a:p>
        </p:txBody>
      </p:sp>
      <p:sp>
        <p:nvSpPr>
          <p:cNvPr id="35" name="Freeform 34"/>
          <p:cNvSpPr/>
          <p:nvPr/>
        </p:nvSpPr>
        <p:spPr>
          <a:xfrm>
            <a:off x="8505416" y="1512051"/>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36" name="Freeform 35"/>
          <p:cNvSpPr/>
          <p:nvPr/>
        </p:nvSpPr>
        <p:spPr>
          <a:xfrm>
            <a:off x="8838012" y="2088123"/>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37" name="Freeform 36"/>
          <p:cNvSpPr/>
          <p:nvPr/>
        </p:nvSpPr>
        <p:spPr>
          <a:xfrm>
            <a:off x="9170607" y="2664195"/>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38" name="Freeform 37"/>
          <p:cNvSpPr/>
          <p:nvPr/>
        </p:nvSpPr>
        <p:spPr>
          <a:xfrm>
            <a:off x="9503202" y="3240267"/>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39" name="Freeform 38"/>
          <p:cNvSpPr/>
          <p:nvPr/>
        </p:nvSpPr>
        <p:spPr>
          <a:xfrm>
            <a:off x="9835798" y="3816339"/>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40" name="Freeform 39"/>
          <p:cNvSpPr/>
          <p:nvPr/>
        </p:nvSpPr>
        <p:spPr>
          <a:xfrm>
            <a:off x="10168393" y="4392411"/>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41" name="Freeform 40"/>
          <p:cNvSpPr/>
          <p:nvPr/>
        </p:nvSpPr>
        <p:spPr>
          <a:xfrm>
            <a:off x="9170607" y="1512051"/>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42" name="Freeform 41"/>
          <p:cNvSpPr/>
          <p:nvPr/>
        </p:nvSpPr>
        <p:spPr>
          <a:xfrm>
            <a:off x="9503202" y="2088123"/>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43" name="Freeform 42"/>
          <p:cNvSpPr/>
          <p:nvPr/>
        </p:nvSpPr>
        <p:spPr>
          <a:xfrm>
            <a:off x="9835798" y="2664195"/>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44" name="Freeform 43"/>
          <p:cNvSpPr/>
          <p:nvPr/>
        </p:nvSpPr>
        <p:spPr>
          <a:xfrm>
            <a:off x="10168393" y="3240267"/>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0E0E0E"/>
          </a:solidFill>
          <a:ln w="9525">
            <a:solidFill>
              <a:srgbClr val="2E2E2E"/>
            </a:solidFill>
          </a:ln>
        </p:spPr>
        <p:txBody>
          <a:bodyPr rtlCol="0" anchor="ctr"/>
          <a:lstStyle/>
          <a:p>
            <a:pPr algn="ctr"/>
          </a:p>
        </p:txBody>
      </p:sp>
      <p:sp>
        <p:nvSpPr>
          <p:cNvPr id="45" name="Freeform 44"/>
          <p:cNvSpPr/>
          <p:nvPr/>
        </p:nvSpPr>
        <p:spPr>
          <a:xfrm>
            <a:off x="10500988" y="3816339"/>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46" name="Freeform 45"/>
          <p:cNvSpPr/>
          <p:nvPr/>
        </p:nvSpPr>
        <p:spPr>
          <a:xfrm>
            <a:off x="9835798" y="1512051"/>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noFill/>
          <a:ln w="9525">
            <a:solidFill>
              <a:srgbClr val="1C1C1C"/>
            </a:solidFill>
          </a:ln>
        </p:spPr>
        <p:txBody>
          <a:bodyPr rtlCol="0" anchor="ctr"/>
          <a:lstStyle/>
          <a:p>
            <a:pPr algn="ctr"/>
          </a:p>
        </p:txBody>
      </p:sp>
      <p:sp>
        <p:nvSpPr>
          <p:cNvPr id="47" name="Freeform 46"/>
          <p:cNvSpPr/>
          <p:nvPr/>
        </p:nvSpPr>
        <p:spPr>
          <a:xfrm>
            <a:off x="10168393" y="2088123"/>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48" name="Freeform 47"/>
          <p:cNvSpPr/>
          <p:nvPr/>
        </p:nvSpPr>
        <p:spPr>
          <a:xfrm>
            <a:off x="10500988" y="2664195"/>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noFill/>
          <a:ln w="9525">
            <a:solidFill>
              <a:srgbClr val="1C1C1C"/>
            </a:solidFill>
          </a:ln>
        </p:spPr>
        <p:txBody>
          <a:bodyPr rtlCol="0" anchor="ctr"/>
          <a:lstStyle/>
          <a:p>
            <a:pPr algn="ctr"/>
          </a:p>
        </p:txBody>
      </p:sp>
      <p:sp>
        <p:nvSpPr>
          <p:cNvPr id="49" name="Freeform 48"/>
          <p:cNvSpPr/>
          <p:nvPr/>
        </p:nvSpPr>
        <p:spPr>
          <a:xfrm>
            <a:off x="10833584" y="3240267"/>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noFill/>
          <a:ln w="9525">
            <a:solidFill>
              <a:srgbClr val="1C1C1C"/>
            </a:solidFill>
          </a:ln>
        </p:spPr>
        <p:txBody>
          <a:bodyPr rtlCol="0" anchor="ctr"/>
          <a:lstStyle/>
          <a:p>
            <a:pPr algn="ctr"/>
          </a:p>
        </p:txBody>
      </p:sp>
      <p:grpSp>
        <p:nvGrpSpPr>
          <p:cNvPr id="51" name="Group 50"/>
          <p:cNvGrpSpPr/>
          <p:nvPr/>
        </p:nvGrpSpPr>
        <p:grpSpPr>
          <a:xfrm>
            <a:off x="8838012" y="3240267"/>
            <a:ext cx="611975" cy="706649"/>
            <a:chOff x="8838012" y="3240267"/>
            <a:chExt cx="611975" cy="706649"/>
          </a:xfrm>
        </p:grpSpPr>
        <p:sp>
          <p:nvSpPr>
            <p:cNvPr id="50" name="Freeform 49"/>
            <p:cNvSpPr/>
            <p:nvPr/>
          </p:nvSpPr>
          <p:spPr>
            <a:xfrm>
              <a:off x="8838012" y="3240267"/>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FF3B30"/>
            </a:solidFill>
            <a:ln>
              <a:noFill/>
            </a:ln>
          </p:spPr>
          <p:txBody>
            <a:bodyPr rtlCol="0" anchor="ctr"/>
            <a:lstStyle/>
            <a:p>
              <a:pPr algn="ctr"/>
            </a:p>
          </p:txBody>
        </p:sp>
      </p:grpSp>
      <p:grpSp>
        <p:nvGrpSpPr>
          <p:cNvPr id="58" name="Group 57"/>
          <p:cNvGrpSpPr/>
          <p:nvPr/>
        </p:nvGrpSpPr>
        <p:grpSpPr>
          <a:xfrm>
            <a:off x="8172821" y="2664195"/>
            <a:ext cx="1942357" cy="1858793"/>
            <a:chOff x="8172821" y="2664195"/>
            <a:chExt cx="1942357" cy="1858793"/>
          </a:xfrm>
        </p:grpSpPr>
        <p:sp>
          <p:nvSpPr>
            <p:cNvPr id="52" name="Freeform 51"/>
            <p:cNvSpPr/>
            <p:nvPr/>
          </p:nvSpPr>
          <p:spPr>
            <a:xfrm>
              <a:off x="8172821" y="3240267"/>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F5A524"/>
            </a:solidFill>
            <a:ln>
              <a:noFill/>
            </a:ln>
          </p:spPr>
          <p:txBody>
            <a:bodyPr rtlCol="0" anchor="ctr"/>
            <a:lstStyle/>
            <a:p>
              <a:pPr algn="ctr"/>
            </a:p>
          </p:txBody>
        </p:sp>
        <p:sp>
          <p:nvSpPr>
            <p:cNvPr id="53" name="Freeform 52"/>
            <p:cNvSpPr/>
            <p:nvPr/>
          </p:nvSpPr>
          <p:spPr>
            <a:xfrm>
              <a:off x="8505416" y="3816339"/>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F5A524"/>
            </a:solidFill>
            <a:ln>
              <a:noFill/>
            </a:ln>
          </p:spPr>
          <p:txBody>
            <a:bodyPr rtlCol="0" anchor="ctr"/>
            <a:lstStyle/>
            <a:p>
              <a:pPr algn="ctr"/>
            </a:p>
          </p:txBody>
        </p:sp>
        <p:sp>
          <p:nvSpPr>
            <p:cNvPr id="54" name="Freeform 53"/>
            <p:cNvSpPr/>
            <p:nvPr/>
          </p:nvSpPr>
          <p:spPr>
            <a:xfrm>
              <a:off x="8505416" y="2664195"/>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F5A524"/>
            </a:solidFill>
            <a:ln>
              <a:noFill/>
            </a:ln>
          </p:spPr>
          <p:txBody>
            <a:bodyPr rtlCol="0" anchor="ctr"/>
            <a:lstStyle/>
            <a:p>
              <a:pPr algn="ctr"/>
            </a:p>
          </p:txBody>
        </p:sp>
        <p:sp>
          <p:nvSpPr>
            <p:cNvPr id="55" name="Freeform 54"/>
            <p:cNvSpPr/>
            <p:nvPr/>
          </p:nvSpPr>
          <p:spPr>
            <a:xfrm>
              <a:off x="9170607" y="3816339"/>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F5A524"/>
            </a:solidFill>
            <a:ln>
              <a:noFill/>
            </a:ln>
          </p:spPr>
          <p:txBody>
            <a:bodyPr rtlCol="0" anchor="ctr"/>
            <a:lstStyle/>
            <a:p>
              <a:pPr algn="ctr"/>
            </a:p>
          </p:txBody>
        </p:sp>
        <p:sp>
          <p:nvSpPr>
            <p:cNvPr id="56" name="Freeform 55"/>
            <p:cNvSpPr/>
            <p:nvPr/>
          </p:nvSpPr>
          <p:spPr>
            <a:xfrm>
              <a:off x="9170607" y="2664195"/>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F5A524"/>
            </a:solidFill>
            <a:ln>
              <a:noFill/>
            </a:ln>
          </p:spPr>
          <p:txBody>
            <a:bodyPr rtlCol="0" anchor="ctr"/>
            <a:lstStyle/>
            <a:p>
              <a:pPr algn="ctr"/>
            </a:p>
          </p:txBody>
        </p:sp>
        <p:sp>
          <p:nvSpPr>
            <p:cNvPr id="57" name="Freeform 56"/>
            <p:cNvSpPr/>
            <p:nvPr/>
          </p:nvSpPr>
          <p:spPr>
            <a:xfrm>
              <a:off x="9503202" y="3240267"/>
              <a:ext cx="611976" cy="706649"/>
            </a:xfrm>
            <a:custGeom>
              <a:avLst/>
              <a:gdLst/>
              <a:ahLst/>
              <a:cxnLst/>
              <a:rect l="l" t="t" r="r" b="b"/>
              <a:pathLst>
                <a:path w="611976" h="706649">
                  <a:moveTo>
                    <a:pt x="305988" y="0"/>
                  </a:moveTo>
                  <a:lnTo>
                    <a:pt x="611976" y="176662"/>
                  </a:lnTo>
                  <a:lnTo>
                    <a:pt x="611976" y="529987"/>
                  </a:lnTo>
                  <a:lnTo>
                    <a:pt x="305988" y="706649"/>
                  </a:lnTo>
                  <a:lnTo>
                    <a:pt x="0" y="529987"/>
                  </a:lnTo>
                  <a:lnTo>
                    <a:pt x="0" y="176662"/>
                  </a:lnTo>
                  <a:close/>
                </a:path>
              </a:pathLst>
            </a:custGeom>
            <a:solidFill>
              <a:srgbClr val="F5A524"/>
            </a:solidFill>
            <a:ln>
              <a:noFill/>
            </a:ln>
          </p:spPr>
          <p:txBody>
            <a:bodyPr rtlCol="0" anchor="ctr"/>
            <a:lstStyle/>
            <a:p>
              <a:pPr algn="ctr"/>
            </a:p>
          </p:txBody>
        </p:sp>
      </p:grpSp>
      <p:grpSp>
        <p:nvGrpSpPr>
          <p:cNvPr id="65" name="Group 64"/>
          <p:cNvGrpSpPr/>
          <p:nvPr/>
        </p:nvGrpSpPr>
        <p:grpSpPr>
          <a:xfrm>
            <a:off x="7840226" y="2088123"/>
            <a:ext cx="2607547" cy="3010937"/>
            <a:chOff x="7840226" y="2088123"/>
            <a:chExt cx="2607547" cy="3010937"/>
          </a:xfrm>
        </p:grpSpPr>
        <p:sp>
          <p:nvSpPr>
            <p:cNvPr id="59" name="Freeform 58"/>
            <p:cNvSpPr/>
            <p:nvPr/>
          </p:nvSpPr>
          <p:spPr>
            <a:xfrm>
              <a:off x="7840226" y="3816339"/>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58B7FF"/>
            </a:solidFill>
            <a:ln>
              <a:noFill/>
            </a:ln>
          </p:spPr>
          <p:txBody>
            <a:bodyPr rtlCol="0" anchor="ctr"/>
            <a:lstStyle/>
            <a:p>
              <a:pPr algn="ctr"/>
            </a:p>
          </p:txBody>
        </p:sp>
        <p:sp>
          <p:nvSpPr>
            <p:cNvPr id="60" name="Freeform 59"/>
            <p:cNvSpPr/>
            <p:nvPr/>
          </p:nvSpPr>
          <p:spPr>
            <a:xfrm>
              <a:off x="7840226" y="2664195"/>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58B7FF"/>
            </a:solidFill>
            <a:ln>
              <a:noFill/>
            </a:ln>
          </p:spPr>
          <p:txBody>
            <a:bodyPr rtlCol="0" anchor="ctr"/>
            <a:lstStyle/>
            <a:p>
              <a:pPr algn="ctr"/>
            </a:p>
          </p:txBody>
        </p:sp>
        <p:sp>
          <p:nvSpPr>
            <p:cNvPr id="61" name="Freeform 60"/>
            <p:cNvSpPr/>
            <p:nvPr/>
          </p:nvSpPr>
          <p:spPr>
            <a:xfrm>
              <a:off x="8838012" y="4392411"/>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58B7FF"/>
            </a:solidFill>
            <a:ln>
              <a:noFill/>
            </a:ln>
          </p:spPr>
          <p:txBody>
            <a:bodyPr rtlCol="0" anchor="ctr"/>
            <a:lstStyle/>
            <a:p>
              <a:pPr algn="ctr"/>
            </a:p>
          </p:txBody>
        </p:sp>
        <p:sp>
          <p:nvSpPr>
            <p:cNvPr id="62" name="Freeform 61"/>
            <p:cNvSpPr/>
            <p:nvPr/>
          </p:nvSpPr>
          <p:spPr>
            <a:xfrm>
              <a:off x="8838012" y="2088123"/>
              <a:ext cx="611975" cy="706649"/>
            </a:xfrm>
            <a:custGeom>
              <a:avLst/>
              <a:gdLst/>
              <a:ahLst/>
              <a:cxnLst/>
              <a:rect l="l" t="t" r="r" b="b"/>
              <a:pathLst>
                <a:path w="611975" h="706649">
                  <a:moveTo>
                    <a:pt x="305988" y="0"/>
                  </a:moveTo>
                  <a:lnTo>
                    <a:pt x="611975" y="176662"/>
                  </a:lnTo>
                  <a:lnTo>
                    <a:pt x="611975" y="529987"/>
                  </a:lnTo>
                  <a:lnTo>
                    <a:pt x="305988" y="706649"/>
                  </a:lnTo>
                  <a:lnTo>
                    <a:pt x="0" y="529987"/>
                  </a:lnTo>
                  <a:lnTo>
                    <a:pt x="0" y="176662"/>
                  </a:lnTo>
                  <a:close/>
                </a:path>
              </a:pathLst>
            </a:custGeom>
            <a:solidFill>
              <a:srgbClr val="58B7FF"/>
            </a:solidFill>
            <a:ln>
              <a:noFill/>
            </a:ln>
          </p:spPr>
          <p:txBody>
            <a:bodyPr rtlCol="0" anchor="ctr"/>
            <a:lstStyle/>
            <a:p>
              <a:pPr algn="ctr"/>
            </a:p>
          </p:txBody>
        </p:sp>
        <p:sp>
          <p:nvSpPr>
            <p:cNvPr id="63" name="Freeform 62"/>
            <p:cNvSpPr/>
            <p:nvPr/>
          </p:nvSpPr>
          <p:spPr>
            <a:xfrm>
              <a:off x="9835798" y="3816339"/>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solidFill>
              <a:srgbClr val="58B7FF"/>
            </a:solidFill>
            <a:ln>
              <a:noFill/>
            </a:ln>
          </p:spPr>
          <p:txBody>
            <a:bodyPr rtlCol="0" anchor="ctr"/>
            <a:lstStyle/>
            <a:p>
              <a:pPr algn="ctr"/>
            </a:p>
          </p:txBody>
        </p:sp>
        <p:sp>
          <p:nvSpPr>
            <p:cNvPr id="64" name="Freeform 63"/>
            <p:cNvSpPr/>
            <p:nvPr/>
          </p:nvSpPr>
          <p:spPr>
            <a:xfrm>
              <a:off x="9835798" y="2664195"/>
              <a:ext cx="611975" cy="706649"/>
            </a:xfrm>
            <a:custGeom>
              <a:avLst/>
              <a:gdLst/>
              <a:ahLst/>
              <a:cxnLst/>
              <a:rect l="l" t="t" r="r" b="b"/>
              <a:pathLst>
                <a:path w="611975" h="706649">
                  <a:moveTo>
                    <a:pt x="305987" y="0"/>
                  </a:moveTo>
                  <a:lnTo>
                    <a:pt x="611975" y="176662"/>
                  </a:lnTo>
                  <a:lnTo>
                    <a:pt x="611975" y="529987"/>
                  </a:lnTo>
                  <a:lnTo>
                    <a:pt x="305987" y="706649"/>
                  </a:lnTo>
                  <a:lnTo>
                    <a:pt x="0" y="529987"/>
                  </a:lnTo>
                  <a:lnTo>
                    <a:pt x="0" y="176662"/>
                  </a:lnTo>
                  <a:close/>
                </a:path>
              </a:pathLst>
            </a:custGeom>
            <a:solidFill>
              <a:srgbClr val="58B7FF"/>
            </a:solidFill>
            <a:ln>
              <a:noFill/>
            </a:ln>
          </p:spPr>
          <p:txBody>
            <a:bodyPr rtlCol="0" anchor="ctr"/>
            <a:lstStyle/>
            <a:p>
              <a:pPr algn="ct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51"/>
                                        </p:tgtEl>
                                        <p:attrNameLst>
                                          <p:attrName>style.visibility</p:attrName>
                                        </p:attrNameLst>
                                      </p:cBhvr>
                                      <p:to>
                                        <p:strVal val="visible"/>
                                      </p:to>
                                    </p:set>
                                    <p:animEffect transition="in" filter="fade">
                                      <p:cBhvr>
                                        <p:cTn id="7" dur="500"/>
                                        <p:tgtEl>
                                          <p:spTgt spid="51"/>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500"/>
                                        <p:tgtEl>
                                          <p:spTgt spid="58"/>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65"/>
                                        </p:tgtEl>
                                        <p:attrNameLst>
                                          <p:attrName>style.visibility</p:attrName>
                                        </p:attrNameLst>
                                      </p:cBhvr>
                                      <p:to>
                                        <p:strVal val="visible"/>
                                      </p:to>
                                    </p:set>
                                    <p:animEffect transition="in" filter="fade">
                                      <p:cBhvr>
                                        <p:cTn id="15"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325880"/>
            <a:ext cx="5669280" cy="2286000"/>
          </a:xfrm>
        </p:spPr>
        <p:txBody>
          <a:bodyPr wrap="square" lIns="0" rIns="0" tIns="0" bIns="0" anchor="t">
            <a:noAutofit/>
          </a:bodyPr>
          <a:lstStyle/>
          <a:p>
            <a:pPr algn="l">
              <a:lnSpc>
                <a:spcPct val="90000"/>
              </a:lnSpc>
            </a:pPr>
            <a:r>
              <a:rPr sz="4000" b="0" spc="-140">
                <a:solidFill>
                  <a:srgbClr val="FFFFFF"/>
                </a:solidFill>
                <a:latin typeface="Helvetica Neue"/>
              </a:rPr>
              <a:t>A honeybee attacked at a flower warns the hive off that path.</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02 / 10  ·  THE HONEYBEE</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sp>
        <p:nvSpPr>
          <p:cNvPr id="10" name="TextBox 9"/>
          <p:cNvSpPr txBox="1"/>
          <p:nvPr/>
        </p:nvSpPr>
        <p:spPr>
          <a:xfrm>
            <a:off x="685800" y="3977639"/>
            <a:ext cx="5852160" cy="548640"/>
          </a:xfrm>
          <a:prstGeom prst="rect">
            <a:avLst/>
          </a:prstGeom>
          <a:noFill/>
        </p:spPr>
        <p:txBody>
          <a:bodyPr wrap="square" lIns="0" rIns="0" tIns="0" bIns="0" anchor="t">
            <a:noAutofit/>
          </a:bodyPr>
          <a:lstStyle/>
          <a:p>
            <a:pPr algn="l">
              <a:lnSpc>
                <a:spcPct val="100000"/>
              </a:lnSpc>
            </a:pPr>
            <a:r>
              <a:rPr sz="2800" b="0" spc="-84">
                <a:solidFill>
                  <a:srgbClr val="F5A524"/>
                </a:solidFill>
                <a:latin typeface="Helvetica Neue"/>
              </a:rPr>
              <a:t>One bee pays. The hive doesn't.</a:t>
            </a:r>
          </a:p>
        </p:txBody>
      </p:sp>
      <p:sp>
        <p:nvSpPr>
          <p:cNvPr id="11" name="Freeform 10"/>
          <p:cNvSpPr/>
          <p:nvPr/>
        </p:nvSpPr>
        <p:spPr>
          <a:xfrm>
            <a:off x="6781278" y="4223430"/>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12" name="Freeform 11"/>
          <p:cNvSpPr/>
          <p:nvPr/>
        </p:nvSpPr>
        <p:spPr>
          <a:xfrm>
            <a:off x="7066359" y="4717206"/>
            <a:ext cx="524551" cy="605699"/>
          </a:xfrm>
          <a:custGeom>
            <a:avLst/>
            <a:gdLst/>
            <a:ahLst/>
            <a:cxnLst/>
            <a:rect l="l" t="t" r="r" b="b"/>
            <a:pathLst>
              <a:path w="524551" h="605699">
                <a:moveTo>
                  <a:pt x="262275" y="0"/>
                </a:moveTo>
                <a:lnTo>
                  <a:pt x="524551" y="151425"/>
                </a:lnTo>
                <a:lnTo>
                  <a:pt x="524551"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13" name="Freeform 12"/>
          <p:cNvSpPr/>
          <p:nvPr/>
        </p:nvSpPr>
        <p:spPr>
          <a:xfrm>
            <a:off x="7351441" y="5210982"/>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14" name="Freeform 13"/>
          <p:cNvSpPr/>
          <p:nvPr/>
        </p:nvSpPr>
        <p:spPr>
          <a:xfrm>
            <a:off x="7066359" y="3729654"/>
            <a:ext cx="524551" cy="605699"/>
          </a:xfrm>
          <a:custGeom>
            <a:avLst/>
            <a:gdLst/>
            <a:ahLst/>
            <a:cxnLst/>
            <a:rect l="l" t="t" r="r" b="b"/>
            <a:pathLst>
              <a:path w="524551" h="605699">
                <a:moveTo>
                  <a:pt x="262275" y="0"/>
                </a:moveTo>
                <a:lnTo>
                  <a:pt x="524551" y="151425"/>
                </a:lnTo>
                <a:lnTo>
                  <a:pt x="524551"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15" name="Freeform 14"/>
          <p:cNvSpPr/>
          <p:nvPr/>
        </p:nvSpPr>
        <p:spPr>
          <a:xfrm>
            <a:off x="7351441" y="4223430"/>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16" name="Freeform 15"/>
          <p:cNvSpPr/>
          <p:nvPr/>
        </p:nvSpPr>
        <p:spPr>
          <a:xfrm>
            <a:off x="7636523" y="4717206"/>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17" name="Freeform 16"/>
          <p:cNvSpPr/>
          <p:nvPr/>
        </p:nvSpPr>
        <p:spPr>
          <a:xfrm>
            <a:off x="7921604" y="5210982"/>
            <a:ext cx="524551" cy="605699"/>
          </a:xfrm>
          <a:custGeom>
            <a:avLst/>
            <a:gdLst/>
            <a:ahLst/>
            <a:cxnLst/>
            <a:rect l="l" t="t" r="r" b="b"/>
            <a:pathLst>
              <a:path w="524551" h="605699">
                <a:moveTo>
                  <a:pt x="262275" y="0"/>
                </a:moveTo>
                <a:lnTo>
                  <a:pt x="524551" y="151425"/>
                </a:lnTo>
                <a:lnTo>
                  <a:pt x="524551"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18" name="Freeform 17"/>
          <p:cNvSpPr/>
          <p:nvPr/>
        </p:nvSpPr>
        <p:spPr>
          <a:xfrm>
            <a:off x="7351441" y="3235878"/>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19" name="Freeform 18"/>
          <p:cNvSpPr/>
          <p:nvPr/>
        </p:nvSpPr>
        <p:spPr>
          <a:xfrm>
            <a:off x="7636523" y="3729654"/>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0" name="Freeform 19"/>
          <p:cNvSpPr/>
          <p:nvPr/>
        </p:nvSpPr>
        <p:spPr>
          <a:xfrm>
            <a:off x="7921604" y="4223430"/>
            <a:ext cx="524551" cy="605699"/>
          </a:xfrm>
          <a:custGeom>
            <a:avLst/>
            <a:gdLst/>
            <a:ahLst/>
            <a:cxnLst/>
            <a:rect l="l" t="t" r="r" b="b"/>
            <a:pathLst>
              <a:path w="524551" h="605699">
                <a:moveTo>
                  <a:pt x="262275" y="0"/>
                </a:moveTo>
                <a:lnTo>
                  <a:pt x="524551" y="151425"/>
                </a:lnTo>
                <a:lnTo>
                  <a:pt x="524551"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1" name="Freeform 20"/>
          <p:cNvSpPr/>
          <p:nvPr/>
        </p:nvSpPr>
        <p:spPr>
          <a:xfrm>
            <a:off x="8206686" y="4717206"/>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2" name="Freeform 21"/>
          <p:cNvSpPr/>
          <p:nvPr/>
        </p:nvSpPr>
        <p:spPr>
          <a:xfrm>
            <a:off x="8491768" y="5210982"/>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3" name="Freeform 22"/>
          <p:cNvSpPr/>
          <p:nvPr/>
        </p:nvSpPr>
        <p:spPr>
          <a:xfrm>
            <a:off x="7921604" y="3235878"/>
            <a:ext cx="524551" cy="605699"/>
          </a:xfrm>
          <a:custGeom>
            <a:avLst/>
            <a:gdLst/>
            <a:ahLst/>
            <a:cxnLst/>
            <a:rect l="l" t="t" r="r" b="b"/>
            <a:pathLst>
              <a:path w="524551" h="605699">
                <a:moveTo>
                  <a:pt x="262275" y="0"/>
                </a:moveTo>
                <a:lnTo>
                  <a:pt x="524551" y="151425"/>
                </a:lnTo>
                <a:lnTo>
                  <a:pt x="524551"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4" name="Freeform 23"/>
          <p:cNvSpPr/>
          <p:nvPr/>
        </p:nvSpPr>
        <p:spPr>
          <a:xfrm>
            <a:off x="8206686" y="3729654"/>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5" name="Freeform 24"/>
          <p:cNvSpPr/>
          <p:nvPr/>
        </p:nvSpPr>
        <p:spPr>
          <a:xfrm>
            <a:off x="8491768" y="4223430"/>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6" name="Freeform 25"/>
          <p:cNvSpPr/>
          <p:nvPr/>
        </p:nvSpPr>
        <p:spPr>
          <a:xfrm>
            <a:off x="8776849" y="4717206"/>
            <a:ext cx="524551" cy="605699"/>
          </a:xfrm>
          <a:custGeom>
            <a:avLst/>
            <a:gdLst/>
            <a:ahLst/>
            <a:cxnLst/>
            <a:rect l="l" t="t" r="r" b="b"/>
            <a:pathLst>
              <a:path w="524551" h="605699">
                <a:moveTo>
                  <a:pt x="262276" y="0"/>
                </a:moveTo>
                <a:lnTo>
                  <a:pt x="524551" y="151425"/>
                </a:lnTo>
                <a:lnTo>
                  <a:pt x="524551" y="454274"/>
                </a:lnTo>
                <a:lnTo>
                  <a:pt x="262276"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7" name="Freeform 26"/>
          <p:cNvSpPr/>
          <p:nvPr/>
        </p:nvSpPr>
        <p:spPr>
          <a:xfrm>
            <a:off x="8491768" y="3235878"/>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8" name="Freeform 27"/>
          <p:cNvSpPr/>
          <p:nvPr/>
        </p:nvSpPr>
        <p:spPr>
          <a:xfrm>
            <a:off x="8776849" y="3729654"/>
            <a:ext cx="524551" cy="605699"/>
          </a:xfrm>
          <a:custGeom>
            <a:avLst/>
            <a:gdLst/>
            <a:ahLst/>
            <a:cxnLst/>
            <a:rect l="l" t="t" r="r" b="b"/>
            <a:pathLst>
              <a:path w="524551" h="605699">
                <a:moveTo>
                  <a:pt x="262276" y="0"/>
                </a:moveTo>
                <a:lnTo>
                  <a:pt x="524551" y="151425"/>
                </a:lnTo>
                <a:lnTo>
                  <a:pt x="524551" y="454274"/>
                </a:lnTo>
                <a:lnTo>
                  <a:pt x="262276"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29" name="Freeform 28"/>
          <p:cNvSpPr/>
          <p:nvPr/>
        </p:nvSpPr>
        <p:spPr>
          <a:xfrm>
            <a:off x="9061931" y="4223430"/>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0E0E0E"/>
          </a:solidFill>
          <a:ln w="9525">
            <a:solidFill>
              <a:srgbClr val="2E2E2E"/>
            </a:solidFill>
          </a:ln>
        </p:spPr>
        <p:txBody>
          <a:bodyPr rtlCol="0" anchor="ctr"/>
          <a:lstStyle/>
          <a:p>
            <a:pPr algn="ctr"/>
          </a:p>
        </p:txBody>
      </p:sp>
      <p:sp>
        <p:nvSpPr>
          <p:cNvPr id="30" name="TextBox 29"/>
          <p:cNvSpPr txBox="1"/>
          <p:nvPr/>
        </p:nvSpPr>
        <p:spPr>
          <a:xfrm>
            <a:off x="6675120" y="5943600"/>
            <a:ext cx="1828800"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THE HIVE</a:t>
            </a:r>
          </a:p>
        </p:txBody>
      </p:sp>
      <p:grpSp>
        <p:nvGrpSpPr>
          <p:cNvPr id="36" name="Group 35"/>
          <p:cNvGrpSpPr/>
          <p:nvPr/>
        </p:nvGrpSpPr>
        <p:grpSpPr>
          <a:xfrm>
            <a:off x="8412480" y="1261872"/>
            <a:ext cx="2892915" cy="2496312"/>
            <a:chOff x="8412480" y="1261872"/>
            <a:chExt cx="2892915" cy="2496312"/>
          </a:xfrm>
        </p:grpSpPr>
        <p:sp>
          <p:nvSpPr>
            <p:cNvPr id="31" name="Freeform 30"/>
            <p:cNvSpPr/>
            <p:nvPr/>
          </p:nvSpPr>
          <p:spPr>
            <a:xfrm>
              <a:off x="8560401" y="1938528"/>
              <a:ext cx="2000919" cy="1819656"/>
            </a:xfrm>
            <a:custGeom>
              <a:avLst/>
              <a:gdLst/>
              <a:ahLst/>
              <a:cxnLst/>
              <a:rect l="l" t="t" r="r" b="b"/>
              <a:pathLst>
                <a:path w="2000919" h="1819656">
                  <a:moveTo>
                    <a:pt x="0" y="1819656"/>
                  </a:moveTo>
                  <a:lnTo>
                    <a:pt x="49418" y="1623952"/>
                  </a:lnTo>
                  <a:lnTo>
                    <a:pt x="108920" y="1439179"/>
                  </a:lnTo>
                  <a:lnTo>
                    <a:pt x="178509" y="1265336"/>
                  </a:lnTo>
                  <a:lnTo>
                    <a:pt x="258182" y="1102423"/>
                  </a:lnTo>
                  <a:lnTo>
                    <a:pt x="347941" y="950440"/>
                  </a:lnTo>
                  <a:lnTo>
                    <a:pt x="447785" y="809386"/>
                  </a:lnTo>
                  <a:lnTo>
                    <a:pt x="557714" y="679263"/>
                  </a:lnTo>
                  <a:lnTo>
                    <a:pt x="677729" y="560070"/>
                  </a:lnTo>
                  <a:lnTo>
                    <a:pt x="807829" y="451806"/>
                  </a:lnTo>
                  <a:lnTo>
                    <a:pt x="948014" y="354472"/>
                  </a:lnTo>
                  <a:lnTo>
                    <a:pt x="1098285" y="268069"/>
                  </a:lnTo>
                  <a:lnTo>
                    <a:pt x="1258641" y="192595"/>
                  </a:lnTo>
                  <a:lnTo>
                    <a:pt x="1429082" y="128051"/>
                  </a:lnTo>
                  <a:lnTo>
                    <a:pt x="1609609" y="74437"/>
                  </a:lnTo>
                  <a:lnTo>
                    <a:pt x="1800221" y="31753"/>
                  </a:lnTo>
                  <a:lnTo>
                    <a:pt x="2000919" y="0"/>
                  </a:lnTo>
                </a:path>
              </a:pathLst>
            </a:custGeom>
            <a:noFill/>
            <a:ln w="12700">
              <a:solidFill>
                <a:srgbClr val="8F8F8A"/>
              </a:solidFill>
              <a:prstDash val="dash"/>
            </a:ln>
          </p:spPr>
          <p:txBody>
            <a:bodyPr rtlCol="0" anchor="ctr"/>
            <a:lstStyle/>
            <a:p>
              <a:pPr algn="ctr"/>
            </a:p>
          </p:txBody>
        </p:sp>
        <p:sp>
          <p:nvSpPr>
            <p:cNvPr id="32" name="Oval 31"/>
            <p:cNvSpPr/>
            <p:nvPr/>
          </p:nvSpPr>
          <p:spPr>
            <a:xfrm>
              <a:off x="9317938" y="2340042"/>
              <a:ext cx="100584" cy="100584"/>
            </a:xfrm>
            <a:prstGeom prst="ellipse">
              <a:avLst/>
            </a:prstGeom>
            <a:solidFill>
              <a:srgbClr val="FFFFFF"/>
            </a:solidFill>
            <a:ln>
              <a:noFill/>
            </a:ln>
          </p:spPr>
          <p:txBody>
            <a:bodyPr rtlCol="0" anchor="ctr"/>
            <a:lstStyle/>
            <a:p>
              <a:pPr algn="ctr"/>
            </a:p>
          </p:txBody>
        </p:sp>
        <p:sp>
          <p:nvSpPr>
            <p:cNvPr id="33" name="Freeform 32"/>
            <p:cNvSpPr/>
            <p:nvPr/>
          </p:nvSpPr>
          <p:spPr>
            <a:xfrm>
              <a:off x="10640204" y="1426464"/>
              <a:ext cx="665191" cy="768096"/>
            </a:xfrm>
            <a:custGeom>
              <a:avLst/>
              <a:gdLst/>
              <a:ahLst/>
              <a:cxnLst/>
              <a:rect l="l" t="t" r="r" b="b"/>
              <a:pathLst>
                <a:path w="665191" h="768096">
                  <a:moveTo>
                    <a:pt x="332596" y="0"/>
                  </a:moveTo>
                  <a:lnTo>
                    <a:pt x="665191" y="192024"/>
                  </a:lnTo>
                  <a:lnTo>
                    <a:pt x="665191" y="576072"/>
                  </a:lnTo>
                  <a:lnTo>
                    <a:pt x="332596" y="768096"/>
                  </a:lnTo>
                  <a:lnTo>
                    <a:pt x="0" y="576072"/>
                  </a:lnTo>
                  <a:lnTo>
                    <a:pt x="0" y="192024"/>
                  </a:lnTo>
                  <a:close/>
                </a:path>
              </a:pathLst>
            </a:custGeom>
            <a:noFill/>
            <a:ln w="12700">
              <a:solidFill>
                <a:srgbClr val="6E6E68"/>
              </a:solidFill>
            </a:ln>
          </p:spPr>
          <p:txBody>
            <a:bodyPr rtlCol="0" anchor="ctr"/>
            <a:lstStyle/>
            <a:p>
              <a:pPr algn="ctr"/>
            </a:p>
          </p:txBody>
        </p:sp>
        <p:sp>
          <p:nvSpPr>
            <p:cNvPr id="34" name="TextBox 33"/>
            <p:cNvSpPr txBox="1"/>
            <p:nvPr/>
          </p:nvSpPr>
          <p:spPr>
            <a:xfrm>
              <a:off x="8412480" y="2103120"/>
              <a:ext cx="2011680"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FORAGER'S PATH</a:t>
              </a:r>
            </a:p>
          </p:txBody>
        </p:sp>
        <p:sp>
          <p:nvSpPr>
            <p:cNvPr id="35" name="TextBox 34"/>
            <p:cNvSpPr txBox="1"/>
            <p:nvPr/>
          </p:nvSpPr>
          <p:spPr>
            <a:xfrm>
              <a:off x="9509760" y="1261872"/>
              <a:ext cx="1005840" cy="164592"/>
            </a:xfrm>
            <a:prstGeom prst="rect">
              <a:avLst/>
            </a:prstGeom>
            <a:noFill/>
          </p:spPr>
          <p:txBody>
            <a:bodyPr wrap="square" lIns="0" rIns="0" tIns="0" bIns="0" anchor="t">
              <a:noAutofit/>
            </a:bodyPr>
            <a:lstStyle/>
            <a:p>
              <a:pPr algn="r">
                <a:lnSpc>
                  <a:spcPct val="100000"/>
                </a:lnSpc>
              </a:pPr>
              <a:r>
                <a:rPr sz="850" b="0" spc="136">
                  <a:solidFill>
                    <a:srgbClr val="8F8F8A"/>
                  </a:solidFill>
                  <a:latin typeface="Menlo"/>
                </a:rPr>
                <a:t>FLOWER</a:t>
              </a:r>
            </a:p>
          </p:txBody>
        </p:sp>
      </p:grpSp>
      <p:grpSp>
        <p:nvGrpSpPr>
          <p:cNvPr id="39" name="Group 38"/>
          <p:cNvGrpSpPr/>
          <p:nvPr/>
        </p:nvGrpSpPr>
        <p:grpSpPr>
          <a:xfrm>
            <a:off x="9966960" y="1581912"/>
            <a:ext cx="1536192" cy="886968"/>
            <a:chOff x="9966960" y="1581912"/>
            <a:chExt cx="1536192" cy="886968"/>
          </a:xfrm>
        </p:grpSpPr>
        <p:sp>
          <p:nvSpPr>
            <p:cNvPr id="37" name="Freeform 36"/>
            <p:cNvSpPr/>
            <p:nvPr/>
          </p:nvSpPr>
          <p:spPr>
            <a:xfrm>
              <a:off x="10774826" y="1581912"/>
              <a:ext cx="395947" cy="457200"/>
            </a:xfrm>
            <a:custGeom>
              <a:avLst/>
              <a:gdLst/>
              <a:ahLst/>
              <a:cxnLst/>
              <a:rect l="l" t="t" r="r" b="b"/>
              <a:pathLst>
                <a:path w="395947" h="457200">
                  <a:moveTo>
                    <a:pt x="197974" y="0"/>
                  </a:moveTo>
                  <a:lnTo>
                    <a:pt x="395947" y="114300"/>
                  </a:lnTo>
                  <a:lnTo>
                    <a:pt x="395947" y="342900"/>
                  </a:lnTo>
                  <a:lnTo>
                    <a:pt x="197974" y="457200"/>
                  </a:lnTo>
                  <a:lnTo>
                    <a:pt x="0" y="342900"/>
                  </a:lnTo>
                  <a:lnTo>
                    <a:pt x="0" y="114300"/>
                  </a:lnTo>
                  <a:close/>
                </a:path>
              </a:pathLst>
            </a:custGeom>
            <a:solidFill>
              <a:srgbClr val="FF3B30"/>
            </a:solidFill>
            <a:ln>
              <a:noFill/>
            </a:ln>
          </p:spPr>
          <p:txBody>
            <a:bodyPr rtlCol="0" anchor="ctr"/>
            <a:lstStyle/>
            <a:p>
              <a:pPr algn="ctr"/>
            </a:p>
          </p:txBody>
        </p:sp>
        <p:sp>
          <p:nvSpPr>
            <p:cNvPr id="38" name="TextBox 37"/>
            <p:cNvSpPr txBox="1"/>
            <p:nvPr/>
          </p:nvSpPr>
          <p:spPr>
            <a:xfrm>
              <a:off x="9966960" y="2304288"/>
              <a:ext cx="1536192" cy="164592"/>
            </a:xfrm>
            <a:prstGeom prst="rect">
              <a:avLst/>
            </a:prstGeom>
            <a:noFill/>
          </p:spPr>
          <p:txBody>
            <a:bodyPr wrap="square" lIns="0" rIns="0" tIns="0" bIns="0" anchor="t">
              <a:noAutofit/>
            </a:bodyPr>
            <a:lstStyle/>
            <a:p>
              <a:pPr algn="r">
                <a:lnSpc>
                  <a:spcPct val="100000"/>
                </a:lnSpc>
              </a:pPr>
              <a:r>
                <a:rPr sz="850" b="0" spc="136">
                  <a:solidFill>
                    <a:srgbClr val="FF3B30"/>
                  </a:solidFill>
                  <a:latin typeface="Menlo"/>
                </a:rPr>
                <a:t>ATTACKED</a:t>
              </a:r>
            </a:p>
          </p:txBody>
        </p:sp>
      </p:grpSp>
      <p:grpSp>
        <p:nvGrpSpPr>
          <p:cNvPr id="42" name="Group 41"/>
          <p:cNvGrpSpPr/>
          <p:nvPr/>
        </p:nvGrpSpPr>
        <p:grpSpPr>
          <a:xfrm>
            <a:off x="6675120" y="2926080"/>
            <a:ext cx="2194560" cy="1409273"/>
            <a:chOff x="6675120" y="2926080"/>
            <a:chExt cx="2194560" cy="1409273"/>
          </a:xfrm>
        </p:grpSpPr>
        <p:sp>
          <p:nvSpPr>
            <p:cNvPr id="40" name="Freeform 39"/>
            <p:cNvSpPr/>
            <p:nvPr/>
          </p:nvSpPr>
          <p:spPr>
            <a:xfrm>
              <a:off x="8206686" y="3729654"/>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F5A524"/>
            </a:solidFill>
            <a:ln>
              <a:noFill/>
            </a:ln>
          </p:spPr>
          <p:txBody>
            <a:bodyPr rtlCol="0" anchor="ctr"/>
            <a:lstStyle/>
            <a:p>
              <a:pPr algn="ctr"/>
            </a:p>
          </p:txBody>
        </p:sp>
        <p:sp>
          <p:nvSpPr>
            <p:cNvPr id="41" name="TextBox 40"/>
            <p:cNvSpPr txBox="1"/>
            <p:nvPr/>
          </p:nvSpPr>
          <p:spPr>
            <a:xfrm>
              <a:off x="6675120" y="2926080"/>
              <a:ext cx="2194560" cy="164592"/>
            </a:xfrm>
            <a:prstGeom prst="rect">
              <a:avLst/>
            </a:prstGeom>
            <a:noFill/>
          </p:spPr>
          <p:txBody>
            <a:bodyPr wrap="square" lIns="0" rIns="0" tIns="0" bIns="0" anchor="t">
              <a:noAutofit/>
            </a:bodyPr>
            <a:lstStyle/>
            <a:p>
              <a:pPr algn="l">
                <a:lnSpc>
                  <a:spcPct val="100000"/>
                </a:lnSpc>
              </a:pPr>
              <a:r>
                <a:rPr sz="850" b="0" spc="136">
                  <a:solidFill>
                    <a:srgbClr val="F5A524"/>
                  </a:solidFill>
                  <a:latin typeface="Menlo"/>
                </a:rPr>
                <a:t>STOP SIGNAL</a:t>
              </a:r>
            </a:p>
          </p:txBody>
        </p:sp>
      </p:grpSp>
      <p:grpSp>
        <p:nvGrpSpPr>
          <p:cNvPr id="49" name="Group 48"/>
          <p:cNvGrpSpPr/>
          <p:nvPr/>
        </p:nvGrpSpPr>
        <p:grpSpPr>
          <a:xfrm>
            <a:off x="7636523" y="3235878"/>
            <a:ext cx="1664877" cy="1593251"/>
            <a:chOff x="7636523" y="3235878"/>
            <a:chExt cx="1664877" cy="1593251"/>
          </a:xfrm>
        </p:grpSpPr>
        <p:sp>
          <p:nvSpPr>
            <p:cNvPr id="43" name="Freeform 42"/>
            <p:cNvSpPr/>
            <p:nvPr/>
          </p:nvSpPr>
          <p:spPr>
            <a:xfrm>
              <a:off x="7636523" y="3729654"/>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B87A1B"/>
            </a:solidFill>
            <a:ln>
              <a:noFill/>
            </a:ln>
          </p:spPr>
          <p:txBody>
            <a:bodyPr rtlCol="0" anchor="ctr"/>
            <a:lstStyle/>
            <a:p>
              <a:pPr algn="ctr"/>
            </a:p>
          </p:txBody>
        </p:sp>
        <p:sp>
          <p:nvSpPr>
            <p:cNvPr id="44" name="Freeform 43"/>
            <p:cNvSpPr/>
            <p:nvPr/>
          </p:nvSpPr>
          <p:spPr>
            <a:xfrm>
              <a:off x="7921604" y="4223430"/>
              <a:ext cx="524551" cy="605699"/>
            </a:xfrm>
            <a:custGeom>
              <a:avLst/>
              <a:gdLst/>
              <a:ahLst/>
              <a:cxnLst/>
              <a:rect l="l" t="t" r="r" b="b"/>
              <a:pathLst>
                <a:path w="524551" h="605699">
                  <a:moveTo>
                    <a:pt x="262275" y="0"/>
                  </a:moveTo>
                  <a:lnTo>
                    <a:pt x="524551" y="151425"/>
                  </a:lnTo>
                  <a:lnTo>
                    <a:pt x="524551" y="454274"/>
                  </a:lnTo>
                  <a:lnTo>
                    <a:pt x="262275" y="605699"/>
                  </a:lnTo>
                  <a:lnTo>
                    <a:pt x="0" y="454274"/>
                  </a:lnTo>
                  <a:lnTo>
                    <a:pt x="0" y="151425"/>
                  </a:lnTo>
                  <a:close/>
                </a:path>
              </a:pathLst>
            </a:custGeom>
            <a:solidFill>
              <a:srgbClr val="B87A1B"/>
            </a:solidFill>
            <a:ln>
              <a:noFill/>
            </a:ln>
          </p:spPr>
          <p:txBody>
            <a:bodyPr rtlCol="0" anchor="ctr"/>
            <a:lstStyle/>
            <a:p>
              <a:pPr algn="ctr"/>
            </a:p>
          </p:txBody>
        </p:sp>
        <p:sp>
          <p:nvSpPr>
            <p:cNvPr id="45" name="Freeform 44"/>
            <p:cNvSpPr/>
            <p:nvPr/>
          </p:nvSpPr>
          <p:spPr>
            <a:xfrm>
              <a:off x="7921604" y="3235878"/>
              <a:ext cx="524551" cy="605699"/>
            </a:xfrm>
            <a:custGeom>
              <a:avLst/>
              <a:gdLst/>
              <a:ahLst/>
              <a:cxnLst/>
              <a:rect l="l" t="t" r="r" b="b"/>
              <a:pathLst>
                <a:path w="524551" h="605699">
                  <a:moveTo>
                    <a:pt x="262275" y="0"/>
                  </a:moveTo>
                  <a:lnTo>
                    <a:pt x="524551" y="151425"/>
                  </a:lnTo>
                  <a:lnTo>
                    <a:pt x="524551" y="454274"/>
                  </a:lnTo>
                  <a:lnTo>
                    <a:pt x="262275" y="605699"/>
                  </a:lnTo>
                  <a:lnTo>
                    <a:pt x="0" y="454274"/>
                  </a:lnTo>
                  <a:lnTo>
                    <a:pt x="0" y="151425"/>
                  </a:lnTo>
                  <a:close/>
                </a:path>
              </a:pathLst>
            </a:custGeom>
            <a:solidFill>
              <a:srgbClr val="B87A1B"/>
            </a:solidFill>
            <a:ln>
              <a:noFill/>
            </a:ln>
          </p:spPr>
          <p:txBody>
            <a:bodyPr rtlCol="0" anchor="ctr"/>
            <a:lstStyle/>
            <a:p>
              <a:pPr algn="ctr"/>
            </a:p>
          </p:txBody>
        </p:sp>
        <p:sp>
          <p:nvSpPr>
            <p:cNvPr id="46" name="Freeform 45"/>
            <p:cNvSpPr/>
            <p:nvPr/>
          </p:nvSpPr>
          <p:spPr>
            <a:xfrm>
              <a:off x="8491768" y="4223430"/>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B87A1B"/>
            </a:solidFill>
            <a:ln>
              <a:noFill/>
            </a:ln>
          </p:spPr>
          <p:txBody>
            <a:bodyPr rtlCol="0" anchor="ctr"/>
            <a:lstStyle/>
            <a:p>
              <a:pPr algn="ctr"/>
            </a:p>
          </p:txBody>
        </p:sp>
        <p:sp>
          <p:nvSpPr>
            <p:cNvPr id="47" name="Freeform 46"/>
            <p:cNvSpPr/>
            <p:nvPr/>
          </p:nvSpPr>
          <p:spPr>
            <a:xfrm>
              <a:off x="8491768" y="3235878"/>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B87A1B"/>
            </a:solidFill>
            <a:ln>
              <a:noFill/>
            </a:ln>
          </p:spPr>
          <p:txBody>
            <a:bodyPr rtlCol="0" anchor="ctr"/>
            <a:lstStyle/>
            <a:p>
              <a:pPr algn="ctr"/>
            </a:p>
          </p:txBody>
        </p:sp>
        <p:sp>
          <p:nvSpPr>
            <p:cNvPr id="48" name="Freeform 47"/>
            <p:cNvSpPr/>
            <p:nvPr/>
          </p:nvSpPr>
          <p:spPr>
            <a:xfrm>
              <a:off x="8776849" y="3729654"/>
              <a:ext cx="524551" cy="605699"/>
            </a:xfrm>
            <a:custGeom>
              <a:avLst/>
              <a:gdLst/>
              <a:ahLst/>
              <a:cxnLst/>
              <a:rect l="l" t="t" r="r" b="b"/>
              <a:pathLst>
                <a:path w="524551" h="605699">
                  <a:moveTo>
                    <a:pt x="262276" y="0"/>
                  </a:moveTo>
                  <a:lnTo>
                    <a:pt x="524551" y="151425"/>
                  </a:lnTo>
                  <a:lnTo>
                    <a:pt x="524551" y="454274"/>
                  </a:lnTo>
                  <a:lnTo>
                    <a:pt x="262276" y="605699"/>
                  </a:lnTo>
                  <a:lnTo>
                    <a:pt x="0" y="454274"/>
                  </a:lnTo>
                  <a:lnTo>
                    <a:pt x="0" y="151425"/>
                  </a:lnTo>
                  <a:close/>
                </a:path>
              </a:pathLst>
            </a:custGeom>
            <a:solidFill>
              <a:srgbClr val="B87A1B"/>
            </a:solidFill>
            <a:ln>
              <a:noFill/>
            </a:ln>
          </p:spPr>
          <p:txBody>
            <a:bodyPr rtlCol="0" anchor="ctr"/>
            <a:lstStyle/>
            <a:p>
              <a:pPr algn="ctr"/>
            </a:p>
          </p:txBody>
        </p:sp>
      </p:grpSp>
      <p:grpSp>
        <p:nvGrpSpPr>
          <p:cNvPr id="57" name="Group 56"/>
          <p:cNvGrpSpPr/>
          <p:nvPr/>
        </p:nvGrpSpPr>
        <p:grpSpPr>
          <a:xfrm>
            <a:off x="7066359" y="3235878"/>
            <a:ext cx="2520122" cy="2087027"/>
            <a:chOff x="7066359" y="3235878"/>
            <a:chExt cx="2520122" cy="2087027"/>
          </a:xfrm>
        </p:grpSpPr>
        <p:sp>
          <p:nvSpPr>
            <p:cNvPr id="50" name="Freeform 49"/>
            <p:cNvSpPr/>
            <p:nvPr/>
          </p:nvSpPr>
          <p:spPr>
            <a:xfrm>
              <a:off x="7066359" y="3729654"/>
              <a:ext cx="524551" cy="605699"/>
            </a:xfrm>
            <a:custGeom>
              <a:avLst/>
              <a:gdLst/>
              <a:ahLst/>
              <a:cxnLst/>
              <a:rect l="l" t="t" r="r" b="b"/>
              <a:pathLst>
                <a:path w="524551" h="605699">
                  <a:moveTo>
                    <a:pt x="262275" y="0"/>
                  </a:moveTo>
                  <a:lnTo>
                    <a:pt x="524551" y="151425"/>
                  </a:lnTo>
                  <a:lnTo>
                    <a:pt x="524551" y="454274"/>
                  </a:lnTo>
                  <a:lnTo>
                    <a:pt x="262275" y="605699"/>
                  </a:lnTo>
                  <a:lnTo>
                    <a:pt x="0" y="454274"/>
                  </a:lnTo>
                  <a:lnTo>
                    <a:pt x="0" y="151425"/>
                  </a:lnTo>
                  <a:close/>
                </a:path>
              </a:pathLst>
            </a:custGeom>
            <a:solidFill>
              <a:srgbClr val="4A310B"/>
            </a:solidFill>
            <a:ln w="9525">
              <a:solidFill>
                <a:srgbClr val="8A5C14"/>
              </a:solidFill>
            </a:ln>
          </p:spPr>
          <p:txBody>
            <a:bodyPr rtlCol="0" anchor="ctr"/>
            <a:lstStyle/>
            <a:p>
              <a:pPr algn="ctr"/>
            </a:p>
          </p:txBody>
        </p:sp>
        <p:sp>
          <p:nvSpPr>
            <p:cNvPr id="51" name="Freeform 50"/>
            <p:cNvSpPr/>
            <p:nvPr/>
          </p:nvSpPr>
          <p:spPr>
            <a:xfrm>
              <a:off x="7351441" y="4223430"/>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4A310B"/>
            </a:solidFill>
            <a:ln w="9525">
              <a:solidFill>
                <a:srgbClr val="8A5C14"/>
              </a:solidFill>
            </a:ln>
          </p:spPr>
          <p:txBody>
            <a:bodyPr rtlCol="0" anchor="ctr"/>
            <a:lstStyle/>
            <a:p>
              <a:pPr algn="ctr"/>
            </a:p>
          </p:txBody>
        </p:sp>
        <p:sp>
          <p:nvSpPr>
            <p:cNvPr id="52" name="Freeform 51"/>
            <p:cNvSpPr/>
            <p:nvPr/>
          </p:nvSpPr>
          <p:spPr>
            <a:xfrm>
              <a:off x="7636523" y="4717206"/>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4A310B"/>
            </a:solidFill>
            <a:ln w="9525">
              <a:solidFill>
                <a:srgbClr val="8A5C14"/>
              </a:solidFill>
            </a:ln>
          </p:spPr>
          <p:txBody>
            <a:bodyPr rtlCol="0" anchor="ctr"/>
            <a:lstStyle/>
            <a:p>
              <a:pPr algn="ctr"/>
            </a:p>
          </p:txBody>
        </p:sp>
        <p:sp>
          <p:nvSpPr>
            <p:cNvPr id="53" name="Freeform 52"/>
            <p:cNvSpPr/>
            <p:nvPr/>
          </p:nvSpPr>
          <p:spPr>
            <a:xfrm>
              <a:off x="7351441" y="3235878"/>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4A310B"/>
            </a:solidFill>
            <a:ln w="9525">
              <a:solidFill>
                <a:srgbClr val="8A5C14"/>
              </a:solidFill>
            </a:ln>
          </p:spPr>
          <p:txBody>
            <a:bodyPr rtlCol="0" anchor="ctr"/>
            <a:lstStyle/>
            <a:p>
              <a:pPr algn="ctr"/>
            </a:p>
          </p:txBody>
        </p:sp>
        <p:sp>
          <p:nvSpPr>
            <p:cNvPr id="54" name="Freeform 53"/>
            <p:cNvSpPr/>
            <p:nvPr/>
          </p:nvSpPr>
          <p:spPr>
            <a:xfrm>
              <a:off x="8206686" y="4717206"/>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4A310B"/>
            </a:solidFill>
            <a:ln w="9525">
              <a:solidFill>
                <a:srgbClr val="8A5C14"/>
              </a:solidFill>
            </a:ln>
          </p:spPr>
          <p:txBody>
            <a:bodyPr rtlCol="0" anchor="ctr"/>
            <a:lstStyle/>
            <a:p>
              <a:pPr algn="ctr"/>
            </a:p>
          </p:txBody>
        </p:sp>
        <p:sp>
          <p:nvSpPr>
            <p:cNvPr id="55" name="Freeform 54"/>
            <p:cNvSpPr/>
            <p:nvPr/>
          </p:nvSpPr>
          <p:spPr>
            <a:xfrm>
              <a:off x="8776849" y="4717206"/>
              <a:ext cx="524551" cy="605699"/>
            </a:xfrm>
            <a:custGeom>
              <a:avLst/>
              <a:gdLst/>
              <a:ahLst/>
              <a:cxnLst/>
              <a:rect l="l" t="t" r="r" b="b"/>
              <a:pathLst>
                <a:path w="524551" h="605699">
                  <a:moveTo>
                    <a:pt x="262276" y="0"/>
                  </a:moveTo>
                  <a:lnTo>
                    <a:pt x="524551" y="151425"/>
                  </a:lnTo>
                  <a:lnTo>
                    <a:pt x="524551" y="454274"/>
                  </a:lnTo>
                  <a:lnTo>
                    <a:pt x="262276" y="605699"/>
                  </a:lnTo>
                  <a:lnTo>
                    <a:pt x="0" y="454274"/>
                  </a:lnTo>
                  <a:lnTo>
                    <a:pt x="0" y="151425"/>
                  </a:lnTo>
                  <a:close/>
                </a:path>
              </a:pathLst>
            </a:custGeom>
            <a:solidFill>
              <a:srgbClr val="4A310B"/>
            </a:solidFill>
            <a:ln w="9525">
              <a:solidFill>
                <a:srgbClr val="8A5C14"/>
              </a:solidFill>
            </a:ln>
          </p:spPr>
          <p:txBody>
            <a:bodyPr rtlCol="0" anchor="ctr"/>
            <a:lstStyle/>
            <a:p>
              <a:pPr algn="ctr"/>
            </a:p>
          </p:txBody>
        </p:sp>
        <p:sp>
          <p:nvSpPr>
            <p:cNvPr id="56" name="Freeform 55"/>
            <p:cNvSpPr/>
            <p:nvPr/>
          </p:nvSpPr>
          <p:spPr>
            <a:xfrm>
              <a:off x="9061931" y="4223430"/>
              <a:ext cx="524550" cy="605699"/>
            </a:xfrm>
            <a:custGeom>
              <a:avLst/>
              <a:gdLst/>
              <a:ahLst/>
              <a:cxnLst/>
              <a:rect l="l" t="t" r="r" b="b"/>
              <a:pathLst>
                <a:path w="524550" h="605699">
                  <a:moveTo>
                    <a:pt x="262275" y="0"/>
                  </a:moveTo>
                  <a:lnTo>
                    <a:pt x="524550" y="151425"/>
                  </a:lnTo>
                  <a:lnTo>
                    <a:pt x="524550" y="454274"/>
                  </a:lnTo>
                  <a:lnTo>
                    <a:pt x="262275" y="605699"/>
                  </a:lnTo>
                  <a:lnTo>
                    <a:pt x="0" y="454274"/>
                  </a:lnTo>
                  <a:lnTo>
                    <a:pt x="0" y="151425"/>
                  </a:lnTo>
                  <a:close/>
                </a:path>
              </a:pathLst>
            </a:custGeom>
            <a:solidFill>
              <a:srgbClr val="4A310B"/>
            </a:solidFill>
            <a:ln w="9525">
              <a:solidFill>
                <a:srgbClr val="8A5C14"/>
              </a:solidFill>
            </a:ln>
          </p:spPr>
          <p:txBody>
            <a:bodyPr rtlCol="0" anchor="ctr"/>
            <a:lstStyle/>
            <a:p>
              <a:pPr algn="ct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36"/>
                                        </p:tgtEl>
                                        <p:attrNameLst>
                                          <p:attrName>style.visibility</p:attrName>
                                        </p:attrNameLst>
                                      </p:cBhvr>
                                      <p:to>
                                        <p:strVal val="visible"/>
                                      </p:to>
                                    </p:set>
                                    <p:animEffect transition="in" filter="fade">
                                      <p:cBhvr>
                                        <p:cTn id="7" dur="500"/>
                                        <p:tgtEl>
                                          <p:spTgt spid="36"/>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39"/>
                                        </p:tgtEl>
                                        <p:attrNameLst>
                                          <p:attrName>style.visibility</p:attrName>
                                        </p:attrNameLst>
                                      </p:cBhvr>
                                      <p:to>
                                        <p:strVal val="visible"/>
                                      </p:to>
                                    </p:set>
                                    <p:animEffect transition="in" filter="fade">
                                      <p:cBhvr>
                                        <p:cTn id="11" dur="500"/>
                                        <p:tgtEl>
                                          <p:spTgt spid="39"/>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42"/>
                                        </p:tgtEl>
                                        <p:attrNameLst>
                                          <p:attrName>style.visibility</p:attrName>
                                        </p:attrNameLst>
                                      </p:cBhvr>
                                      <p:to>
                                        <p:strVal val="visible"/>
                                      </p:to>
                                    </p:set>
                                    <p:animEffect transition="in" filter="fade">
                                      <p:cBhvr>
                                        <p:cTn id="15" dur="500"/>
                                        <p:tgtEl>
                                          <p:spTgt spid="42"/>
                                        </p:tgtEl>
                                      </p:cBhvr>
                                    </p:animEffect>
                                  </p:childTnLst>
                                </p:cTn>
                              </p:par>
                            </p:childTnLst>
                          </p:cTn>
                        </p:par>
                        <p:par>
                          <p:cTn id="16" fill="hold">
                            <p:stCondLst>
                              <p:cond delay="2550"/>
                            </p:stCondLst>
                            <p:childTnLst>
                              <p:par>
                                <p:cTn id="17" presetID="10" presetClass="entr" presetSubtype="0" fill="hold" nodeType="afterEffect">
                                  <p:stCondLst>
                                    <p:cond delay="35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500"/>
                                        <p:tgtEl>
                                          <p:spTgt spid="49"/>
                                        </p:tgtEl>
                                      </p:cBhvr>
                                    </p:animEffect>
                                  </p:childTnLst>
                                </p:cTn>
                              </p:par>
                            </p:childTnLst>
                          </p:cTn>
                        </p:par>
                        <p:par>
                          <p:cTn id="20" fill="hold">
                            <p:stCondLst>
                              <p:cond delay="3400"/>
                            </p:stCondLst>
                            <p:childTnLst>
                              <p:par>
                                <p:cTn id="21" presetID="10" presetClass="entr" presetSubtype="0" fill="hold" nodeType="afterEffect">
                                  <p:stCondLst>
                                    <p:cond delay="350"/>
                                  </p:stCondLst>
                                  <p:childTnLst>
                                    <p:set>
                                      <p:cBhvr>
                                        <p:cTn id="22" dur="1" fill="hold">
                                          <p:stCondLst>
                                            <p:cond delay="0"/>
                                          </p:stCondLst>
                                        </p:cTn>
                                        <p:tgtEl>
                                          <p:spTgt spid="57"/>
                                        </p:tgtEl>
                                        <p:attrNameLst>
                                          <p:attrName>style.visibility</p:attrName>
                                        </p:attrNameLst>
                                      </p:cBhvr>
                                      <p:to>
                                        <p:strVal val="visible"/>
                                      </p:to>
                                    </p:set>
                                    <p:animEffect transition="in" filter="fade">
                                      <p:cBhvr>
                                        <p:cTn id="23"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188720"/>
            <a:ext cx="10820095" cy="868680"/>
          </a:xfrm>
        </p:spPr>
        <p:txBody>
          <a:bodyPr wrap="square" lIns="0" rIns="0" tIns="0" bIns="0" anchor="t">
            <a:noAutofit/>
          </a:bodyPr>
          <a:lstStyle/>
          <a:p>
            <a:pPr algn="l">
              <a:lnSpc>
                <a:spcPct val="90000"/>
              </a:lnSpc>
            </a:pPr>
            <a:r>
              <a:rPr sz="5600" b="0" spc="-196">
                <a:solidFill>
                  <a:srgbClr val="FFFFFF"/>
                </a:solidFill>
                <a:latin typeface="Helvetica Neue"/>
              </a:rPr>
              <a:t>Agents have no stop signal.</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03 / 10  ·  THE PROBLEM</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cxnSp>
        <p:nvCxnSpPr>
          <p:cNvPr id="10" name="Connector 9"/>
          <p:cNvCxnSpPr/>
          <p:nvPr/>
        </p:nvCxnSpPr>
        <p:spPr>
          <a:xfrm>
            <a:off x="685800" y="2514600"/>
            <a:ext cx="6629400" cy="0"/>
          </a:xfrm>
          <a:prstGeom prst="line">
            <a:avLst/>
          </a:prstGeom>
          <a:ln w="9525">
            <a:solidFill>
              <a:srgbClr val="343434"/>
            </a:solidFill>
          </a:ln>
        </p:spPr>
      </p:cxnSp>
      <p:sp>
        <p:nvSpPr>
          <p:cNvPr id="11" name="Rectangle 10"/>
          <p:cNvSpPr/>
          <p:nvPr/>
        </p:nvSpPr>
        <p:spPr>
          <a:xfrm>
            <a:off x="685800" y="2926080"/>
            <a:ext cx="82296" cy="82296"/>
          </a:xfrm>
          <a:prstGeom prst="rect">
            <a:avLst/>
          </a:prstGeom>
          <a:solidFill>
            <a:srgbClr val="FF3B30"/>
          </a:solidFill>
          <a:ln>
            <a:noFill/>
          </a:ln>
        </p:spPr>
        <p:txBody>
          <a:bodyPr rtlCol="0" anchor="ctr"/>
          <a:lstStyle/>
          <a:p>
            <a:pPr algn="ctr"/>
          </a:p>
        </p:txBody>
      </p:sp>
      <p:sp>
        <p:nvSpPr>
          <p:cNvPr id="12" name="TextBox 11"/>
          <p:cNvSpPr txBox="1"/>
          <p:nvPr/>
        </p:nvSpPr>
        <p:spPr>
          <a:xfrm>
            <a:off x="960120" y="2642616"/>
            <a:ext cx="6309360"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STRIPE WEBHOOKS</a:t>
            </a:r>
          </a:p>
        </p:txBody>
      </p:sp>
      <p:sp>
        <p:nvSpPr>
          <p:cNvPr id="13" name="TextBox 12"/>
          <p:cNvSpPr txBox="1"/>
          <p:nvPr/>
        </p:nvSpPr>
        <p:spPr>
          <a:xfrm>
            <a:off x="960120" y="2852928"/>
            <a:ext cx="6355080" cy="237744"/>
          </a:xfrm>
          <a:prstGeom prst="rect">
            <a:avLst/>
          </a:prstGeom>
          <a:noFill/>
        </p:spPr>
        <p:txBody>
          <a:bodyPr wrap="square" lIns="0" rIns="0" tIns="0" bIns="0" anchor="t">
            <a:noAutofit/>
          </a:bodyPr>
          <a:lstStyle/>
          <a:p>
            <a:pPr algn="l">
              <a:lnSpc>
                <a:spcPct val="100000"/>
              </a:lnSpc>
            </a:pPr>
            <a:r>
              <a:rPr sz="1200" b="0">
                <a:solidFill>
                  <a:srgbClr val="FFFFFF"/>
                </a:solidFill>
                <a:latin typeface="Menlo"/>
              </a:rPr>
              <a:t>No signatures found matching the expected signature for payload</a:t>
            </a:r>
          </a:p>
        </p:txBody>
      </p:sp>
      <p:cxnSp>
        <p:nvCxnSpPr>
          <p:cNvPr id="14" name="Connector 13"/>
          <p:cNvCxnSpPr/>
          <p:nvPr/>
        </p:nvCxnSpPr>
        <p:spPr>
          <a:xfrm>
            <a:off x="685800" y="3227832"/>
            <a:ext cx="6629400" cy="0"/>
          </a:xfrm>
          <a:prstGeom prst="line">
            <a:avLst/>
          </a:prstGeom>
          <a:ln w="9525">
            <a:solidFill>
              <a:srgbClr val="343434"/>
            </a:solidFill>
          </a:ln>
        </p:spPr>
      </p:cxnSp>
      <p:sp>
        <p:nvSpPr>
          <p:cNvPr id="15" name="Rectangle 14"/>
          <p:cNvSpPr/>
          <p:nvPr/>
        </p:nvSpPr>
        <p:spPr>
          <a:xfrm>
            <a:off x="685800" y="3639312"/>
            <a:ext cx="82296" cy="82296"/>
          </a:xfrm>
          <a:prstGeom prst="rect">
            <a:avLst/>
          </a:prstGeom>
          <a:solidFill>
            <a:srgbClr val="FF3B30"/>
          </a:solidFill>
          <a:ln>
            <a:noFill/>
          </a:ln>
        </p:spPr>
        <p:txBody>
          <a:bodyPr rtlCol="0" anchor="ctr"/>
          <a:lstStyle/>
          <a:p>
            <a:pPr algn="ctr"/>
          </a:p>
        </p:txBody>
      </p:sp>
      <p:sp>
        <p:nvSpPr>
          <p:cNvPr id="16" name="TextBox 15"/>
          <p:cNvSpPr txBox="1"/>
          <p:nvPr/>
        </p:nvSpPr>
        <p:spPr>
          <a:xfrm>
            <a:off x="960120" y="3355848"/>
            <a:ext cx="6309360"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SUPABASE</a:t>
            </a:r>
          </a:p>
        </p:txBody>
      </p:sp>
      <p:sp>
        <p:nvSpPr>
          <p:cNvPr id="17" name="TextBox 16"/>
          <p:cNvSpPr txBox="1"/>
          <p:nvPr/>
        </p:nvSpPr>
        <p:spPr>
          <a:xfrm>
            <a:off x="960120" y="3566160"/>
            <a:ext cx="6355080" cy="237744"/>
          </a:xfrm>
          <a:prstGeom prst="rect">
            <a:avLst/>
          </a:prstGeom>
          <a:noFill/>
        </p:spPr>
        <p:txBody>
          <a:bodyPr wrap="square" lIns="0" rIns="0" tIns="0" bIns="0" anchor="t">
            <a:noAutofit/>
          </a:bodyPr>
          <a:lstStyle/>
          <a:p>
            <a:pPr algn="l">
              <a:lnSpc>
                <a:spcPct val="100000"/>
              </a:lnSpc>
            </a:pPr>
            <a:r>
              <a:rPr sz="1200" b="0">
                <a:solidFill>
                  <a:srgbClr val="FFFFFF"/>
                </a:solidFill>
                <a:latin typeface="Menlo"/>
              </a:rPr>
              <a:t>new row violates row-level security policy</a:t>
            </a:r>
          </a:p>
        </p:txBody>
      </p:sp>
      <p:cxnSp>
        <p:nvCxnSpPr>
          <p:cNvPr id="18" name="Connector 17"/>
          <p:cNvCxnSpPr/>
          <p:nvPr/>
        </p:nvCxnSpPr>
        <p:spPr>
          <a:xfrm>
            <a:off x="685800" y="3941064"/>
            <a:ext cx="6629400" cy="0"/>
          </a:xfrm>
          <a:prstGeom prst="line">
            <a:avLst/>
          </a:prstGeom>
          <a:ln w="9525">
            <a:solidFill>
              <a:srgbClr val="343434"/>
            </a:solidFill>
          </a:ln>
        </p:spPr>
      </p:cxnSp>
      <p:sp>
        <p:nvSpPr>
          <p:cNvPr id="19" name="Rectangle 18"/>
          <p:cNvSpPr/>
          <p:nvPr/>
        </p:nvSpPr>
        <p:spPr>
          <a:xfrm>
            <a:off x="685800" y="4352544"/>
            <a:ext cx="82296" cy="82296"/>
          </a:xfrm>
          <a:prstGeom prst="rect">
            <a:avLst/>
          </a:prstGeom>
          <a:solidFill>
            <a:srgbClr val="FF3B30"/>
          </a:solidFill>
          <a:ln>
            <a:noFill/>
          </a:ln>
        </p:spPr>
        <p:txBody>
          <a:bodyPr rtlCol="0" anchor="ctr"/>
          <a:lstStyle/>
          <a:p>
            <a:pPr algn="ctr"/>
          </a:p>
        </p:txBody>
      </p:sp>
      <p:sp>
        <p:nvSpPr>
          <p:cNvPr id="20" name="TextBox 19"/>
          <p:cNvSpPr txBox="1"/>
          <p:nvPr/>
        </p:nvSpPr>
        <p:spPr>
          <a:xfrm>
            <a:off x="960120" y="4069080"/>
            <a:ext cx="6309360"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NEXT.JS</a:t>
            </a:r>
          </a:p>
        </p:txBody>
      </p:sp>
      <p:sp>
        <p:nvSpPr>
          <p:cNvPr id="21" name="TextBox 20"/>
          <p:cNvSpPr txBox="1"/>
          <p:nvPr/>
        </p:nvSpPr>
        <p:spPr>
          <a:xfrm>
            <a:off x="960120" y="4279392"/>
            <a:ext cx="6355080" cy="237744"/>
          </a:xfrm>
          <a:prstGeom prst="rect">
            <a:avLst/>
          </a:prstGeom>
          <a:noFill/>
        </p:spPr>
        <p:txBody>
          <a:bodyPr wrap="square" lIns="0" rIns="0" tIns="0" bIns="0" anchor="t">
            <a:noAutofit/>
          </a:bodyPr>
          <a:lstStyle/>
          <a:p>
            <a:pPr algn="l">
              <a:lnSpc>
                <a:spcPct val="100000"/>
              </a:lnSpc>
            </a:pPr>
            <a:r>
              <a:rPr sz="1200" b="0">
                <a:solidFill>
                  <a:srgbClr val="FFFFFF"/>
                </a:solidFill>
                <a:latin typeface="Menlo"/>
              </a:rPr>
              <a:t>params should be awaited before using its properties</a:t>
            </a:r>
          </a:p>
        </p:txBody>
      </p:sp>
      <p:cxnSp>
        <p:nvCxnSpPr>
          <p:cNvPr id="22" name="Connector 21"/>
          <p:cNvCxnSpPr/>
          <p:nvPr/>
        </p:nvCxnSpPr>
        <p:spPr>
          <a:xfrm>
            <a:off x="685800" y="4654296"/>
            <a:ext cx="6629400" cy="0"/>
          </a:xfrm>
          <a:prstGeom prst="line">
            <a:avLst/>
          </a:prstGeom>
          <a:ln w="9525">
            <a:solidFill>
              <a:srgbClr val="343434"/>
            </a:solidFill>
          </a:ln>
        </p:spPr>
      </p:cxnSp>
      <p:sp>
        <p:nvSpPr>
          <p:cNvPr id="23" name="TextBox 22"/>
          <p:cNvSpPr txBox="1"/>
          <p:nvPr/>
        </p:nvSpPr>
        <p:spPr>
          <a:xfrm>
            <a:off x="685800" y="5029200"/>
            <a:ext cx="10820095" cy="548640"/>
          </a:xfrm>
          <a:prstGeom prst="rect">
            <a:avLst/>
          </a:prstGeom>
          <a:noFill/>
        </p:spPr>
        <p:txBody>
          <a:bodyPr wrap="square" lIns="0" rIns="0" tIns="0" bIns="0" anchor="t">
            <a:noAutofit/>
          </a:bodyPr>
          <a:lstStyle/>
          <a:p>
            <a:pPr algn="l">
              <a:lnSpc>
                <a:spcPct val="100000"/>
              </a:lnSpc>
            </a:pPr>
            <a:r>
              <a:rPr sz="2800" b="0" spc="-84">
                <a:solidFill>
                  <a:srgbClr val="FFFFFF"/>
                </a:solidFill>
                <a:latin typeface="Helvetica Neue"/>
              </a:rPr>
              <a:t>Every agent pays again. </a:t>
            </a:r>
            <a:r>
              <a:rPr sz="2800" b="0" spc="-84">
                <a:solidFill>
                  <a:srgbClr val="F5A524"/>
                </a:solidFill>
                <a:latin typeface="Helvetica Neue"/>
              </a:rPr>
              <a:t>The vendor never finds out.</a:t>
            </a:r>
          </a:p>
        </p:txBody>
      </p:sp>
      <p:sp>
        <p:nvSpPr>
          <p:cNvPr id="24" name="Freeform 23"/>
          <p:cNvSpPr/>
          <p:nvPr/>
        </p:nvSpPr>
        <p:spPr>
          <a:xfrm>
            <a:off x="10392179" y="3072384"/>
            <a:ext cx="886921" cy="1024128"/>
          </a:xfrm>
          <a:custGeom>
            <a:avLst/>
            <a:gdLst/>
            <a:ahLst/>
            <a:cxnLst/>
            <a:rect l="l" t="t" r="r" b="b"/>
            <a:pathLst>
              <a:path w="886921" h="1024128">
                <a:moveTo>
                  <a:pt x="443461" y="0"/>
                </a:moveTo>
                <a:lnTo>
                  <a:pt x="886921" y="256032"/>
                </a:lnTo>
                <a:lnTo>
                  <a:pt x="886921" y="768096"/>
                </a:lnTo>
                <a:lnTo>
                  <a:pt x="443461" y="1024128"/>
                </a:lnTo>
                <a:lnTo>
                  <a:pt x="0" y="768096"/>
                </a:lnTo>
                <a:lnTo>
                  <a:pt x="0" y="256031"/>
                </a:lnTo>
                <a:close/>
              </a:path>
            </a:pathLst>
          </a:custGeom>
          <a:solidFill>
            <a:srgbClr val="FF3B30"/>
          </a:solidFill>
          <a:ln>
            <a:noFill/>
          </a:ln>
        </p:spPr>
        <p:txBody>
          <a:bodyPr rtlCol="0" anchor="ctr"/>
          <a:lstStyle/>
          <a:p>
            <a:pPr algn="ctr"/>
          </a:p>
        </p:txBody>
      </p:sp>
      <p:sp>
        <p:nvSpPr>
          <p:cNvPr id="25" name="TextBox 24"/>
          <p:cNvSpPr txBox="1"/>
          <p:nvPr/>
        </p:nvSpPr>
        <p:spPr>
          <a:xfrm>
            <a:off x="9921240" y="4224528"/>
            <a:ext cx="1581912" cy="164592"/>
          </a:xfrm>
          <a:prstGeom prst="rect">
            <a:avLst/>
          </a:prstGeom>
          <a:noFill/>
        </p:spPr>
        <p:txBody>
          <a:bodyPr wrap="square" lIns="0" rIns="0" tIns="0" bIns="0" anchor="t">
            <a:noAutofit/>
          </a:bodyPr>
          <a:lstStyle/>
          <a:p>
            <a:pPr algn="r">
              <a:lnSpc>
                <a:spcPct val="100000"/>
              </a:lnSpc>
            </a:pPr>
            <a:r>
              <a:rPr sz="850" b="0" spc="102">
                <a:solidFill>
                  <a:srgbClr val="FF3B30"/>
                </a:solidFill>
                <a:latin typeface="Menlo"/>
              </a:rPr>
              <a:t>SAME CRASH SITE</a:t>
            </a:r>
          </a:p>
        </p:txBody>
      </p:sp>
      <p:sp>
        <p:nvSpPr>
          <p:cNvPr id="26" name="TextBox 25"/>
          <p:cNvSpPr txBox="1"/>
          <p:nvPr/>
        </p:nvSpPr>
        <p:spPr>
          <a:xfrm>
            <a:off x="7863840" y="2514600"/>
            <a:ext cx="1828800"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AGENTS</a:t>
            </a:r>
          </a:p>
        </p:txBody>
      </p:sp>
      <p:grpSp>
        <p:nvGrpSpPr>
          <p:cNvPr id="32" name="Group 31"/>
          <p:cNvGrpSpPr/>
          <p:nvPr/>
        </p:nvGrpSpPr>
        <p:grpSpPr>
          <a:xfrm>
            <a:off x="7923275" y="2802636"/>
            <a:ext cx="1657154" cy="625187"/>
            <a:chOff x="7923275" y="2802636"/>
            <a:chExt cx="1657154" cy="625187"/>
          </a:xfrm>
        </p:grpSpPr>
        <p:sp>
          <p:nvSpPr>
            <p:cNvPr id="27" name="Oval 26"/>
            <p:cNvSpPr/>
            <p:nvPr/>
          </p:nvSpPr>
          <p:spPr>
            <a:xfrm>
              <a:off x="7923275" y="2802636"/>
              <a:ext cx="64008" cy="64008"/>
            </a:xfrm>
            <a:prstGeom prst="ellipse">
              <a:avLst/>
            </a:prstGeom>
            <a:solidFill>
              <a:srgbClr val="3A3A3A"/>
            </a:solidFill>
            <a:ln>
              <a:noFill/>
            </a:ln>
          </p:spPr>
          <p:txBody>
            <a:bodyPr rtlCol="0" anchor="ctr"/>
            <a:lstStyle/>
            <a:p>
              <a:pPr algn="ctr"/>
            </a:p>
          </p:txBody>
        </p:sp>
        <p:sp>
          <p:nvSpPr>
            <p:cNvPr id="28" name="Oval 27"/>
            <p:cNvSpPr/>
            <p:nvPr/>
          </p:nvSpPr>
          <p:spPr>
            <a:xfrm>
              <a:off x="8308760" y="2930129"/>
              <a:ext cx="76809" cy="76809"/>
            </a:xfrm>
            <a:prstGeom prst="ellipse">
              <a:avLst/>
            </a:prstGeom>
            <a:solidFill>
              <a:srgbClr val="5A5A5A"/>
            </a:solidFill>
            <a:ln>
              <a:noFill/>
            </a:ln>
          </p:spPr>
          <p:txBody>
            <a:bodyPr rtlCol="0" anchor="ctr"/>
            <a:lstStyle/>
            <a:p>
              <a:pPr algn="ctr"/>
            </a:p>
          </p:txBody>
        </p:sp>
        <p:sp>
          <p:nvSpPr>
            <p:cNvPr id="29" name="Oval 28"/>
            <p:cNvSpPr/>
            <p:nvPr/>
          </p:nvSpPr>
          <p:spPr>
            <a:xfrm>
              <a:off x="8694245" y="3057622"/>
              <a:ext cx="89611" cy="89611"/>
            </a:xfrm>
            <a:prstGeom prst="ellipse">
              <a:avLst/>
            </a:prstGeom>
            <a:solidFill>
              <a:srgbClr val="8A8A8A"/>
            </a:solidFill>
            <a:ln>
              <a:noFill/>
            </a:ln>
          </p:spPr>
          <p:txBody>
            <a:bodyPr rtlCol="0" anchor="ctr"/>
            <a:lstStyle/>
            <a:p>
              <a:pPr algn="ctr"/>
            </a:p>
          </p:txBody>
        </p:sp>
        <p:sp>
          <p:nvSpPr>
            <p:cNvPr id="30" name="Oval 29"/>
            <p:cNvSpPr/>
            <p:nvPr/>
          </p:nvSpPr>
          <p:spPr>
            <a:xfrm>
              <a:off x="9079730" y="3185116"/>
              <a:ext cx="102412" cy="102412"/>
            </a:xfrm>
            <a:prstGeom prst="ellipse">
              <a:avLst/>
            </a:prstGeom>
            <a:solidFill>
              <a:srgbClr val="C4C4C4"/>
            </a:solidFill>
            <a:ln>
              <a:noFill/>
            </a:ln>
          </p:spPr>
          <p:txBody>
            <a:bodyPr rtlCol="0" anchor="ctr"/>
            <a:lstStyle/>
            <a:p>
              <a:pPr algn="ctr"/>
            </a:p>
          </p:txBody>
        </p:sp>
        <p:sp>
          <p:nvSpPr>
            <p:cNvPr id="31" name="Oval 30"/>
            <p:cNvSpPr/>
            <p:nvPr/>
          </p:nvSpPr>
          <p:spPr>
            <a:xfrm>
              <a:off x="9465215" y="3312609"/>
              <a:ext cx="115214" cy="115214"/>
            </a:xfrm>
            <a:prstGeom prst="ellipse">
              <a:avLst/>
            </a:prstGeom>
            <a:solidFill>
              <a:srgbClr val="FFFFFF"/>
            </a:solidFill>
            <a:ln>
              <a:noFill/>
            </a:ln>
          </p:spPr>
          <p:txBody>
            <a:bodyPr rtlCol="0" anchor="ctr"/>
            <a:lstStyle/>
            <a:p>
              <a:pPr algn="ctr"/>
            </a:p>
          </p:txBody>
        </p:sp>
      </p:grpSp>
      <p:grpSp>
        <p:nvGrpSpPr>
          <p:cNvPr id="38" name="Group 37"/>
          <p:cNvGrpSpPr/>
          <p:nvPr/>
        </p:nvGrpSpPr>
        <p:grpSpPr>
          <a:xfrm>
            <a:off x="8119218" y="3202686"/>
            <a:ext cx="1657154" cy="363930"/>
            <a:chOff x="8119218" y="3202686"/>
            <a:chExt cx="1657154" cy="363930"/>
          </a:xfrm>
        </p:grpSpPr>
        <p:sp>
          <p:nvSpPr>
            <p:cNvPr id="33" name="Oval 32"/>
            <p:cNvSpPr/>
            <p:nvPr/>
          </p:nvSpPr>
          <p:spPr>
            <a:xfrm>
              <a:off x="8119218" y="3202686"/>
              <a:ext cx="64008" cy="64008"/>
            </a:xfrm>
            <a:prstGeom prst="ellipse">
              <a:avLst/>
            </a:prstGeom>
            <a:solidFill>
              <a:srgbClr val="3A3A3A"/>
            </a:solidFill>
            <a:ln>
              <a:noFill/>
            </a:ln>
          </p:spPr>
          <p:txBody>
            <a:bodyPr rtlCol="0" anchor="ctr"/>
            <a:lstStyle/>
            <a:p>
              <a:pPr algn="ctr"/>
            </a:p>
          </p:txBody>
        </p:sp>
        <p:sp>
          <p:nvSpPr>
            <p:cNvPr id="34" name="Oval 33"/>
            <p:cNvSpPr/>
            <p:nvPr/>
          </p:nvSpPr>
          <p:spPr>
            <a:xfrm>
              <a:off x="8504703" y="3264865"/>
              <a:ext cx="76809" cy="76809"/>
            </a:xfrm>
            <a:prstGeom prst="ellipse">
              <a:avLst/>
            </a:prstGeom>
            <a:solidFill>
              <a:srgbClr val="5A5A5A"/>
            </a:solidFill>
            <a:ln>
              <a:noFill/>
            </a:ln>
          </p:spPr>
          <p:txBody>
            <a:bodyPr rtlCol="0" anchor="ctr"/>
            <a:lstStyle/>
            <a:p>
              <a:pPr algn="ctr"/>
            </a:p>
          </p:txBody>
        </p:sp>
        <p:sp>
          <p:nvSpPr>
            <p:cNvPr id="35" name="Oval 34"/>
            <p:cNvSpPr/>
            <p:nvPr/>
          </p:nvSpPr>
          <p:spPr>
            <a:xfrm>
              <a:off x="8890188" y="3327044"/>
              <a:ext cx="89611" cy="89611"/>
            </a:xfrm>
            <a:prstGeom prst="ellipse">
              <a:avLst/>
            </a:prstGeom>
            <a:solidFill>
              <a:srgbClr val="8A8A8A"/>
            </a:solidFill>
            <a:ln>
              <a:noFill/>
            </a:ln>
          </p:spPr>
          <p:txBody>
            <a:bodyPr rtlCol="0" anchor="ctr"/>
            <a:lstStyle/>
            <a:p>
              <a:pPr algn="ctr"/>
            </a:p>
          </p:txBody>
        </p:sp>
        <p:sp>
          <p:nvSpPr>
            <p:cNvPr id="36" name="Oval 35"/>
            <p:cNvSpPr/>
            <p:nvPr/>
          </p:nvSpPr>
          <p:spPr>
            <a:xfrm>
              <a:off x="9275673" y="3389223"/>
              <a:ext cx="102412" cy="102412"/>
            </a:xfrm>
            <a:prstGeom prst="ellipse">
              <a:avLst/>
            </a:prstGeom>
            <a:solidFill>
              <a:srgbClr val="C4C4C4"/>
            </a:solidFill>
            <a:ln>
              <a:noFill/>
            </a:ln>
          </p:spPr>
          <p:txBody>
            <a:bodyPr rtlCol="0" anchor="ctr"/>
            <a:lstStyle/>
            <a:p>
              <a:pPr algn="ctr"/>
            </a:p>
          </p:txBody>
        </p:sp>
        <p:sp>
          <p:nvSpPr>
            <p:cNvPr id="37" name="Oval 36"/>
            <p:cNvSpPr/>
            <p:nvPr/>
          </p:nvSpPr>
          <p:spPr>
            <a:xfrm>
              <a:off x="9661158" y="3451402"/>
              <a:ext cx="115214" cy="115214"/>
            </a:xfrm>
            <a:prstGeom prst="ellipse">
              <a:avLst/>
            </a:prstGeom>
            <a:solidFill>
              <a:srgbClr val="FFFFFF"/>
            </a:solidFill>
            <a:ln>
              <a:noFill/>
            </a:ln>
          </p:spPr>
          <p:txBody>
            <a:bodyPr rtlCol="0" anchor="ctr"/>
            <a:lstStyle/>
            <a:p>
              <a:pPr algn="ctr"/>
            </a:p>
          </p:txBody>
        </p:sp>
      </p:grpSp>
      <p:grpSp>
        <p:nvGrpSpPr>
          <p:cNvPr id="44" name="Group 43"/>
          <p:cNvGrpSpPr/>
          <p:nvPr/>
        </p:nvGrpSpPr>
        <p:grpSpPr>
          <a:xfrm>
            <a:off x="7923275" y="3526840"/>
            <a:ext cx="1657154" cy="115214"/>
            <a:chOff x="7923275" y="3526840"/>
            <a:chExt cx="1657154" cy="115214"/>
          </a:xfrm>
        </p:grpSpPr>
        <p:sp>
          <p:nvSpPr>
            <p:cNvPr id="39" name="Oval 38"/>
            <p:cNvSpPr/>
            <p:nvPr/>
          </p:nvSpPr>
          <p:spPr>
            <a:xfrm>
              <a:off x="7923275" y="3552444"/>
              <a:ext cx="64008" cy="64008"/>
            </a:xfrm>
            <a:prstGeom prst="ellipse">
              <a:avLst/>
            </a:prstGeom>
            <a:solidFill>
              <a:srgbClr val="3A3A3A"/>
            </a:solidFill>
            <a:ln>
              <a:noFill/>
            </a:ln>
          </p:spPr>
          <p:txBody>
            <a:bodyPr rtlCol="0" anchor="ctr"/>
            <a:lstStyle/>
            <a:p>
              <a:pPr algn="ctr"/>
            </a:p>
          </p:txBody>
        </p:sp>
        <p:sp>
          <p:nvSpPr>
            <p:cNvPr id="40" name="Oval 39"/>
            <p:cNvSpPr/>
            <p:nvPr/>
          </p:nvSpPr>
          <p:spPr>
            <a:xfrm>
              <a:off x="8308760" y="3546043"/>
              <a:ext cx="76809" cy="76809"/>
            </a:xfrm>
            <a:prstGeom prst="ellipse">
              <a:avLst/>
            </a:prstGeom>
            <a:solidFill>
              <a:srgbClr val="5A5A5A"/>
            </a:solidFill>
            <a:ln>
              <a:noFill/>
            </a:ln>
          </p:spPr>
          <p:txBody>
            <a:bodyPr rtlCol="0" anchor="ctr"/>
            <a:lstStyle/>
            <a:p>
              <a:pPr algn="ctr"/>
            </a:p>
          </p:txBody>
        </p:sp>
        <p:sp>
          <p:nvSpPr>
            <p:cNvPr id="41" name="Oval 40"/>
            <p:cNvSpPr/>
            <p:nvPr/>
          </p:nvSpPr>
          <p:spPr>
            <a:xfrm>
              <a:off x="8694245" y="3539642"/>
              <a:ext cx="89611" cy="89611"/>
            </a:xfrm>
            <a:prstGeom prst="ellipse">
              <a:avLst/>
            </a:prstGeom>
            <a:solidFill>
              <a:srgbClr val="8A8A8A"/>
            </a:solidFill>
            <a:ln>
              <a:noFill/>
            </a:ln>
          </p:spPr>
          <p:txBody>
            <a:bodyPr rtlCol="0" anchor="ctr"/>
            <a:lstStyle/>
            <a:p>
              <a:pPr algn="ctr"/>
            </a:p>
          </p:txBody>
        </p:sp>
        <p:sp>
          <p:nvSpPr>
            <p:cNvPr id="42" name="Oval 41"/>
            <p:cNvSpPr/>
            <p:nvPr/>
          </p:nvSpPr>
          <p:spPr>
            <a:xfrm>
              <a:off x="9079730" y="3533241"/>
              <a:ext cx="102412" cy="102412"/>
            </a:xfrm>
            <a:prstGeom prst="ellipse">
              <a:avLst/>
            </a:prstGeom>
            <a:solidFill>
              <a:srgbClr val="C4C4C4"/>
            </a:solidFill>
            <a:ln>
              <a:noFill/>
            </a:ln>
          </p:spPr>
          <p:txBody>
            <a:bodyPr rtlCol="0" anchor="ctr"/>
            <a:lstStyle/>
            <a:p>
              <a:pPr algn="ctr"/>
            </a:p>
          </p:txBody>
        </p:sp>
        <p:sp>
          <p:nvSpPr>
            <p:cNvPr id="43" name="Oval 42"/>
            <p:cNvSpPr/>
            <p:nvPr/>
          </p:nvSpPr>
          <p:spPr>
            <a:xfrm>
              <a:off x="9465215" y="3526840"/>
              <a:ext cx="115214" cy="115214"/>
            </a:xfrm>
            <a:prstGeom prst="ellipse">
              <a:avLst/>
            </a:prstGeom>
            <a:solidFill>
              <a:srgbClr val="FFFFFF"/>
            </a:solidFill>
            <a:ln>
              <a:noFill/>
            </a:ln>
          </p:spPr>
          <p:txBody>
            <a:bodyPr rtlCol="0" anchor="ctr"/>
            <a:lstStyle/>
            <a:p>
              <a:pPr algn="ctr"/>
            </a:p>
          </p:txBody>
        </p:sp>
      </p:grpSp>
      <p:grpSp>
        <p:nvGrpSpPr>
          <p:cNvPr id="50" name="Group 49"/>
          <p:cNvGrpSpPr/>
          <p:nvPr/>
        </p:nvGrpSpPr>
        <p:grpSpPr>
          <a:xfrm>
            <a:off x="8119218" y="3602278"/>
            <a:ext cx="1657154" cy="363932"/>
            <a:chOff x="8119218" y="3602278"/>
            <a:chExt cx="1657154" cy="363932"/>
          </a:xfrm>
        </p:grpSpPr>
        <p:sp>
          <p:nvSpPr>
            <p:cNvPr id="45" name="Oval 44"/>
            <p:cNvSpPr/>
            <p:nvPr/>
          </p:nvSpPr>
          <p:spPr>
            <a:xfrm>
              <a:off x="8119218" y="3902202"/>
              <a:ext cx="64008" cy="64008"/>
            </a:xfrm>
            <a:prstGeom prst="ellipse">
              <a:avLst/>
            </a:prstGeom>
            <a:solidFill>
              <a:srgbClr val="3A3A3A"/>
            </a:solidFill>
            <a:ln>
              <a:noFill/>
            </a:ln>
          </p:spPr>
          <p:txBody>
            <a:bodyPr rtlCol="0" anchor="ctr"/>
            <a:lstStyle/>
            <a:p>
              <a:pPr algn="ctr"/>
            </a:p>
          </p:txBody>
        </p:sp>
        <p:sp>
          <p:nvSpPr>
            <p:cNvPr id="46" name="Oval 45"/>
            <p:cNvSpPr/>
            <p:nvPr/>
          </p:nvSpPr>
          <p:spPr>
            <a:xfrm>
              <a:off x="8504703" y="3827221"/>
              <a:ext cx="76809" cy="76809"/>
            </a:xfrm>
            <a:prstGeom prst="ellipse">
              <a:avLst/>
            </a:prstGeom>
            <a:solidFill>
              <a:srgbClr val="5A5A5A"/>
            </a:solidFill>
            <a:ln>
              <a:noFill/>
            </a:ln>
          </p:spPr>
          <p:txBody>
            <a:bodyPr rtlCol="0" anchor="ctr"/>
            <a:lstStyle/>
            <a:p>
              <a:pPr algn="ctr"/>
            </a:p>
          </p:txBody>
        </p:sp>
        <p:sp>
          <p:nvSpPr>
            <p:cNvPr id="47" name="Oval 46"/>
            <p:cNvSpPr/>
            <p:nvPr/>
          </p:nvSpPr>
          <p:spPr>
            <a:xfrm>
              <a:off x="8890188" y="3752240"/>
              <a:ext cx="89611" cy="89611"/>
            </a:xfrm>
            <a:prstGeom prst="ellipse">
              <a:avLst/>
            </a:prstGeom>
            <a:solidFill>
              <a:srgbClr val="8A8A8A"/>
            </a:solidFill>
            <a:ln>
              <a:noFill/>
            </a:ln>
          </p:spPr>
          <p:txBody>
            <a:bodyPr rtlCol="0" anchor="ctr"/>
            <a:lstStyle/>
            <a:p>
              <a:pPr algn="ctr"/>
            </a:p>
          </p:txBody>
        </p:sp>
        <p:sp>
          <p:nvSpPr>
            <p:cNvPr id="48" name="Oval 47"/>
            <p:cNvSpPr/>
            <p:nvPr/>
          </p:nvSpPr>
          <p:spPr>
            <a:xfrm>
              <a:off x="9275673" y="3677259"/>
              <a:ext cx="102412" cy="102412"/>
            </a:xfrm>
            <a:prstGeom prst="ellipse">
              <a:avLst/>
            </a:prstGeom>
            <a:solidFill>
              <a:srgbClr val="C4C4C4"/>
            </a:solidFill>
            <a:ln>
              <a:noFill/>
            </a:ln>
          </p:spPr>
          <p:txBody>
            <a:bodyPr rtlCol="0" anchor="ctr"/>
            <a:lstStyle/>
            <a:p>
              <a:pPr algn="ctr"/>
            </a:p>
          </p:txBody>
        </p:sp>
        <p:sp>
          <p:nvSpPr>
            <p:cNvPr id="49" name="Oval 48"/>
            <p:cNvSpPr/>
            <p:nvPr/>
          </p:nvSpPr>
          <p:spPr>
            <a:xfrm>
              <a:off x="9661158" y="3602278"/>
              <a:ext cx="115214" cy="115214"/>
            </a:xfrm>
            <a:prstGeom prst="ellipse">
              <a:avLst/>
            </a:prstGeom>
            <a:solidFill>
              <a:srgbClr val="FFFFFF"/>
            </a:solidFill>
            <a:ln>
              <a:noFill/>
            </a:ln>
          </p:spPr>
          <p:txBody>
            <a:bodyPr rtlCol="0" anchor="ctr"/>
            <a:lstStyle/>
            <a:p>
              <a:pPr algn="ctr"/>
            </a:p>
          </p:txBody>
        </p:sp>
      </p:grpSp>
      <p:grpSp>
        <p:nvGrpSpPr>
          <p:cNvPr id="56" name="Group 55"/>
          <p:cNvGrpSpPr/>
          <p:nvPr/>
        </p:nvGrpSpPr>
        <p:grpSpPr>
          <a:xfrm>
            <a:off x="7923275" y="3741071"/>
            <a:ext cx="1657154" cy="625189"/>
            <a:chOff x="7923275" y="3741071"/>
            <a:chExt cx="1657154" cy="625189"/>
          </a:xfrm>
        </p:grpSpPr>
        <p:sp>
          <p:nvSpPr>
            <p:cNvPr id="51" name="Oval 50"/>
            <p:cNvSpPr/>
            <p:nvPr/>
          </p:nvSpPr>
          <p:spPr>
            <a:xfrm>
              <a:off x="7923275" y="4302252"/>
              <a:ext cx="64008" cy="64008"/>
            </a:xfrm>
            <a:prstGeom prst="ellipse">
              <a:avLst/>
            </a:prstGeom>
            <a:solidFill>
              <a:srgbClr val="3A3A3A"/>
            </a:solidFill>
            <a:ln>
              <a:noFill/>
            </a:ln>
          </p:spPr>
          <p:txBody>
            <a:bodyPr rtlCol="0" anchor="ctr"/>
            <a:lstStyle/>
            <a:p>
              <a:pPr algn="ctr"/>
            </a:p>
          </p:txBody>
        </p:sp>
        <p:sp>
          <p:nvSpPr>
            <p:cNvPr id="52" name="Oval 51"/>
            <p:cNvSpPr/>
            <p:nvPr/>
          </p:nvSpPr>
          <p:spPr>
            <a:xfrm>
              <a:off x="8308760" y="4161956"/>
              <a:ext cx="76809" cy="76809"/>
            </a:xfrm>
            <a:prstGeom prst="ellipse">
              <a:avLst/>
            </a:prstGeom>
            <a:solidFill>
              <a:srgbClr val="5A5A5A"/>
            </a:solidFill>
            <a:ln>
              <a:noFill/>
            </a:ln>
          </p:spPr>
          <p:txBody>
            <a:bodyPr rtlCol="0" anchor="ctr"/>
            <a:lstStyle/>
            <a:p>
              <a:pPr algn="ctr"/>
            </a:p>
          </p:txBody>
        </p:sp>
        <p:sp>
          <p:nvSpPr>
            <p:cNvPr id="53" name="Oval 52"/>
            <p:cNvSpPr/>
            <p:nvPr/>
          </p:nvSpPr>
          <p:spPr>
            <a:xfrm>
              <a:off x="8694245" y="4021661"/>
              <a:ext cx="89611" cy="89611"/>
            </a:xfrm>
            <a:prstGeom prst="ellipse">
              <a:avLst/>
            </a:prstGeom>
            <a:solidFill>
              <a:srgbClr val="8A8A8A"/>
            </a:solidFill>
            <a:ln>
              <a:noFill/>
            </a:ln>
          </p:spPr>
          <p:txBody>
            <a:bodyPr rtlCol="0" anchor="ctr"/>
            <a:lstStyle/>
            <a:p>
              <a:pPr algn="ctr"/>
            </a:p>
          </p:txBody>
        </p:sp>
        <p:sp>
          <p:nvSpPr>
            <p:cNvPr id="54" name="Oval 53"/>
            <p:cNvSpPr/>
            <p:nvPr/>
          </p:nvSpPr>
          <p:spPr>
            <a:xfrm>
              <a:off x="9079730" y="3881366"/>
              <a:ext cx="102412" cy="102412"/>
            </a:xfrm>
            <a:prstGeom prst="ellipse">
              <a:avLst/>
            </a:prstGeom>
            <a:solidFill>
              <a:srgbClr val="C4C4C4"/>
            </a:solidFill>
            <a:ln>
              <a:noFill/>
            </a:ln>
          </p:spPr>
          <p:txBody>
            <a:bodyPr rtlCol="0" anchor="ctr"/>
            <a:lstStyle/>
            <a:p>
              <a:pPr algn="ctr"/>
            </a:p>
          </p:txBody>
        </p:sp>
        <p:sp>
          <p:nvSpPr>
            <p:cNvPr id="55" name="Oval 54"/>
            <p:cNvSpPr/>
            <p:nvPr/>
          </p:nvSpPr>
          <p:spPr>
            <a:xfrm>
              <a:off x="9465215" y="3741071"/>
              <a:ext cx="115214" cy="115214"/>
            </a:xfrm>
            <a:prstGeom prst="ellipse">
              <a:avLst/>
            </a:prstGeom>
            <a:solidFill>
              <a:srgbClr val="FFFFFF"/>
            </a:solidFill>
            <a:ln>
              <a:noFill/>
            </a:ln>
          </p:spPr>
          <p:txBody>
            <a:bodyPr rtlCol="0" anchor="ctr"/>
            <a:lstStyle/>
            <a:p>
              <a:pPr algn="ct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44"/>
                                        </p:tgtEl>
                                        <p:attrNameLst>
                                          <p:attrName>style.visibility</p:attrName>
                                        </p:attrNameLst>
                                      </p:cBhvr>
                                      <p:to>
                                        <p:strVal val="visible"/>
                                      </p:to>
                                    </p:set>
                                    <p:animEffect transition="in" filter="fade">
                                      <p:cBhvr>
                                        <p:cTn id="15" dur="500"/>
                                        <p:tgtEl>
                                          <p:spTgt spid="44"/>
                                        </p:tgtEl>
                                      </p:cBhvr>
                                    </p:animEffect>
                                  </p:childTnLst>
                                </p:cTn>
                              </p:par>
                            </p:childTnLst>
                          </p:cTn>
                        </p:par>
                        <p:par>
                          <p:cTn id="16" fill="hold">
                            <p:stCondLst>
                              <p:cond delay="2550"/>
                            </p:stCondLst>
                            <p:childTnLst>
                              <p:par>
                                <p:cTn id="17" presetID="10" presetClass="entr" presetSubtype="0" fill="hold" nodeType="afterEffect">
                                  <p:stCondLst>
                                    <p:cond delay="35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par>
                          <p:cTn id="20" fill="hold">
                            <p:stCondLst>
                              <p:cond delay="3400"/>
                            </p:stCondLst>
                            <p:childTnLst>
                              <p:par>
                                <p:cTn id="21" presetID="10" presetClass="entr" presetSubtype="0" fill="hold" nodeType="afterEffect">
                                  <p:stCondLst>
                                    <p:cond delay="350"/>
                                  </p:stCondLst>
                                  <p:childTnLst>
                                    <p:set>
                                      <p:cBhvr>
                                        <p:cTn id="22" dur="1" fill="hold">
                                          <p:stCondLst>
                                            <p:cond delay="0"/>
                                          </p:stCondLst>
                                        </p:cTn>
                                        <p:tgtEl>
                                          <p:spTgt spid="56"/>
                                        </p:tgtEl>
                                        <p:attrNameLst>
                                          <p:attrName>style.visibility</p:attrName>
                                        </p:attrNameLst>
                                      </p:cBhvr>
                                      <p:to>
                                        <p:strVal val="visible"/>
                                      </p:to>
                                    </p:set>
                                    <p:animEffect transition="in" filter="fade">
                                      <p:cBhvr>
                                        <p:cTn id="23"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188720"/>
            <a:ext cx="10820095" cy="868680"/>
          </a:xfrm>
        </p:spPr>
        <p:txBody>
          <a:bodyPr wrap="square" lIns="0" rIns="0" tIns="0" bIns="0" anchor="t">
            <a:noAutofit/>
          </a:bodyPr>
          <a:lstStyle/>
          <a:p>
            <a:pPr algn="l">
              <a:lnSpc>
                <a:spcPct val="90000"/>
              </a:lnSpc>
            </a:pPr>
            <a:r>
              <a:rPr sz="5600" b="0" spc="-196">
                <a:solidFill>
                  <a:srgbClr val="FFFFFF"/>
                </a:solidFill>
                <a:latin typeface="Helvetica Neue"/>
              </a:rPr>
              <a:t>The loop.</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04 / 10  ·  THE LOOP</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grpSp>
        <p:nvGrpSpPr>
          <p:cNvPr id="15" name="Group 14"/>
          <p:cNvGrpSpPr/>
          <p:nvPr/>
        </p:nvGrpSpPr>
        <p:grpSpPr>
          <a:xfrm>
            <a:off x="685800" y="2331720"/>
            <a:ext cx="2377440" cy="3108960"/>
            <a:chOff x="685800" y="2331720"/>
            <a:chExt cx="2377440" cy="3108960"/>
          </a:xfrm>
        </p:grpSpPr>
        <p:sp>
          <p:nvSpPr>
            <p:cNvPr id="10" name="Rectangle 9"/>
            <p:cNvSpPr/>
            <p:nvPr/>
          </p:nvSpPr>
          <p:spPr>
            <a:xfrm>
              <a:off x="685800" y="2331720"/>
              <a:ext cx="2377440" cy="3108960"/>
            </a:xfrm>
            <a:prstGeom prst="rect">
              <a:avLst/>
            </a:prstGeom>
            <a:noFill/>
            <a:ln w="9525">
              <a:solidFill>
                <a:srgbClr val="343434"/>
              </a:solidFill>
            </a:ln>
          </p:spPr>
          <p:txBody>
            <a:bodyPr rtlCol="0" anchor="ctr"/>
            <a:lstStyle/>
            <a:p>
              <a:pPr algn="ctr"/>
            </a:p>
          </p:txBody>
        </p:sp>
        <p:cxnSp>
          <p:nvCxnSpPr>
            <p:cNvPr id="11" name="Connector 10"/>
            <p:cNvCxnSpPr/>
            <p:nvPr/>
          </p:nvCxnSpPr>
          <p:spPr>
            <a:xfrm>
              <a:off x="685800" y="2331720"/>
              <a:ext cx="2377440" cy="0"/>
            </a:xfrm>
            <a:prstGeom prst="line">
              <a:avLst/>
            </a:prstGeom>
            <a:ln w="25400">
              <a:solidFill>
                <a:srgbClr val="FF3B30"/>
              </a:solidFill>
            </a:ln>
          </p:spPr>
        </p:cxnSp>
        <p:sp>
          <p:nvSpPr>
            <p:cNvPr id="12" name="TextBox 11"/>
            <p:cNvSpPr txBox="1"/>
            <p:nvPr/>
          </p:nvSpPr>
          <p:spPr>
            <a:xfrm>
              <a:off x="960120" y="2560320"/>
              <a:ext cx="914400" cy="731520"/>
            </a:xfrm>
            <a:prstGeom prst="rect">
              <a:avLst/>
            </a:prstGeom>
            <a:noFill/>
          </p:spPr>
          <p:txBody>
            <a:bodyPr wrap="square" lIns="0" rIns="0" tIns="0" bIns="0" anchor="t">
              <a:noAutofit/>
            </a:bodyPr>
            <a:lstStyle/>
            <a:p>
              <a:pPr algn="l">
                <a:lnSpc>
                  <a:spcPct val="90000"/>
                </a:lnSpc>
              </a:pPr>
              <a:r>
                <a:rPr sz="5000" b="0" spc="-200">
                  <a:solidFill>
                    <a:srgbClr val="FFFFFF"/>
                  </a:solidFill>
                  <a:latin typeface="Helvetica Neue"/>
                </a:rPr>
                <a:t>1</a:t>
              </a:r>
            </a:p>
          </p:txBody>
        </p:sp>
        <p:sp>
          <p:nvSpPr>
            <p:cNvPr id="13" name="Freeform 12"/>
            <p:cNvSpPr/>
            <p:nvPr/>
          </p:nvSpPr>
          <p:spPr>
            <a:xfrm>
              <a:off x="2397697" y="2679191"/>
              <a:ext cx="380109" cy="438913"/>
            </a:xfrm>
            <a:custGeom>
              <a:avLst/>
              <a:gdLst/>
              <a:ahLst/>
              <a:cxnLst/>
              <a:rect l="l" t="t" r="r" b="b"/>
              <a:pathLst>
                <a:path w="380109" h="438913">
                  <a:moveTo>
                    <a:pt x="190055" y="0"/>
                  </a:moveTo>
                  <a:lnTo>
                    <a:pt x="380109" y="109729"/>
                  </a:lnTo>
                  <a:lnTo>
                    <a:pt x="380109" y="329185"/>
                  </a:lnTo>
                  <a:lnTo>
                    <a:pt x="190055" y="438913"/>
                  </a:lnTo>
                  <a:lnTo>
                    <a:pt x="0" y="329185"/>
                  </a:lnTo>
                  <a:lnTo>
                    <a:pt x="0" y="109729"/>
                  </a:lnTo>
                  <a:close/>
                </a:path>
              </a:pathLst>
            </a:custGeom>
            <a:solidFill>
              <a:srgbClr val="FF3B30"/>
            </a:solidFill>
            <a:ln w="12700">
              <a:solidFill>
                <a:srgbClr val="FF3B30"/>
              </a:solidFill>
            </a:ln>
          </p:spPr>
          <p:txBody>
            <a:bodyPr rtlCol="0" anchor="ctr"/>
            <a:lstStyle/>
            <a:p>
              <a:pPr algn="ctr"/>
            </a:p>
          </p:txBody>
        </p:sp>
        <p:sp>
          <p:nvSpPr>
            <p:cNvPr id="14" name="TextBox 13"/>
            <p:cNvSpPr txBox="1"/>
            <p:nvPr/>
          </p:nvSpPr>
          <p:spPr>
            <a:xfrm>
              <a:off x="960120" y="3657600"/>
              <a:ext cx="1828800" cy="1645920"/>
            </a:xfrm>
            <a:prstGeom prst="rect">
              <a:avLst/>
            </a:prstGeom>
            <a:noFill/>
          </p:spPr>
          <p:txBody>
            <a:bodyPr wrap="square" lIns="0" rIns="0" tIns="0" bIns="0" anchor="t">
              <a:noAutofit/>
            </a:bodyPr>
            <a:lstStyle/>
            <a:p>
              <a:pPr algn="l">
                <a:lnSpc>
                  <a:spcPct val="100000"/>
                </a:lnSpc>
              </a:pPr>
              <a:r>
                <a:rPr sz="2000" b="0" spc="-30">
                  <a:solidFill>
                    <a:srgbClr val="FFFFFF"/>
                  </a:solidFill>
                  <a:latin typeface="Helvetica Neue"/>
                </a:rPr>
                <a:t>Agent goes down → </a:t>
              </a:r>
              <a:r>
                <a:rPr sz="2000" b="0" spc="-30">
                  <a:solidFill>
                    <a:srgbClr val="FF3B30"/>
                  </a:solidFill>
                  <a:latin typeface="Helvetica Neue"/>
                </a:rPr>
                <a:t>mayday</a:t>
              </a:r>
            </a:p>
          </p:txBody>
        </p:sp>
      </p:grpSp>
      <p:grpSp>
        <p:nvGrpSpPr>
          <p:cNvPr id="22" name="Group 21"/>
          <p:cNvGrpSpPr/>
          <p:nvPr/>
        </p:nvGrpSpPr>
        <p:grpSpPr>
          <a:xfrm>
            <a:off x="3127248" y="2331720"/>
            <a:ext cx="2750210" cy="3108960"/>
            <a:chOff x="3127248" y="2331720"/>
            <a:chExt cx="2750210" cy="3108960"/>
          </a:xfrm>
        </p:grpSpPr>
        <p:cxnSp>
          <p:nvCxnSpPr>
            <p:cNvPr id="16" name="Connector 15"/>
            <p:cNvCxnSpPr/>
            <p:nvPr/>
          </p:nvCxnSpPr>
          <p:spPr>
            <a:xfrm>
              <a:off x="3127248" y="3886200"/>
              <a:ext cx="308762" cy="0"/>
            </a:xfrm>
            <a:prstGeom prst="line">
              <a:avLst/>
            </a:prstGeom>
            <a:ln w="12700">
              <a:solidFill>
                <a:srgbClr val="FFFFFF"/>
              </a:solidFill>
              <a:tailEnd type="triangle" w="med" len="med"/>
            </a:ln>
          </p:spPr>
        </p:cxnSp>
        <p:sp>
          <p:nvSpPr>
            <p:cNvPr id="17" name="Rectangle 16"/>
            <p:cNvSpPr/>
            <p:nvPr/>
          </p:nvSpPr>
          <p:spPr>
            <a:xfrm>
              <a:off x="3500018" y="2331720"/>
              <a:ext cx="2377440" cy="3108960"/>
            </a:xfrm>
            <a:prstGeom prst="rect">
              <a:avLst/>
            </a:prstGeom>
            <a:noFill/>
            <a:ln w="9525">
              <a:solidFill>
                <a:srgbClr val="343434"/>
              </a:solidFill>
            </a:ln>
          </p:spPr>
          <p:txBody>
            <a:bodyPr rtlCol="0" anchor="ctr"/>
            <a:lstStyle/>
            <a:p>
              <a:pPr algn="ctr"/>
            </a:p>
          </p:txBody>
        </p:sp>
        <p:cxnSp>
          <p:nvCxnSpPr>
            <p:cNvPr id="18" name="Connector 17"/>
            <p:cNvCxnSpPr/>
            <p:nvPr/>
          </p:nvCxnSpPr>
          <p:spPr>
            <a:xfrm>
              <a:off x="3500018" y="2331720"/>
              <a:ext cx="2377440" cy="0"/>
            </a:xfrm>
            <a:prstGeom prst="line">
              <a:avLst/>
            </a:prstGeom>
            <a:ln w="25400">
              <a:solidFill>
                <a:srgbClr val="FFFFFF"/>
              </a:solidFill>
            </a:ln>
          </p:spPr>
        </p:cxnSp>
        <p:sp>
          <p:nvSpPr>
            <p:cNvPr id="19" name="TextBox 18"/>
            <p:cNvSpPr txBox="1"/>
            <p:nvPr/>
          </p:nvSpPr>
          <p:spPr>
            <a:xfrm>
              <a:off x="3774338" y="2560320"/>
              <a:ext cx="914400" cy="731520"/>
            </a:xfrm>
            <a:prstGeom prst="rect">
              <a:avLst/>
            </a:prstGeom>
            <a:noFill/>
          </p:spPr>
          <p:txBody>
            <a:bodyPr wrap="square" lIns="0" rIns="0" tIns="0" bIns="0" anchor="t">
              <a:noAutofit/>
            </a:bodyPr>
            <a:lstStyle/>
            <a:p>
              <a:pPr algn="l">
                <a:lnSpc>
                  <a:spcPct val="90000"/>
                </a:lnSpc>
              </a:pPr>
              <a:r>
                <a:rPr sz="5000" b="0" spc="-200">
                  <a:solidFill>
                    <a:srgbClr val="FFFFFF"/>
                  </a:solidFill>
                  <a:latin typeface="Helvetica Neue"/>
                </a:rPr>
                <a:t>2</a:t>
              </a:r>
            </a:p>
          </p:txBody>
        </p:sp>
        <p:sp>
          <p:nvSpPr>
            <p:cNvPr id="20" name="Freeform 19"/>
            <p:cNvSpPr/>
            <p:nvPr/>
          </p:nvSpPr>
          <p:spPr>
            <a:xfrm>
              <a:off x="5211915" y="2679191"/>
              <a:ext cx="380109" cy="438913"/>
            </a:xfrm>
            <a:custGeom>
              <a:avLst/>
              <a:gdLst/>
              <a:ahLst/>
              <a:cxnLst/>
              <a:rect l="l" t="t" r="r" b="b"/>
              <a:pathLst>
                <a:path w="380109" h="438913">
                  <a:moveTo>
                    <a:pt x="190055" y="0"/>
                  </a:moveTo>
                  <a:lnTo>
                    <a:pt x="380109" y="109729"/>
                  </a:lnTo>
                  <a:lnTo>
                    <a:pt x="380109" y="329185"/>
                  </a:lnTo>
                  <a:lnTo>
                    <a:pt x="190055" y="438913"/>
                  </a:lnTo>
                  <a:lnTo>
                    <a:pt x="0" y="329185"/>
                  </a:lnTo>
                  <a:lnTo>
                    <a:pt x="0" y="109729"/>
                  </a:lnTo>
                  <a:close/>
                </a:path>
              </a:pathLst>
            </a:custGeom>
            <a:noFill/>
            <a:ln w="12700">
              <a:solidFill>
                <a:srgbClr val="FFFFFF"/>
              </a:solidFill>
            </a:ln>
          </p:spPr>
          <p:txBody>
            <a:bodyPr rtlCol="0" anchor="ctr"/>
            <a:lstStyle/>
            <a:p>
              <a:pPr algn="ctr"/>
            </a:p>
          </p:txBody>
        </p:sp>
        <p:sp>
          <p:nvSpPr>
            <p:cNvPr id="21" name="TextBox 20"/>
            <p:cNvSpPr txBox="1"/>
            <p:nvPr/>
          </p:nvSpPr>
          <p:spPr>
            <a:xfrm>
              <a:off x="3774338" y="3657600"/>
              <a:ext cx="1828800" cy="1645920"/>
            </a:xfrm>
            <a:prstGeom prst="rect">
              <a:avLst/>
            </a:prstGeom>
            <a:noFill/>
          </p:spPr>
          <p:txBody>
            <a:bodyPr wrap="square" lIns="0" rIns="0" tIns="0" bIns="0" anchor="t">
              <a:noAutofit/>
            </a:bodyPr>
            <a:lstStyle/>
            <a:p>
              <a:pPr algn="l">
                <a:lnSpc>
                  <a:spcPct val="100000"/>
                </a:lnSpc>
              </a:pPr>
              <a:r>
                <a:rPr sz="2000" b="0" spc="-30">
                  <a:solidFill>
                    <a:srgbClr val="FFFFFF"/>
                  </a:solidFill>
                  <a:latin typeface="Helvetica Neue"/>
                </a:rPr>
                <a:t>Postgres finds the crash site</a:t>
              </a:r>
            </a:p>
          </p:txBody>
        </p:sp>
      </p:grpSp>
      <p:grpSp>
        <p:nvGrpSpPr>
          <p:cNvPr id="29" name="Group 28"/>
          <p:cNvGrpSpPr/>
          <p:nvPr/>
        </p:nvGrpSpPr>
        <p:grpSpPr>
          <a:xfrm>
            <a:off x="5941466" y="2331720"/>
            <a:ext cx="2750210" cy="3108960"/>
            <a:chOff x="5941466" y="2331720"/>
            <a:chExt cx="2750210" cy="3108960"/>
          </a:xfrm>
        </p:grpSpPr>
        <p:cxnSp>
          <p:nvCxnSpPr>
            <p:cNvPr id="23" name="Connector 22"/>
            <p:cNvCxnSpPr/>
            <p:nvPr/>
          </p:nvCxnSpPr>
          <p:spPr>
            <a:xfrm>
              <a:off x="5941466" y="3886200"/>
              <a:ext cx="308762" cy="0"/>
            </a:xfrm>
            <a:prstGeom prst="line">
              <a:avLst/>
            </a:prstGeom>
            <a:ln w="12700">
              <a:solidFill>
                <a:srgbClr val="FFFFFF"/>
              </a:solidFill>
              <a:tailEnd type="triangle" w="med" len="med"/>
            </a:ln>
          </p:spPr>
        </p:cxnSp>
        <p:sp>
          <p:nvSpPr>
            <p:cNvPr id="24" name="Rectangle 23"/>
            <p:cNvSpPr/>
            <p:nvPr/>
          </p:nvSpPr>
          <p:spPr>
            <a:xfrm>
              <a:off x="6314236" y="2331720"/>
              <a:ext cx="2377440" cy="3108960"/>
            </a:xfrm>
            <a:prstGeom prst="rect">
              <a:avLst/>
            </a:prstGeom>
            <a:noFill/>
            <a:ln w="9525">
              <a:solidFill>
                <a:srgbClr val="343434"/>
              </a:solidFill>
            </a:ln>
          </p:spPr>
          <p:txBody>
            <a:bodyPr rtlCol="0" anchor="ctr"/>
            <a:lstStyle/>
            <a:p>
              <a:pPr algn="ctr"/>
            </a:p>
          </p:txBody>
        </p:sp>
        <p:cxnSp>
          <p:nvCxnSpPr>
            <p:cNvPr id="25" name="Connector 24"/>
            <p:cNvCxnSpPr/>
            <p:nvPr/>
          </p:nvCxnSpPr>
          <p:spPr>
            <a:xfrm>
              <a:off x="6314236" y="2331720"/>
              <a:ext cx="2377440" cy="0"/>
            </a:xfrm>
            <a:prstGeom prst="line">
              <a:avLst/>
            </a:prstGeom>
            <a:ln w="25400">
              <a:solidFill>
                <a:srgbClr val="F5A524"/>
              </a:solidFill>
            </a:ln>
          </p:spPr>
        </p:cxnSp>
        <p:sp>
          <p:nvSpPr>
            <p:cNvPr id="26" name="TextBox 25"/>
            <p:cNvSpPr txBox="1"/>
            <p:nvPr/>
          </p:nvSpPr>
          <p:spPr>
            <a:xfrm>
              <a:off x="6588556" y="2560320"/>
              <a:ext cx="914400" cy="731520"/>
            </a:xfrm>
            <a:prstGeom prst="rect">
              <a:avLst/>
            </a:prstGeom>
            <a:noFill/>
          </p:spPr>
          <p:txBody>
            <a:bodyPr wrap="square" lIns="0" rIns="0" tIns="0" bIns="0" anchor="t">
              <a:noAutofit/>
            </a:bodyPr>
            <a:lstStyle/>
            <a:p>
              <a:pPr algn="l">
                <a:lnSpc>
                  <a:spcPct val="90000"/>
                </a:lnSpc>
              </a:pPr>
              <a:r>
                <a:rPr sz="5000" b="0" spc="-200">
                  <a:solidFill>
                    <a:srgbClr val="FFFFFF"/>
                  </a:solidFill>
                  <a:latin typeface="Helvetica Neue"/>
                </a:rPr>
                <a:t>3</a:t>
              </a:r>
            </a:p>
          </p:txBody>
        </p:sp>
        <p:sp>
          <p:nvSpPr>
            <p:cNvPr id="27" name="Freeform 26"/>
            <p:cNvSpPr/>
            <p:nvPr/>
          </p:nvSpPr>
          <p:spPr>
            <a:xfrm>
              <a:off x="8026134" y="2679191"/>
              <a:ext cx="380109" cy="438913"/>
            </a:xfrm>
            <a:custGeom>
              <a:avLst/>
              <a:gdLst/>
              <a:ahLst/>
              <a:cxnLst/>
              <a:rect l="l" t="t" r="r" b="b"/>
              <a:pathLst>
                <a:path w="380109" h="438913">
                  <a:moveTo>
                    <a:pt x="190054" y="0"/>
                  </a:moveTo>
                  <a:lnTo>
                    <a:pt x="380109" y="109729"/>
                  </a:lnTo>
                  <a:lnTo>
                    <a:pt x="380109" y="329185"/>
                  </a:lnTo>
                  <a:lnTo>
                    <a:pt x="190054" y="438913"/>
                  </a:lnTo>
                  <a:lnTo>
                    <a:pt x="0" y="329185"/>
                  </a:lnTo>
                  <a:lnTo>
                    <a:pt x="0" y="109729"/>
                  </a:lnTo>
                  <a:close/>
                </a:path>
              </a:pathLst>
            </a:custGeom>
            <a:solidFill>
              <a:srgbClr val="F5A524"/>
            </a:solidFill>
            <a:ln w="12700">
              <a:solidFill>
                <a:srgbClr val="F5A524"/>
              </a:solidFill>
            </a:ln>
          </p:spPr>
          <p:txBody>
            <a:bodyPr rtlCol="0" anchor="ctr"/>
            <a:lstStyle/>
            <a:p>
              <a:pPr algn="ctr"/>
            </a:p>
          </p:txBody>
        </p:sp>
        <p:sp>
          <p:nvSpPr>
            <p:cNvPr id="28" name="TextBox 27"/>
            <p:cNvSpPr txBox="1"/>
            <p:nvPr/>
          </p:nvSpPr>
          <p:spPr>
            <a:xfrm>
              <a:off x="6588556" y="3657600"/>
              <a:ext cx="1828800" cy="1645920"/>
            </a:xfrm>
            <a:prstGeom prst="rect">
              <a:avLst/>
            </a:prstGeom>
            <a:noFill/>
          </p:spPr>
          <p:txBody>
            <a:bodyPr wrap="square" lIns="0" rIns="0" tIns="0" bIns="0" anchor="t">
              <a:noAutofit/>
            </a:bodyPr>
            <a:lstStyle/>
            <a:p>
              <a:pPr algn="l">
                <a:lnSpc>
                  <a:spcPct val="100000"/>
                </a:lnSpc>
              </a:pPr>
              <a:r>
                <a:rPr sz="2000" b="0" spc="-30">
                  <a:solidFill>
                    <a:srgbClr val="FFFFFF"/>
                  </a:solidFill>
                  <a:latin typeface="Helvetica Neue"/>
                </a:rPr>
                <a:t>Briefing: the fix that worked, </a:t>
              </a:r>
              <a:r>
                <a:rPr sz="2000" b="0" spc="-30">
                  <a:solidFill>
                    <a:srgbClr val="F5A524"/>
                  </a:solidFill>
                  <a:latin typeface="Helvetica Neue"/>
                </a:rPr>
                <a:t>official fix first</a:t>
              </a:r>
            </a:p>
          </p:txBody>
        </p:sp>
      </p:grpSp>
      <p:grpSp>
        <p:nvGrpSpPr>
          <p:cNvPr id="36" name="Group 35"/>
          <p:cNvGrpSpPr/>
          <p:nvPr/>
        </p:nvGrpSpPr>
        <p:grpSpPr>
          <a:xfrm>
            <a:off x="8755684" y="2331720"/>
            <a:ext cx="2750211" cy="3108960"/>
            <a:chOff x="8755684" y="2331720"/>
            <a:chExt cx="2750211" cy="3108960"/>
          </a:xfrm>
        </p:grpSpPr>
        <p:cxnSp>
          <p:nvCxnSpPr>
            <p:cNvPr id="30" name="Connector 29"/>
            <p:cNvCxnSpPr/>
            <p:nvPr/>
          </p:nvCxnSpPr>
          <p:spPr>
            <a:xfrm>
              <a:off x="8755684" y="3886200"/>
              <a:ext cx="308763" cy="0"/>
            </a:xfrm>
            <a:prstGeom prst="line">
              <a:avLst/>
            </a:prstGeom>
            <a:ln w="12700">
              <a:solidFill>
                <a:srgbClr val="FFFFFF"/>
              </a:solidFill>
              <a:tailEnd type="triangle" w="med" len="med"/>
            </a:ln>
          </p:spPr>
        </p:cxnSp>
        <p:sp>
          <p:nvSpPr>
            <p:cNvPr id="31" name="Rectangle 30"/>
            <p:cNvSpPr/>
            <p:nvPr/>
          </p:nvSpPr>
          <p:spPr>
            <a:xfrm>
              <a:off x="9128455" y="2331720"/>
              <a:ext cx="2377440" cy="3108960"/>
            </a:xfrm>
            <a:prstGeom prst="rect">
              <a:avLst/>
            </a:prstGeom>
            <a:noFill/>
            <a:ln w="9525">
              <a:solidFill>
                <a:srgbClr val="343434"/>
              </a:solidFill>
            </a:ln>
          </p:spPr>
          <p:txBody>
            <a:bodyPr rtlCol="0" anchor="ctr"/>
            <a:lstStyle/>
            <a:p>
              <a:pPr algn="ctr"/>
            </a:p>
          </p:txBody>
        </p:sp>
        <p:cxnSp>
          <p:nvCxnSpPr>
            <p:cNvPr id="32" name="Connector 31"/>
            <p:cNvCxnSpPr/>
            <p:nvPr/>
          </p:nvCxnSpPr>
          <p:spPr>
            <a:xfrm>
              <a:off x="9128455" y="2331720"/>
              <a:ext cx="2377440" cy="0"/>
            </a:xfrm>
            <a:prstGeom prst="line">
              <a:avLst/>
            </a:prstGeom>
            <a:ln w="25400">
              <a:solidFill>
                <a:srgbClr val="58B7FF"/>
              </a:solidFill>
            </a:ln>
          </p:spPr>
        </p:cxnSp>
        <p:sp>
          <p:nvSpPr>
            <p:cNvPr id="33" name="TextBox 32"/>
            <p:cNvSpPr txBox="1"/>
            <p:nvPr/>
          </p:nvSpPr>
          <p:spPr>
            <a:xfrm>
              <a:off x="9402775" y="2560320"/>
              <a:ext cx="914400" cy="731520"/>
            </a:xfrm>
            <a:prstGeom prst="rect">
              <a:avLst/>
            </a:prstGeom>
            <a:noFill/>
          </p:spPr>
          <p:txBody>
            <a:bodyPr wrap="square" lIns="0" rIns="0" tIns="0" bIns="0" anchor="t">
              <a:noAutofit/>
            </a:bodyPr>
            <a:lstStyle/>
            <a:p>
              <a:pPr algn="l">
                <a:lnSpc>
                  <a:spcPct val="90000"/>
                </a:lnSpc>
              </a:pPr>
              <a:r>
                <a:rPr sz="5000" b="0" spc="-200">
                  <a:solidFill>
                    <a:srgbClr val="FFFFFF"/>
                  </a:solidFill>
                  <a:latin typeface="Helvetica Neue"/>
                </a:rPr>
                <a:t>4</a:t>
              </a:r>
            </a:p>
          </p:txBody>
        </p:sp>
        <p:sp>
          <p:nvSpPr>
            <p:cNvPr id="34" name="Freeform 33"/>
            <p:cNvSpPr/>
            <p:nvPr/>
          </p:nvSpPr>
          <p:spPr>
            <a:xfrm>
              <a:off x="10840352" y="2679191"/>
              <a:ext cx="380109" cy="438913"/>
            </a:xfrm>
            <a:custGeom>
              <a:avLst/>
              <a:gdLst/>
              <a:ahLst/>
              <a:cxnLst/>
              <a:rect l="l" t="t" r="r" b="b"/>
              <a:pathLst>
                <a:path w="380109" h="438913">
                  <a:moveTo>
                    <a:pt x="190055" y="0"/>
                  </a:moveTo>
                  <a:lnTo>
                    <a:pt x="380109" y="109729"/>
                  </a:lnTo>
                  <a:lnTo>
                    <a:pt x="380109" y="329185"/>
                  </a:lnTo>
                  <a:lnTo>
                    <a:pt x="190055" y="438913"/>
                  </a:lnTo>
                  <a:lnTo>
                    <a:pt x="0" y="329185"/>
                  </a:lnTo>
                  <a:lnTo>
                    <a:pt x="0" y="109729"/>
                  </a:lnTo>
                  <a:close/>
                </a:path>
              </a:pathLst>
            </a:custGeom>
            <a:solidFill>
              <a:srgbClr val="58B7FF"/>
            </a:solidFill>
            <a:ln w="12700">
              <a:solidFill>
                <a:srgbClr val="58B7FF"/>
              </a:solidFill>
            </a:ln>
          </p:spPr>
          <p:txBody>
            <a:bodyPr rtlCol="0" anchor="ctr"/>
            <a:lstStyle/>
            <a:p>
              <a:pPr algn="ctr"/>
            </a:p>
          </p:txBody>
        </p:sp>
        <p:sp>
          <p:nvSpPr>
            <p:cNvPr id="35" name="TextBox 34"/>
            <p:cNvSpPr txBox="1"/>
            <p:nvPr/>
          </p:nvSpPr>
          <p:spPr>
            <a:xfrm>
              <a:off x="9402775" y="3657600"/>
              <a:ext cx="1828800" cy="1645920"/>
            </a:xfrm>
            <a:prstGeom prst="rect">
              <a:avLst/>
            </a:prstGeom>
            <a:noFill/>
          </p:spPr>
          <p:txBody>
            <a:bodyPr wrap="square" lIns="0" rIns="0" tIns="0" bIns="0" anchor="t">
              <a:noAutofit/>
            </a:bodyPr>
            <a:lstStyle/>
            <a:p>
              <a:pPr algn="l">
                <a:lnSpc>
                  <a:spcPct val="100000"/>
                </a:lnSpc>
              </a:pPr>
              <a:r>
                <a:rPr sz="2000" b="0" spc="-30">
                  <a:solidFill>
                    <a:srgbClr val="58B7FF"/>
                  </a:solidFill>
                  <a:latin typeface="Helvetica Neue"/>
                </a:rPr>
                <a:t>Rescue</a:t>
              </a:r>
              <a:r>
                <a:rPr sz="2000" b="0" spc="-30">
                  <a:solidFill>
                    <a:srgbClr val="FFFFFF"/>
                  </a:solidFill>
                  <a:latin typeface="Helvetica Neue"/>
                </a:rPr>
                <a:t> confirmed, the best fix rises</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500"/>
                                        <p:tgtEl>
                                          <p:spTgt spid="22"/>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childTnLst>
                          </p:cTn>
                        </p:par>
                        <p:par>
                          <p:cTn id="16" fill="hold">
                            <p:stCondLst>
                              <p:cond delay="2550"/>
                            </p:stCondLst>
                            <p:childTnLst>
                              <p:par>
                                <p:cTn id="17" presetID="10" presetClass="entr" presetSubtype="0" fill="hold" nodeType="afterEffect">
                                  <p:stCondLst>
                                    <p:cond delay="35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188720"/>
            <a:ext cx="10820095" cy="868680"/>
          </a:xfrm>
        </p:spPr>
        <p:txBody>
          <a:bodyPr wrap="square" lIns="0" rIns="0" tIns="0" bIns="0" anchor="t">
            <a:noAutofit/>
          </a:bodyPr>
          <a:lstStyle/>
          <a:p>
            <a:pPr algn="l">
              <a:lnSpc>
                <a:spcPct val="90000"/>
              </a:lnSpc>
            </a:pPr>
            <a:r>
              <a:rPr sz="5600" b="0" spc="-196">
                <a:solidFill>
                  <a:srgbClr val="FFFFFF"/>
                </a:solidFill>
                <a:latin typeface="Helvetica Neue"/>
              </a:rPr>
              <a:t>Watch one go down.</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05 / 10  ·  LIVE</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sp>
        <p:nvSpPr>
          <p:cNvPr id="10" name="Rectangle 9"/>
          <p:cNvSpPr/>
          <p:nvPr/>
        </p:nvSpPr>
        <p:spPr>
          <a:xfrm>
            <a:off x="685800" y="2377440"/>
            <a:ext cx="10820095" cy="1371600"/>
          </a:xfrm>
          <a:prstGeom prst="rect">
            <a:avLst/>
          </a:prstGeom>
          <a:noFill/>
          <a:ln w="9525">
            <a:solidFill>
              <a:srgbClr val="6E6E68"/>
            </a:solidFill>
          </a:ln>
        </p:spPr>
        <p:txBody>
          <a:bodyPr rtlCol="0" anchor="ctr"/>
          <a:lstStyle/>
          <a:p>
            <a:pPr algn="ctr"/>
          </a:p>
        </p:txBody>
      </p:sp>
      <p:sp>
        <p:nvSpPr>
          <p:cNvPr id="11" name="Freeform 10"/>
          <p:cNvSpPr/>
          <p:nvPr/>
        </p:nvSpPr>
        <p:spPr>
          <a:xfrm>
            <a:off x="1044297" y="2587752"/>
            <a:ext cx="142541" cy="164592"/>
          </a:xfrm>
          <a:custGeom>
            <a:avLst/>
            <a:gdLst/>
            <a:ahLst/>
            <a:cxnLst/>
            <a:rect l="l" t="t" r="r" b="b"/>
            <a:pathLst>
              <a:path w="142541" h="164592">
                <a:moveTo>
                  <a:pt x="71271" y="0"/>
                </a:moveTo>
                <a:lnTo>
                  <a:pt x="142541" y="41148"/>
                </a:lnTo>
                <a:lnTo>
                  <a:pt x="142541" y="123444"/>
                </a:lnTo>
                <a:lnTo>
                  <a:pt x="71271" y="164592"/>
                </a:lnTo>
                <a:lnTo>
                  <a:pt x="0" y="123444"/>
                </a:lnTo>
                <a:lnTo>
                  <a:pt x="0" y="41148"/>
                </a:lnTo>
                <a:close/>
              </a:path>
            </a:pathLst>
          </a:custGeom>
          <a:solidFill>
            <a:srgbClr val="FF3B30"/>
          </a:solidFill>
          <a:ln>
            <a:noFill/>
          </a:ln>
        </p:spPr>
        <p:txBody>
          <a:bodyPr rtlCol="0" anchor="ctr"/>
          <a:lstStyle/>
          <a:p>
            <a:pPr algn="ctr"/>
          </a:p>
        </p:txBody>
      </p:sp>
      <p:sp>
        <p:nvSpPr>
          <p:cNvPr id="12" name="TextBox 11"/>
          <p:cNvSpPr txBox="1"/>
          <p:nvPr/>
        </p:nvSpPr>
        <p:spPr>
          <a:xfrm>
            <a:off x="1307592" y="2596896"/>
            <a:ext cx="3657600"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LIVE NOW</a:t>
            </a:r>
          </a:p>
        </p:txBody>
      </p:sp>
      <p:sp>
        <p:nvSpPr>
          <p:cNvPr id="13" name="TextBox 12"/>
          <p:cNvSpPr txBox="1"/>
          <p:nvPr/>
        </p:nvSpPr>
        <p:spPr>
          <a:xfrm>
            <a:off x="1005840" y="2926080"/>
            <a:ext cx="10180015" cy="594360"/>
          </a:xfrm>
          <a:prstGeom prst="rect">
            <a:avLst/>
          </a:prstGeom>
          <a:noFill/>
        </p:spPr>
        <p:txBody>
          <a:bodyPr wrap="square" lIns="0" rIns="0" tIns="0" bIns="0" anchor="t">
            <a:noAutofit/>
          </a:bodyPr>
          <a:lstStyle/>
          <a:p>
            <a:pPr algn="l">
              <a:lnSpc>
                <a:spcPct val="100000"/>
              </a:lnSpc>
            </a:pPr>
            <a:r>
              <a:rPr sz="3000" b="0" spc="-30">
                <a:solidFill>
                  <a:srgbClr val="F5A524"/>
                </a:solidFill>
                <a:latin typeface="Menlo"/>
              </a:rPr>
              <a:t>https://mayday-alpha-eight.vercel.app</a:t>
            </a:r>
          </a:p>
        </p:txBody>
      </p:sp>
      <p:cxnSp>
        <p:nvCxnSpPr>
          <p:cNvPr id="14" name="Connector 13"/>
          <p:cNvCxnSpPr/>
          <p:nvPr/>
        </p:nvCxnSpPr>
        <p:spPr>
          <a:xfrm>
            <a:off x="685800" y="4114800"/>
            <a:ext cx="2430703" cy="0"/>
          </a:xfrm>
          <a:prstGeom prst="line">
            <a:avLst/>
          </a:prstGeom>
          <a:ln w="9525">
            <a:solidFill>
              <a:srgbClr val="343434"/>
            </a:solidFill>
          </a:ln>
        </p:spPr>
      </p:cxnSp>
      <p:sp>
        <p:nvSpPr>
          <p:cNvPr id="15" name="TextBox 14"/>
          <p:cNvSpPr txBox="1"/>
          <p:nvPr/>
        </p:nvSpPr>
        <p:spPr>
          <a:xfrm>
            <a:off x="685800" y="4261104"/>
            <a:ext cx="2430703"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TOTAL MAYDAYS</a:t>
            </a:r>
          </a:p>
        </p:txBody>
      </p:sp>
      <p:sp>
        <p:nvSpPr>
          <p:cNvPr id="16" name="TextBox 15"/>
          <p:cNvSpPr txBox="1"/>
          <p:nvPr/>
        </p:nvSpPr>
        <p:spPr>
          <a:xfrm>
            <a:off x="685800" y="4526280"/>
            <a:ext cx="2430703" cy="457200"/>
          </a:xfrm>
          <a:prstGeom prst="rect">
            <a:avLst/>
          </a:prstGeom>
          <a:noFill/>
        </p:spPr>
        <p:txBody>
          <a:bodyPr wrap="square" lIns="0" rIns="0" tIns="0" bIns="0" anchor="t">
            <a:noAutofit/>
          </a:bodyPr>
          <a:lstStyle/>
          <a:p>
            <a:pPr algn="l">
              <a:lnSpc>
                <a:spcPct val="100000"/>
              </a:lnSpc>
            </a:pPr>
            <a:r>
              <a:rPr sz="2400" b="0" spc="-60">
                <a:solidFill>
                  <a:srgbClr val="FFFFFF"/>
                </a:solidFill>
                <a:latin typeface="Helvetica Neue"/>
              </a:rPr>
              <a:t>live on screen</a:t>
            </a:r>
          </a:p>
        </p:txBody>
      </p:sp>
      <p:cxnSp>
        <p:nvCxnSpPr>
          <p:cNvPr id="17" name="Connector 16"/>
          <p:cNvCxnSpPr/>
          <p:nvPr/>
        </p:nvCxnSpPr>
        <p:spPr>
          <a:xfrm>
            <a:off x="3390823" y="4114800"/>
            <a:ext cx="2430704" cy="0"/>
          </a:xfrm>
          <a:prstGeom prst="line">
            <a:avLst/>
          </a:prstGeom>
          <a:ln w="9525">
            <a:solidFill>
              <a:srgbClr val="343434"/>
            </a:solidFill>
          </a:ln>
        </p:spPr>
      </p:cxnSp>
      <p:sp>
        <p:nvSpPr>
          <p:cNvPr id="18" name="TextBox 17"/>
          <p:cNvSpPr txBox="1"/>
          <p:nvPr/>
        </p:nvSpPr>
        <p:spPr>
          <a:xfrm>
            <a:off x="3390823" y="4261104"/>
            <a:ext cx="2430703"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RESCUES</a:t>
            </a:r>
          </a:p>
        </p:txBody>
      </p:sp>
      <p:sp>
        <p:nvSpPr>
          <p:cNvPr id="19" name="TextBox 18"/>
          <p:cNvSpPr txBox="1"/>
          <p:nvPr/>
        </p:nvSpPr>
        <p:spPr>
          <a:xfrm>
            <a:off x="3390823" y="4526280"/>
            <a:ext cx="2430703" cy="457200"/>
          </a:xfrm>
          <a:prstGeom prst="rect">
            <a:avLst/>
          </a:prstGeom>
          <a:noFill/>
        </p:spPr>
        <p:txBody>
          <a:bodyPr wrap="square" lIns="0" rIns="0" tIns="0" bIns="0" anchor="t">
            <a:noAutofit/>
          </a:bodyPr>
          <a:lstStyle/>
          <a:p>
            <a:pPr algn="l">
              <a:lnSpc>
                <a:spcPct val="100000"/>
              </a:lnSpc>
            </a:pPr>
            <a:r>
              <a:rPr sz="2400" b="0" spc="-60">
                <a:solidFill>
                  <a:srgbClr val="FFFFFF"/>
                </a:solidFill>
                <a:latin typeface="Helvetica Neue"/>
              </a:rPr>
              <a:t>live on screen</a:t>
            </a:r>
          </a:p>
        </p:txBody>
      </p:sp>
      <p:cxnSp>
        <p:nvCxnSpPr>
          <p:cNvPr id="20" name="Connector 19"/>
          <p:cNvCxnSpPr/>
          <p:nvPr/>
        </p:nvCxnSpPr>
        <p:spPr>
          <a:xfrm>
            <a:off x="6095847" y="4114800"/>
            <a:ext cx="2430704" cy="0"/>
          </a:xfrm>
          <a:prstGeom prst="line">
            <a:avLst/>
          </a:prstGeom>
          <a:ln w="9525">
            <a:solidFill>
              <a:srgbClr val="343434"/>
            </a:solidFill>
          </a:ln>
        </p:spPr>
      </p:cxnSp>
      <p:sp>
        <p:nvSpPr>
          <p:cNvPr id="21" name="TextBox 20"/>
          <p:cNvSpPr txBox="1"/>
          <p:nvPr/>
        </p:nvSpPr>
        <p:spPr>
          <a:xfrm>
            <a:off x="6095847" y="4261104"/>
            <a:ext cx="2430703"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CRASH SITES</a:t>
            </a:r>
          </a:p>
        </p:txBody>
      </p:sp>
      <p:sp>
        <p:nvSpPr>
          <p:cNvPr id="22" name="TextBox 21"/>
          <p:cNvSpPr txBox="1"/>
          <p:nvPr/>
        </p:nvSpPr>
        <p:spPr>
          <a:xfrm>
            <a:off x="6095847" y="4526280"/>
            <a:ext cx="2430703" cy="457200"/>
          </a:xfrm>
          <a:prstGeom prst="rect">
            <a:avLst/>
          </a:prstGeom>
          <a:noFill/>
        </p:spPr>
        <p:txBody>
          <a:bodyPr wrap="square" lIns="0" rIns="0" tIns="0" bIns="0" anchor="t">
            <a:noAutofit/>
          </a:bodyPr>
          <a:lstStyle/>
          <a:p>
            <a:pPr algn="l">
              <a:lnSpc>
                <a:spcPct val="100000"/>
              </a:lnSpc>
            </a:pPr>
            <a:r>
              <a:rPr sz="2400" b="0" spc="-60">
                <a:solidFill>
                  <a:srgbClr val="FFFFFF"/>
                </a:solidFill>
                <a:latin typeface="Helvetica Neue"/>
              </a:rPr>
              <a:t>live on screen</a:t>
            </a:r>
          </a:p>
        </p:txBody>
      </p:sp>
      <p:cxnSp>
        <p:nvCxnSpPr>
          <p:cNvPr id="23" name="Connector 22"/>
          <p:cNvCxnSpPr/>
          <p:nvPr/>
        </p:nvCxnSpPr>
        <p:spPr>
          <a:xfrm>
            <a:off x="8800871" y="4114800"/>
            <a:ext cx="2430704" cy="0"/>
          </a:xfrm>
          <a:prstGeom prst="line">
            <a:avLst/>
          </a:prstGeom>
          <a:ln w="9525">
            <a:solidFill>
              <a:srgbClr val="343434"/>
            </a:solidFill>
          </a:ln>
        </p:spPr>
      </p:cxnSp>
      <p:sp>
        <p:nvSpPr>
          <p:cNvPr id="24" name="TextBox 23"/>
          <p:cNvSpPr txBox="1"/>
          <p:nvPr/>
        </p:nvSpPr>
        <p:spPr>
          <a:xfrm>
            <a:off x="8800871" y="4261104"/>
            <a:ext cx="2430703" cy="164592"/>
          </a:xfrm>
          <a:prstGeom prst="rect">
            <a:avLst/>
          </a:prstGeom>
          <a:noFill/>
        </p:spPr>
        <p:txBody>
          <a:bodyPr wrap="square" lIns="0" rIns="0" tIns="0" bIns="0" anchor="t">
            <a:noAutofit/>
          </a:bodyPr>
          <a:lstStyle/>
          <a:p>
            <a:pPr algn="l">
              <a:lnSpc>
                <a:spcPct val="100000"/>
              </a:lnSpc>
            </a:pPr>
            <a:r>
              <a:rPr sz="850" b="0" spc="136">
                <a:solidFill>
                  <a:srgbClr val="8F8F8A"/>
                </a:solidFill>
                <a:latin typeface="Menlo"/>
              </a:rPr>
              <a:t>VENDORS</a:t>
            </a:r>
          </a:p>
        </p:txBody>
      </p:sp>
      <p:sp>
        <p:nvSpPr>
          <p:cNvPr id="25" name="TextBox 24"/>
          <p:cNvSpPr txBox="1"/>
          <p:nvPr/>
        </p:nvSpPr>
        <p:spPr>
          <a:xfrm>
            <a:off x="8800871" y="4526280"/>
            <a:ext cx="2430703" cy="457200"/>
          </a:xfrm>
          <a:prstGeom prst="rect">
            <a:avLst/>
          </a:prstGeom>
          <a:noFill/>
        </p:spPr>
        <p:txBody>
          <a:bodyPr wrap="square" lIns="0" rIns="0" tIns="0" bIns="0" anchor="t">
            <a:noAutofit/>
          </a:bodyPr>
          <a:lstStyle/>
          <a:p>
            <a:pPr algn="l">
              <a:lnSpc>
                <a:spcPct val="100000"/>
              </a:lnSpc>
            </a:pPr>
            <a:r>
              <a:rPr sz="2400" b="0" spc="-60">
                <a:solidFill>
                  <a:srgbClr val="FFFFFF"/>
                </a:solidFill>
                <a:latin typeface="Helvetica Neue"/>
              </a:rPr>
              <a:t>live on screen</a:t>
            </a:r>
          </a:p>
        </p:txBody>
      </p:sp>
      <p:sp>
        <p:nvSpPr>
          <p:cNvPr id="26" name="TextBox 25"/>
          <p:cNvSpPr txBox="1"/>
          <p:nvPr/>
        </p:nvSpPr>
        <p:spPr>
          <a:xfrm>
            <a:off x="685800" y="5349240"/>
            <a:ext cx="10820095" cy="182880"/>
          </a:xfrm>
          <a:prstGeom prst="rect">
            <a:avLst/>
          </a:prstGeom>
          <a:noFill/>
        </p:spPr>
        <p:txBody>
          <a:bodyPr wrap="square" lIns="0" rIns="0" tIns="0" bIns="0" anchor="t">
            <a:noAutofit/>
          </a:bodyPr>
          <a:lstStyle/>
          <a:p>
            <a:pPr algn="l">
              <a:lnSpc>
                <a:spcPct val="100000"/>
              </a:lnSpc>
            </a:pPr>
            <a:r>
              <a:rPr sz="1000" b="0">
                <a:solidFill>
                  <a:srgbClr val="8F8F8A"/>
                </a:solidFill>
                <a:latin typeface="Menlo"/>
              </a:rPr>
              <a:t>GET https://mayday-alpha-eight.vercel.app/api/v1/map</a:t>
            </a:r>
          </a:p>
        </p:txBody>
      </p:sp>
      <p:sp>
        <p:nvSpPr>
          <p:cNvPr id="27" name="TextBox 26"/>
          <p:cNvSpPr txBox="1"/>
          <p:nvPr/>
        </p:nvSpPr>
        <p:spPr>
          <a:xfrm>
            <a:off x="685800" y="5669280"/>
            <a:ext cx="10820095" cy="274320"/>
          </a:xfrm>
          <a:prstGeom prst="rect">
            <a:avLst/>
          </a:prstGeom>
          <a:noFill/>
        </p:spPr>
        <p:txBody>
          <a:bodyPr wrap="square" lIns="0" rIns="0" tIns="0" bIns="0" anchor="t">
            <a:noAutofit/>
          </a:bodyPr>
          <a:lstStyle/>
          <a:p>
            <a:pPr algn="l">
              <a:lnSpc>
                <a:spcPct val="100000"/>
              </a:lnSpc>
            </a:pPr>
            <a:r>
              <a:rPr sz="1300" b="0">
                <a:solidFill>
                  <a:srgbClr val="8F8F8A"/>
                </a:solidFill>
                <a:latin typeface="Helvetica Neue"/>
              </a:rPr>
              <a:t>includes charted sites; live and test-flight traffic is marked</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188720"/>
            <a:ext cx="10820095" cy="868680"/>
          </a:xfrm>
        </p:spPr>
        <p:txBody>
          <a:bodyPr wrap="square" lIns="0" rIns="0" tIns="0" bIns="0" anchor="t">
            <a:noAutofit/>
          </a:bodyPr>
          <a:lstStyle/>
          <a:p>
            <a:pPr algn="l">
              <a:lnSpc>
                <a:spcPct val="90000"/>
              </a:lnSpc>
            </a:pPr>
            <a:r>
              <a:rPr sz="5400" b="0" spc="-189">
                <a:solidFill>
                  <a:srgbClr val="FFFFFF"/>
                </a:solidFill>
                <a:latin typeface="Helvetica Neue"/>
              </a:rPr>
              <a:t>Every vendor gets a tower.</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06 / 10  ·  THE VENDOR SIDE</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cxnSp>
        <p:nvCxnSpPr>
          <p:cNvPr id="10" name="Connector 9"/>
          <p:cNvCxnSpPr/>
          <p:nvPr/>
        </p:nvCxnSpPr>
        <p:spPr>
          <a:xfrm>
            <a:off x="685800" y="2377440"/>
            <a:ext cx="4709160" cy="0"/>
          </a:xfrm>
          <a:prstGeom prst="line">
            <a:avLst/>
          </a:prstGeom>
          <a:ln w="9525">
            <a:solidFill>
              <a:srgbClr val="343434"/>
            </a:solidFill>
          </a:ln>
        </p:spPr>
      </p:cxnSp>
      <p:sp>
        <p:nvSpPr>
          <p:cNvPr id="11" name="TextBox 10"/>
          <p:cNvSpPr txBox="1"/>
          <p:nvPr/>
        </p:nvSpPr>
        <p:spPr>
          <a:xfrm>
            <a:off x="685800" y="2532888"/>
            <a:ext cx="914400" cy="164592"/>
          </a:xfrm>
          <a:prstGeom prst="rect">
            <a:avLst/>
          </a:prstGeom>
          <a:noFill/>
        </p:spPr>
        <p:txBody>
          <a:bodyPr wrap="square" lIns="0" rIns="0" tIns="0" bIns="0" anchor="t">
            <a:noAutofit/>
          </a:bodyPr>
          <a:lstStyle/>
          <a:p>
            <a:pPr algn="l">
              <a:lnSpc>
                <a:spcPct val="100000"/>
              </a:lnSpc>
            </a:pPr>
            <a:r>
              <a:rPr sz="900" b="0" spc="144">
                <a:solidFill>
                  <a:srgbClr val="F5A524"/>
                </a:solidFill>
                <a:latin typeface="Menlo"/>
              </a:rPr>
              <a:t>01</a:t>
            </a:r>
          </a:p>
        </p:txBody>
      </p:sp>
      <p:sp>
        <p:nvSpPr>
          <p:cNvPr id="12" name="TextBox 11"/>
          <p:cNvSpPr txBox="1"/>
          <p:nvPr/>
        </p:nvSpPr>
        <p:spPr>
          <a:xfrm>
            <a:off x="1234440" y="2505456"/>
            <a:ext cx="4160520" cy="868680"/>
          </a:xfrm>
          <a:prstGeom prst="rect">
            <a:avLst/>
          </a:prstGeom>
          <a:noFill/>
        </p:spPr>
        <p:txBody>
          <a:bodyPr wrap="square" lIns="0" rIns="0" tIns="0" bIns="0" anchor="t">
            <a:noAutofit/>
          </a:bodyPr>
          <a:lstStyle/>
          <a:p>
            <a:pPr algn="l">
              <a:lnSpc>
                <a:spcPct val="100000"/>
              </a:lnSpc>
            </a:pPr>
            <a:r>
              <a:rPr sz="1800" b="0" spc="-27">
                <a:solidFill>
                  <a:srgbClr val="FFFFFF"/>
                </a:solidFill>
                <a:latin typeface="Helvetica Neue"/>
              </a:rPr>
              <a:t>See where agents crash on your product, ranked by agents down and hours lost</a:t>
            </a:r>
          </a:p>
        </p:txBody>
      </p:sp>
      <p:cxnSp>
        <p:nvCxnSpPr>
          <p:cNvPr id="13" name="Connector 12"/>
          <p:cNvCxnSpPr/>
          <p:nvPr/>
        </p:nvCxnSpPr>
        <p:spPr>
          <a:xfrm>
            <a:off x="685800" y="3566160"/>
            <a:ext cx="4709160" cy="0"/>
          </a:xfrm>
          <a:prstGeom prst="line">
            <a:avLst/>
          </a:prstGeom>
          <a:ln w="9525">
            <a:solidFill>
              <a:srgbClr val="343434"/>
            </a:solidFill>
          </a:ln>
        </p:spPr>
      </p:cxnSp>
      <p:sp>
        <p:nvSpPr>
          <p:cNvPr id="14" name="TextBox 13"/>
          <p:cNvSpPr txBox="1"/>
          <p:nvPr/>
        </p:nvSpPr>
        <p:spPr>
          <a:xfrm>
            <a:off x="685800" y="3721608"/>
            <a:ext cx="914400" cy="164592"/>
          </a:xfrm>
          <a:prstGeom prst="rect">
            <a:avLst/>
          </a:prstGeom>
          <a:noFill/>
        </p:spPr>
        <p:txBody>
          <a:bodyPr wrap="square" lIns="0" rIns="0" tIns="0" bIns="0" anchor="t">
            <a:noAutofit/>
          </a:bodyPr>
          <a:lstStyle/>
          <a:p>
            <a:pPr algn="l">
              <a:lnSpc>
                <a:spcPct val="100000"/>
              </a:lnSpc>
            </a:pPr>
            <a:r>
              <a:rPr sz="900" b="0" spc="144">
                <a:solidFill>
                  <a:srgbClr val="F5A524"/>
                </a:solidFill>
                <a:latin typeface="Menlo"/>
              </a:rPr>
              <a:t>02</a:t>
            </a:r>
          </a:p>
        </p:txBody>
      </p:sp>
      <p:sp>
        <p:nvSpPr>
          <p:cNvPr id="15" name="TextBox 14"/>
          <p:cNvSpPr txBox="1"/>
          <p:nvPr/>
        </p:nvSpPr>
        <p:spPr>
          <a:xfrm>
            <a:off x="1234440" y="3694176"/>
            <a:ext cx="4160520" cy="868680"/>
          </a:xfrm>
          <a:prstGeom prst="rect">
            <a:avLst/>
          </a:prstGeom>
          <a:noFill/>
        </p:spPr>
        <p:txBody>
          <a:bodyPr wrap="square" lIns="0" rIns="0" tIns="0" bIns="0" anchor="t">
            <a:noAutofit/>
          </a:bodyPr>
          <a:lstStyle/>
          <a:p>
            <a:pPr algn="l">
              <a:lnSpc>
                <a:spcPct val="100000"/>
              </a:lnSpc>
            </a:pPr>
            <a:r>
              <a:rPr sz="1800" b="0" spc="-27">
                <a:solidFill>
                  <a:srgbClr val="FFFFFF"/>
                </a:solidFill>
                <a:latin typeface="Helvetica Neue"/>
              </a:rPr>
              <a:t>Pin the official fix at the exact crash site</a:t>
            </a:r>
          </a:p>
        </p:txBody>
      </p:sp>
      <p:cxnSp>
        <p:nvCxnSpPr>
          <p:cNvPr id="16" name="Connector 15"/>
          <p:cNvCxnSpPr/>
          <p:nvPr/>
        </p:nvCxnSpPr>
        <p:spPr>
          <a:xfrm>
            <a:off x="685800" y="4754880"/>
            <a:ext cx="4709160" cy="0"/>
          </a:xfrm>
          <a:prstGeom prst="line">
            <a:avLst/>
          </a:prstGeom>
          <a:ln w="9525">
            <a:solidFill>
              <a:srgbClr val="343434"/>
            </a:solidFill>
          </a:ln>
        </p:spPr>
      </p:cxnSp>
      <p:sp>
        <p:nvSpPr>
          <p:cNvPr id="17" name="TextBox 16"/>
          <p:cNvSpPr txBox="1"/>
          <p:nvPr/>
        </p:nvSpPr>
        <p:spPr>
          <a:xfrm>
            <a:off x="685800" y="4910328"/>
            <a:ext cx="914400" cy="164592"/>
          </a:xfrm>
          <a:prstGeom prst="rect">
            <a:avLst/>
          </a:prstGeom>
          <a:noFill/>
        </p:spPr>
        <p:txBody>
          <a:bodyPr wrap="square" lIns="0" rIns="0" tIns="0" bIns="0" anchor="t">
            <a:noAutofit/>
          </a:bodyPr>
          <a:lstStyle/>
          <a:p>
            <a:pPr algn="l">
              <a:lnSpc>
                <a:spcPct val="100000"/>
              </a:lnSpc>
            </a:pPr>
            <a:r>
              <a:rPr sz="900" b="0" spc="144">
                <a:solidFill>
                  <a:srgbClr val="F5A524"/>
                </a:solidFill>
                <a:latin typeface="Menlo"/>
              </a:rPr>
              <a:t>03</a:t>
            </a:r>
          </a:p>
        </p:txBody>
      </p:sp>
      <p:sp>
        <p:nvSpPr>
          <p:cNvPr id="18" name="TextBox 17"/>
          <p:cNvSpPr txBox="1"/>
          <p:nvPr/>
        </p:nvSpPr>
        <p:spPr>
          <a:xfrm>
            <a:off x="1234440" y="4882896"/>
            <a:ext cx="4160520" cy="868680"/>
          </a:xfrm>
          <a:prstGeom prst="rect">
            <a:avLst/>
          </a:prstGeom>
          <a:noFill/>
        </p:spPr>
        <p:txBody>
          <a:bodyPr wrap="square" lIns="0" rIns="0" tIns="0" bIns="0" anchor="t">
            <a:noAutofit/>
          </a:bodyPr>
          <a:lstStyle/>
          <a:p>
            <a:pPr algn="l">
              <a:lnSpc>
                <a:spcPct val="100000"/>
              </a:lnSpc>
            </a:pPr>
            <a:r>
              <a:rPr sz="1800" b="0" spc="-27">
                <a:solidFill>
                  <a:srgbClr val="FFFFFF"/>
                </a:solidFill>
                <a:latin typeface="Helvetica Neue"/>
              </a:rPr>
              <a:t>Pay per rescue, through Stripe. </a:t>
            </a:r>
            <a:r>
              <a:rPr sz="1800" b="0" spc="-27">
                <a:solidFill>
                  <a:srgbClr val="F5A524"/>
                </a:solidFill>
                <a:latin typeface="Helvetica Neue"/>
              </a:rPr>
              <a:t>Only when the fix works.</a:t>
            </a:r>
          </a:p>
        </p:txBody>
      </p:sp>
      <p:cxnSp>
        <p:nvCxnSpPr>
          <p:cNvPr id="19" name="Connector 18"/>
          <p:cNvCxnSpPr/>
          <p:nvPr/>
        </p:nvCxnSpPr>
        <p:spPr>
          <a:xfrm>
            <a:off x="685800" y="5943600"/>
            <a:ext cx="4709160" cy="0"/>
          </a:xfrm>
          <a:prstGeom prst="line">
            <a:avLst/>
          </a:prstGeom>
          <a:ln w="9525">
            <a:solidFill>
              <a:srgbClr val="343434"/>
            </a:solidFill>
          </a:ln>
        </p:spPr>
      </p:cxnSp>
      <p:sp>
        <p:nvSpPr>
          <p:cNvPr id="20" name="Rectangle 19"/>
          <p:cNvSpPr/>
          <p:nvPr/>
        </p:nvSpPr>
        <p:spPr>
          <a:xfrm>
            <a:off x="5943600" y="2377440"/>
            <a:ext cx="5562295" cy="3566160"/>
          </a:xfrm>
          <a:prstGeom prst="rect">
            <a:avLst/>
          </a:prstGeom>
          <a:noFill/>
          <a:ln w="9525">
            <a:solidFill>
              <a:srgbClr val="6E6E68"/>
            </a:solidFill>
          </a:ln>
        </p:spPr>
        <p:txBody>
          <a:bodyPr rtlCol="0" anchor="ctr"/>
          <a:lstStyle/>
          <a:p>
            <a:pPr algn="ctr"/>
          </a:p>
        </p:txBody>
      </p:sp>
      <p:sp>
        <p:nvSpPr>
          <p:cNvPr id="21" name="TextBox 20"/>
          <p:cNvSpPr txBox="1"/>
          <p:nvPr/>
        </p:nvSpPr>
        <p:spPr>
          <a:xfrm>
            <a:off x="6172200" y="2514600"/>
            <a:ext cx="1188720" cy="146304"/>
          </a:xfrm>
          <a:prstGeom prst="rect">
            <a:avLst/>
          </a:prstGeom>
          <a:noFill/>
        </p:spPr>
        <p:txBody>
          <a:bodyPr wrap="square" lIns="0" rIns="0" tIns="0" bIns="0" anchor="t">
            <a:noAutofit/>
          </a:bodyPr>
          <a:lstStyle/>
          <a:p>
            <a:pPr algn="l">
              <a:lnSpc>
                <a:spcPct val="100000"/>
              </a:lnSpc>
            </a:pPr>
            <a:r>
              <a:rPr sz="750" b="0" spc="105">
                <a:solidFill>
                  <a:srgbClr val="8F8F8A"/>
                </a:solidFill>
                <a:latin typeface="Menlo"/>
              </a:rPr>
              <a:t>#</a:t>
            </a:r>
          </a:p>
        </p:txBody>
      </p:sp>
      <p:sp>
        <p:nvSpPr>
          <p:cNvPr id="22" name="TextBox 21"/>
          <p:cNvSpPr txBox="1"/>
          <p:nvPr/>
        </p:nvSpPr>
        <p:spPr>
          <a:xfrm>
            <a:off x="6629400" y="2514600"/>
            <a:ext cx="1188720" cy="146304"/>
          </a:xfrm>
          <a:prstGeom prst="rect">
            <a:avLst/>
          </a:prstGeom>
          <a:noFill/>
        </p:spPr>
        <p:txBody>
          <a:bodyPr wrap="square" lIns="0" rIns="0" tIns="0" bIns="0" anchor="t">
            <a:noAutofit/>
          </a:bodyPr>
          <a:lstStyle/>
          <a:p>
            <a:pPr algn="l">
              <a:lnSpc>
                <a:spcPct val="100000"/>
              </a:lnSpc>
            </a:pPr>
            <a:r>
              <a:rPr sz="750" b="0" spc="105">
                <a:solidFill>
                  <a:srgbClr val="8F8F8A"/>
                </a:solidFill>
                <a:latin typeface="Menlo"/>
              </a:rPr>
              <a:t>CRASH SITE</a:t>
            </a:r>
          </a:p>
        </p:txBody>
      </p:sp>
      <p:sp>
        <p:nvSpPr>
          <p:cNvPr id="23" name="TextBox 22"/>
          <p:cNvSpPr txBox="1"/>
          <p:nvPr/>
        </p:nvSpPr>
        <p:spPr>
          <a:xfrm>
            <a:off x="9372600" y="2514600"/>
            <a:ext cx="1188720" cy="146304"/>
          </a:xfrm>
          <a:prstGeom prst="rect">
            <a:avLst/>
          </a:prstGeom>
          <a:noFill/>
        </p:spPr>
        <p:txBody>
          <a:bodyPr wrap="square" lIns="0" rIns="0" tIns="0" bIns="0" anchor="t">
            <a:noAutofit/>
          </a:bodyPr>
          <a:lstStyle/>
          <a:p>
            <a:pPr algn="l">
              <a:lnSpc>
                <a:spcPct val="100000"/>
              </a:lnSpc>
            </a:pPr>
            <a:r>
              <a:rPr sz="750" b="0" spc="105">
                <a:solidFill>
                  <a:srgbClr val="8F8F8A"/>
                </a:solidFill>
                <a:latin typeface="Menlo"/>
              </a:rPr>
              <a:t>AGENTS DOWN</a:t>
            </a:r>
          </a:p>
        </p:txBody>
      </p:sp>
      <p:sp>
        <p:nvSpPr>
          <p:cNvPr id="24" name="TextBox 23"/>
          <p:cNvSpPr txBox="1"/>
          <p:nvPr/>
        </p:nvSpPr>
        <p:spPr>
          <a:xfrm>
            <a:off x="10469880" y="2514600"/>
            <a:ext cx="1188720" cy="146304"/>
          </a:xfrm>
          <a:prstGeom prst="rect">
            <a:avLst/>
          </a:prstGeom>
          <a:noFill/>
        </p:spPr>
        <p:txBody>
          <a:bodyPr wrap="square" lIns="0" rIns="0" tIns="0" bIns="0" anchor="t">
            <a:noAutofit/>
          </a:bodyPr>
          <a:lstStyle/>
          <a:p>
            <a:pPr algn="l">
              <a:lnSpc>
                <a:spcPct val="100000"/>
              </a:lnSpc>
            </a:pPr>
            <a:r>
              <a:rPr sz="750" b="0" spc="105">
                <a:solidFill>
                  <a:srgbClr val="8F8F8A"/>
                </a:solidFill>
                <a:latin typeface="Menlo"/>
              </a:rPr>
              <a:t>HOURS LOST</a:t>
            </a:r>
          </a:p>
        </p:txBody>
      </p:sp>
      <p:cxnSp>
        <p:nvCxnSpPr>
          <p:cNvPr id="25" name="Connector 24"/>
          <p:cNvCxnSpPr/>
          <p:nvPr/>
        </p:nvCxnSpPr>
        <p:spPr>
          <a:xfrm>
            <a:off x="5943600" y="2788920"/>
            <a:ext cx="5562295" cy="0"/>
          </a:xfrm>
          <a:prstGeom prst="line">
            <a:avLst/>
          </a:prstGeom>
          <a:ln w="9525">
            <a:solidFill>
              <a:srgbClr val="343434"/>
            </a:solidFill>
          </a:ln>
        </p:spPr>
      </p:cxnSp>
      <p:sp>
        <p:nvSpPr>
          <p:cNvPr id="26" name="TextBox 25"/>
          <p:cNvSpPr txBox="1"/>
          <p:nvPr/>
        </p:nvSpPr>
        <p:spPr>
          <a:xfrm>
            <a:off x="6172200" y="3017520"/>
            <a:ext cx="365760" cy="164592"/>
          </a:xfrm>
          <a:prstGeom prst="rect">
            <a:avLst/>
          </a:prstGeom>
          <a:noFill/>
        </p:spPr>
        <p:txBody>
          <a:bodyPr wrap="square" lIns="0" rIns="0" tIns="0" bIns="0" anchor="t">
            <a:noAutofit/>
          </a:bodyPr>
          <a:lstStyle/>
          <a:p>
            <a:pPr algn="l">
              <a:lnSpc>
                <a:spcPct val="100000"/>
              </a:lnSpc>
            </a:pPr>
            <a:r>
              <a:rPr sz="900" b="0">
                <a:solidFill>
                  <a:srgbClr val="8F8F8A"/>
                </a:solidFill>
                <a:latin typeface="Menlo"/>
              </a:rPr>
              <a:t>01</a:t>
            </a:r>
          </a:p>
        </p:txBody>
      </p:sp>
      <p:sp>
        <p:nvSpPr>
          <p:cNvPr id="27" name="Rectangle 26"/>
          <p:cNvSpPr/>
          <p:nvPr/>
        </p:nvSpPr>
        <p:spPr>
          <a:xfrm>
            <a:off x="6629400" y="3063240"/>
            <a:ext cx="1234440" cy="82296"/>
          </a:xfrm>
          <a:prstGeom prst="rect">
            <a:avLst/>
          </a:prstGeom>
          <a:solidFill>
            <a:srgbClr val="3A3A3A"/>
          </a:solidFill>
          <a:ln>
            <a:noFill/>
          </a:ln>
        </p:spPr>
        <p:txBody>
          <a:bodyPr rtlCol="0" anchor="ctr"/>
          <a:lstStyle/>
          <a:p>
            <a:pPr algn="ctr"/>
          </a:p>
        </p:txBody>
      </p:sp>
      <p:sp>
        <p:nvSpPr>
          <p:cNvPr id="28" name="Rectangle 27"/>
          <p:cNvSpPr/>
          <p:nvPr/>
        </p:nvSpPr>
        <p:spPr>
          <a:xfrm>
            <a:off x="9372600" y="3063240"/>
            <a:ext cx="914400" cy="82296"/>
          </a:xfrm>
          <a:prstGeom prst="rect">
            <a:avLst/>
          </a:prstGeom>
          <a:solidFill>
            <a:srgbClr val="FF3B30"/>
          </a:solidFill>
          <a:ln>
            <a:noFill/>
          </a:ln>
        </p:spPr>
        <p:txBody>
          <a:bodyPr rtlCol="0" anchor="ctr"/>
          <a:lstStyle/>
          <a:p>
            <a:pPr algn="ctr"/>
          </a:p>
        </p:txBody>
      </p:sp>
      <p:sp>
        <p:nvSpPr>
          <p:cNvPr id="29" name="Rectangle 28"/>
          <p:cNvSpPr/>
          <p:nvPr/>
        </p:nvSpPr>
        <p:spPr>
          <a:xfrm>
            <a:off x="10469880" y="3063240"/>
            <a:ext cx="822960" cy="82296"/>
          </a:xfrm>
          <a:prstGeom prst="rect">
            <a:avLst/>
          </a:prstGeom>
          <a:solidFill>
            <a:srgbClr val="8F8F8A"/>
          </a:solidFill>
          <a:ln>
            <a:noFill/>
          </a:ln>
        </p:spPr>
        <p:txBody>
          <a:bodyPr rtlCol="0" anchor="ctr"/>
          <a:lstStyle/>
          <a:p>
            <a:pPr algn="ctr"/>
          </a:p>
        </p:txBody>
      </p:sp>
      <p:cxnSp>
        <p:nvCxnSpPr>
          <p:cNvPr id="30" name="Connector 29"/>
          <p:cNvCxnSpPr/>
          <p:nvPr/>
        </p:nvCxnSpPr>
        <p:spPr>
          <a:xfrm>
            <a:off x="5943600" y="3419856"/>
            <a:ext cx="5562295" cy="0"/>
          </a:xfrm>
          <a:prstGeom prst="line">
            <a:avLst/>
          </a:prstGeom>
          <a:ln w="9525">
            <a:solidFill>
              <a:srgbClr val="343434"/>
            </a:solidFill>
          </a:ln>
        </p:spPr>
      </p:cxnSp>
      <p:sp>
        <p:nvSpPr>
          <p:cNvPr id="31" name="TextBox 30"/>
          <p:cNvSpPr txBox="1"/>
          <p:nvPr/>
        </p:nvSpPr>
        <p:spPr>
          <a:xfrm>
            <a:off x="6172200" y="3648456"/>
            <a:ext cx="365760" cy="164592"/>
          </a:xfrm>
          <a:prstGeom prst="rect">
            <a:avLst/>
          </a:prstGeom>
          <a:noFill/>
        </p:spPr>
        <p:txBody>
          <a:bodyPr wrap="square" lIns="0" rIns="0" tIns="0" bIns="0" anchor="t">
            <a:noAutofit/>
          </a:bodyPr>
          <a:lstStyle/>
          <a:p>
            <a:pPr algn="l">
              <a:lnSpc>
                <a:spcPct val="100000"/>
              </a:lnSpc>
            </a:pPr>
            <a:r>
              <a:rPr sz="900" b="0">
                <a:solidFill>
                  <a:srgbClr val="8F8F8A"/>
                </a:solidFill>
                <a:latin typeface="Menlo"/>
              </a:rPr>
              <a:t>02</a:t>
            </a:r>
          </a:p>
        </p:txBody>
      </p:sp>
      <p:sp>
        <p:nvSpPr>
          <p:cNvPr id="32" name="Rectangle 31"/>
          <p:cNvSpPr/>
          <p:nvPr/>
        </p:nvSpPr>
        <p:spPr>
          <a:xfrm>
            <a:off x="6629400" y="3694176"/>
            <a:ext cx="1920240" cy="82296"/>
          </a:xfrm>
          <a:prstGeom prst="rect">
            <a:avLst/>
          </a:prstGeom>
          <a:solidFill>
            <a:srgbClr val="3A3A3A"/>
          </a:solidFill>
          <a:ln>
            <a:noFill/>
          </a:ln>
        </p:spPr>
        <p:txBody>
          <a:bodyPr rtlCol="0" anchor="ctr"/>
          <a:lstStyle/>
          <a:p>
            <a:pPr algn="ctr"/>
          </a:p>
        </p:txBody>
      </p:sp>
      <p:sp>
        <p:nvSpPr>
          <p:cNvPr id="33" name="Rectangle 32"/>
          <p:cNvSpPr/>
          <p:nvPr/>
        </p:nvSpPr>
        <p:spPr>
          <a:xfrm>
            <a:off x="9372600" y="3694176"/>
            <a:ext cx="731520" cy="82296"/>
          </a:xfrm>
          <a:prstGeom prst="rect">
            <a:avLst/>
          </a:prstGeom>
          <a:solidFill>
            <a:srgbClr val="FF3B30"/>
          </a:solidFill>
          <a:ln>
            <a:noFill/>
          </a:ln>
        </p:spPr>
        <p:txBody>
          <a:bodyPr rtlCol="0" anchor="ctr"/>
          <a:lstStyle/>
          <a:p>
            <a:pPr algn="ctr"/>
          </a:p>
        </p:txBody>
      </p:sp>
      <p:sp>
        <p:nvSpPr>
          <p:cNvPr id="34" name="Rectangle 33"/>
          <p:cNvSpPr/>
          <p:nvPr/>
        </p:nvSpPr>
        <p:spPr>
          <a:xfrm>
            <a:off x="10469880" y="3694176"/>
            <a:ext cx="566928" cy="82296"/>
          </a:xfrm>
          <a:prstGeom prst="rect">
            <a:avLst/>
          </a:prstGeom>
          <a:solidFill>
            <a:srgbClr val="8F8F8A"/>
          </a:solidFill>
          <a:ln>
            <a:noFill/>
          </a:ln>
        </p:spPr>
        <p:txBody>
          <a:bodyPr rtlCol="0" anchor="ctr"/>
          <a:lstStyle/>
          <a:p>
            <a:pPr algn="ctr"/>
          </a:p>
        </p:txBody>
      </p:sp>
      <p:cxnSp>
        <p:nvCxnSpPr>
          <p:cNvPr id="35" name="Connector 34"/>
          <p:cNvCxnSpPr/>
          <p:nvPr/>
        </p:nvCxnSpPr>
        <p:spPr>
          <a:xfrm>
            <a:off x="5943600" y="4050791"/>
            <a:ext cx="5562295" cy="0"/>
          </a:xfrm>
          <a:prstGeom prst="line">
            <a:avLst/>
          </a:prstGeom>
          <a:ln w="9525">
            <a:solidFill>
              <a:srgbClr val="343434"/>
            </a:solidFill>
          </a:ln>
        </p:spPr>
      </p:cxnSp>
      <p:sp>
        <p:nvSpPr>
          <p:cNvPr id="36" name="TextBox 35"/>
          <p:cNvSpPr txBox="1"/>
          <p:nvPr/>
        </p:nvSpPr>
        <p:spPr>
          <a:xfrm>
            <a:off x="6172200" y="4279392"/>
            <a:ext cx="365760" cy="164592"/>
          </a:xfrm>
          <a:prstGeom prst="rect">
            <a:avLst/>
          </a:prstGeom>
          <a:noFill/>
        </p:spPr>
        <p:txBody>
          <a:bodyPr wrap="square" lIns="0" rIns="0" tIns="0" bIns="0" anchor="t">
            <a:noAutofit/>
          </a:bodyPr>
          <a:lstStyle/>
          <a:p>
            <a:pPr algn="l">
              <a:lnSpc>
                <a:spcPct val="100000"/>
              </a:lnSpc>
            </a:pPr>
            <a:r>
              <a:rPr sz="900" b="0">
                <a:solidFill>
                  <a:srgbClr val="8F8F8A"/>
                </a:solidFill>
                <a:latin typeface="Menlo"/>
              </a:rPr>
              <a:t>03</a:t>
            </a:r>
          </a:p>
        </p:txBody>
      </p:sp>
      <p:sp>
        <p:nvSpPr>
          <p:cNvPr id="37" name="Rectangle 36"/>
          <p:cNvSpPr/>
          <p:nvPr/>
        </p:nvSpPr>
        <p:spPr>
          <a:xfrm>
            <a:off x="6629400" y="4325112"/>
            <a:ext cx="1645920" cy="82296"/>
          </a:xfrm>
          <a:prstGeom prst="rect">
            <a:avLst/>
          </a:prstGeom>
          <a:solidFill>
            <a:srgbClr val="3A3A3A"/>
          </a:solidFill>
          <a:ln>
            <a:noFill/>
          </a:ln>
        </p:spPr>
        <p:txBody>
          <a:bodyPr rtlCol="0" anchor="ctr"/>
          <a:lstStyle/>
          <a:p>
            <a:pPr algn="ctr"/>
          </a:p>
        </p:txBody>
      </p:sp>
      <p:sp>
        <p:nvSpPr>
          <p:cNvPr id="38" name="Rectangle 37"/>
          <p:cNvSpPr/>
          <p:nvPr/>
        </p:nvSpPr>
        <p:spPr>
          <a:xfrm>
            <a:off x="9372600" y="4325112"/>
            <a:ext cx="530352" cy="82296"/>
          </a:xfrm>
          <a:prstGeom prst="rect">
            <a:avLst/>
          </a:prstGeom>
          <a:solidFill>
            <a:srgbClr val="FF3B30"/>
          </a:solidFill>
          <a:ln>
            <a:noFill/>
          </a:ln>
        </p:spPr>
        <p:txBody>
          <a:bodyPr rtlCol="0" anchor="ctr"/>
          <a:lstStyle/>
          <a:p>
            <a:pPr algn="ctr"/>
          </a:p>
        </p:txBody>
      </p:sp>
      <p:sp>
        <p:nvSpPr>
          <p:cNvPr id="39" name="Rectangle 38"/>
          <p:cNvSpPr/>
          <p:nvPr/>
        </p:nvSpPr>
        <p:spPr>
          <a:xfrm>
            <a:off x="10469880" y="4325112"/>
            <a:ext cx="457200" cy="82296"/>
          </a:xfrm>
          <a:prstGeom prst="rect">
            <a:avLst/>
          </a:prstGeom>
          <a:solidFill>
            <a:srgbClr val="8F8F8A"/>
          </a:solidFill>
          <a:ln>
            <a:noFill/>
          </a:ln>
        </p:spPr>
        <p:txBody>
          <a:bodyPr rtlCol="0" anchor="ctr"/>
          <a:lstStyle/>
          <a:p>
            <a:pPr algn="ctr"/>
          </a:p>
        </p:txBody>
      </p:sp>
      <p:cxnSp>
        <p:nvCxnSpPr>
          <p:cNvPr id="40" name="Connector 39"/>
          <p:cNvCxnSpPr/>
          <p:nvPr/>
        </p:nvCxnSpPr>
        <p:spPr>
          <a:xfrm>
            <a:off x="5943600" y="4681728"/>
            <a:ext cx="5562295" cy="0"/>
          </a:xfrm>
          <a:prstGeom prst="line">
            <a:avLst/>
          </a:prstGeom>
          <a:ln w="9525">
            <a:solidFill>
              <a:srgbClr val="343434"/>
            </a:solidFill>
          </a:ln>
        </p:spPr>
      </p:cxnSp>
      <p:sp>
        <p:nvSpPr>
          <p:cNvPr id="41" name="TextBox 40"/>
          <p:cNvSpPr txBox="1"/>
          <p:nvPr/>
        </p:nvSpPr>
        <p:spPr>
          <a:xfrm>
            <a:off x="6172200" y="4910328"/>
            <a:ext cx="365760" cy="164592"/>
          </a:xfrm>
          <a:prstGeom prst="rect">
            <a:avLst/>
          </a:prstGeom>
          <a:noFill/>
        </p:spPr>
        <p:txBody>
          <a:bodyPr wrap="square" lIns="0" rIns="0" tIns="0" bIns="0" anchor="t">
            <a:noAutofit/>
          </a:bodyPr>
          <a:lstStyle/>
          <a:p>
            <a:pPr algn="l">
              <a:lnSpc>
                <a:spcPct val="100000"/>
              </a:lnSpc>
            </a:pPr>
            <a:r>
              <a:rPr sz="900" b="0">
                <a:solidFill>
                  <a:srgbClr val="8F8F8A"/>
                </a:solidFill>
                <a:latin typeface="Menlo"/>
              </a:rPr>
              <a:t>04</a:t>
            </a:r>
          </a:p>
        </p:txBody>
      </p:sp>
      <p:sp>
        <p:nvSpPr>
          <p:cNvPr id="42" name="Rectangle 41"/>
          <p:cNvSpPr/>
          <p:nvPr/>
        </p:nvSpPr>
        <p:spPr>
          <a:xfrm>
            <a:off x="6629400" y="4956048"/>
            <a:ext cx="2103120" cy="82296"/>
          </a:xfrm>
          <a:prstGeom prst="rect">
            <a:avLst/>
          </a:prstGeom>
          <a:solidFill>
            <a:srgbClr val="3A3A3A"/>
          </a:solidFill>
          <a:ln>
            <a:noFill/>
          </a:ln>
        </p:spPr>
        <p:txBody>
          <a:bodyPr rtlCol="0" anchor="ctr"/>
          <a:lstStyle/>
          <a:p>
            <a:pPr algn="ctr"/>
          </a:p>
        </p:txBody>
      </p:sp>
      <p:sp>
        <p:nvSpPr>
          <p:cNvPr id="43" name="Rectangle 42"/>
          <p:cNvSpPr/>
          <p:nvPr/>
        </p:nvSpPr>
        <p:spPr>
          <a:xfrm>
            <a:off x="9372600" y="4956048"/>
            <a:ext cx="365760" cy="82296"/>
          </a:xfrm>
          <a:prstGeom prst="rect">
            <a:avLst/>
          </a:prstGeom>
          <a:solidFill>
            <a:srgbClr val="FF3B30"/>
          </a:solidFill>
          <a:ln>
            <a:noFill/>
          </a:ln>
        </p:spPr>
        <p:txBody>
          <a:bodyPr rtlCol="0" anchor="ctr"/>
          <a:lstStyle/>
          <a:p>
            <a:pPr algn="ctr"/>
          </a:p>
        </p:txBody>
      </p:sp>
      <p:sp>
        <p:nvSpPr>
          <p:cNvPr id="44" name="Rectangle 43"/>
          <p:cNvSpPr/>
          <p:nvPr/>
        </p:nvSpPr>
        <p:spPr>
          <a:xfrm>
            <a:off x="10469880" y="4956048"/>
            <a:ext cx="274320" cy="82296"/>
          </a:xfrm>
          <a:prstGeom prst="rect">
            <a:avLst/>
          </a:prstGeom>
          <a:solidFill>
            <a:srgbClr val="8F8F8A"/>
          </a:solidFill>
          <a:ln>
            <a:noFill/>
          </a:ln>
        </p:spPr>
        <p:txBody>
          <a:bodyPr rtlCol="0" anchor="ctr"/>
          <a:lstStyle/>
          <a:p>
            <a:pPr algn="ctr"/>
          </a:p>
        </p:txBody>
      </p:sp>
      <p:cxnSp>
        <p:nvCxnSpPr>
          <p:cNvPr id="45" name="Connector 44"/>
          <p:cNvCxnSpPr/>
          <p:nvPr/>
        </p:nvCxnSpPr>
        <p:spPr>
          <a:xfrm>
            <a:off x="5943600" y="5312664"/>
            <a:ext cx="5562295" cy="0"/>
          </a:xfrm>
          <a:prstGeom prst="line">
            <a:avLst/>
          </a:prstGeom>
          <a:ln w="9525">
            <a:solidFill>
              <a:srgbClr val="343434"/>
            </a:solidFill>
          </a:ln>
        </p:spPr>
      </p:cxnSp>
      <p:sp>
        <p:nvSpPr>
          <p:cNvPr id="46" name="TextBox 45"/>
          <p:cNvSpPr txBox="1"/>
          <p:nvPr/>
        </p:nvSpPr>
        <p:spPr>
          <a:xfrm>
            <a:off x="6172200" y="5541264"/>
            <a:ext cx="365760" cy="164592"/>
          </a:xfrm>
          <a:prstGeom prst="rect">
            <a:avLst/>
          </a:prstGeom>
          <a:noFill/>
        </p:spPr>
        <p:txBody>
          <a:bodyPr wrap="square" lIns="0" rIns="0" tIns="0" bIns="0" anchor="t">
            <a:noAutofit/>
          </a:bodyPr>
          <a:lstStyle/>
          <a:p>
            <a:pPr algn="l">
              <a:lnSpc>
                <a:spcPct val="100000"/>
              </a:lnSpc>
            </a:pPr>
            <a:r>
              <a:rPr sz="900" b="0">
                <a:solidFill>
                  <a:srgbClr val="8F8F8A"/>
                </a:solidFill>
                <a:latin typeface="Menlo"/>
              </a:rPr>
              <a:t>05</a:t>
            </a:r>
          </a:p>
        </p:txBody>
      </p:sp>
      <p:sp>
        <p:nvSpPr>
          <p:cNvPr id="47" name="Rectangle 46"/>
          <p:cNvSpPr/>
          <p:nvPr/>
        </p:nvSpPr>
        <p:spPr>
          <a:xfrm>
            <a:off x="6629400" y="5586984"/>
            <a:ext cx="1463040" cy="82296"/>
          </a:xfrm>
          <a:prstGeom prst="rect">
            <a:avLst/>
          </a:prstGeom>
          <a:solidFill>
            <a:srgbClr val="3A3A3A"/>
          </a:solidFill>
          <a:ln>
            <a:noFill/>
          </a:ln>
        </p:spPr>
        <p:txBody>
          <a:bodyPr rtlCol="0" anchor="ctr"/>
          <a:lstStyle/>
          <a:p>
            <a:pPr algn="ctr"/>
          </a:p>
        </p:txBody>
      </p:sp>
      <p:sp>
        <p:nvSpPr>
          <p:cNvPr id="48" name="Rectangle 47"/>
          <p:cNvSpPr/>
          <p:nvPr/>
        </p:nvSpPr>
        <p:spPr>
          <a:xfrm>
            <a:off x="9372600" y="5586984"/>
            <a:ext cx="219456" cy="82296"/>
          </a:xfrm>
          <a:prstGeom prst="rect">
            <a:avLst/>
          </a:prstGeom>
          <a:solidFill>
            <a:srgbClr val="FF3B30"/>
          </a:solidFill>
          <a:ln>
            <a:noFill/>
          </a:ln>
        </p:spPr>
        <p:txBody>
          <a:bodyPr rtlCol="0" anchor="ctr"/>
          <a:lstStyle/>
          <a:p>
            <a:pPr algn="ctr"/>
          </a:p>
        </p:txBody>
      </p:sp>
      <p:sp>
        <p:nvSpPr>
          <p:cNvPr id="49" name="Rectangle 48"/>
          <p:cNvSpPr/>
          <p:nvPr/>
        </p:nvSpPr>
        <p:spPr>
          <a:xfrm>
            <a:off x="10469880" y="5586984"/>
            <a:ext cx="182880" cy="82296"/>
          </a:xfrm>
          <a:prstGeom prst="rect">
            <a:avLst/>
          </a:prstGeom>
          <a:solidFill>
            <a:srgbClr val="8F8F8A"/>
          </a:solidFill>
          <a:ln>
            <a:noFill/>
          </a:ln>
        </p:spPr>
        <p:txBody>
          <a:bodyPr rtlCol="0" anchor="ctr"/>
          <a:lstStyle/>
          <a:p>
            <a:pPr algn="ctr"/>
          </a:p>
        </p:txBody>
      </p:sp>
      <p:grpSp>
        <p:nvGrpSpPr>
          <p:cNvPr id="54" name="Group 53"/>
          <p:cNvGrpSpPr/>
          <p:nvPr/>
        </p:nvGrpSpPr>
        <p:grpSpPr>
          <a:xfrm>
            <a:off x="5943600" y="2788920"/>
            <a:ext cx="3246120" cy="630936"/>
            <a:chOff x="5943600" y="2788920"/>
            <a:chExt cx="3246120" cy="630936"/>
          </a:xfrm>
        </p:grpSpPr>
        <p:sp>
          <p:nvSpPr>
            <p:cNvPr id="50" name="Rectangle 49"/>
            <p:cNvSpPr/>
            <p:nvPr/>
          </p:nvSpPr>
          <p:spPr>
            <a:xfrm>
              <a:off x="5943600" y="2788920"/>
              <a:ext cx="45720" cy="630936"/>
            </a:xfrm>
            <a:prstGeom prst="rect">
              <a:avLst/>
            </a:prstGeom>
            <a:solidFill>
              <a:srgbClr val="F5A524"/>
            </a:solidFill>
            <a:ln>
              <a:noFill/>
            </a:ln>
          </p:spPr>
          <p:txBody>
            <a:bodyPr rtlCol="0" anchor="ctr"/>
            <a:lstStyle/>
            <a:p>
              <a:pPr algn="ctr"/>
            </a:p>
          </p:txBody>
        </p:sp>
        <p:sp>
          <p:nvSpPr>
            <p:cNvPr id="51" name="Rectangle 50"/>
            <p:cNvSpPr/>
            <p:nvPr/>
          </p:nvSpPr>
          <p:spPr>
            <a:xfrm>
              <a:off x="8046720" y="2980944"/>
              <a:ext cx="1143000" cy="246888"/>
            </a:xfrm>
            <a:prstGeom prst="rect">
              <a:avLst/>
            </a:prstGeom>
            <a:solidFill>
              <a:srgbClr val="000000"/>
            </a:solidFill>
            <a:ln w="9525">
              <a:solidFill>
                <a:srgbClr val="F5A524"/>
              </a:solidFill>
            </a:ln>
          </p:spPr>
          <p:txBody>
            <a:bodyPr rtlCol="0" anchor="ctr"/>
            <a:lstStyle/>
            <a:p>
              <a:pPr algn="ctr"/>
            </a:p>
          </p:txBody>
        </p:sp>
        <p:sp>
          <p:nvSpPr>
            <p:cNvPr id="52" name="Freeform 51"/>
            <p:cNvSpPr/>
            <p:nvPr/>
          </p:nvSpPr>
          <p:spPr>
            <a:xfrm>
              <a:off x="8132406" y="3044952"/>
              <a:ext cx="102947" cy="118872"/>
            </a:xfrm>
            <a:custGeom>
              <a:avLst/>
              <a:gdLst/>
              <a:ahLst/>
              <a:cxnLst/>
              <a:rect l="l" t="t" r="r" b="b"/>
              <a:pathLst>
                <a:path w="102947" h="118872">
                  <a:moveTo>
                    <a:pt x="51473" y="0"/>
                  </a:moveTo>
                  <a:lnTo>
                    <a:pt x="102947" y="29718"/>
                  </a:lnTo>
                  <a:lnTo>
                    <a:pt x="102947" y="89154"/>
                  </a:lnTo>
                  <a:lnTo>
                    <a:pt x="51473" y="118872"/>
                  </a:lnTo>
                  <a:lnTo>
                    <a:pt x="0" y="89154"/>
                  </a:lnTo>
                  <a:lnTo>
                    <a:pt x="0" y="29718"/>
                  </a:lnTo>
                  <a:close/>
                </a:path>
              </a:pathLst>
            </a:custGeom>
            <a:solidFill>
              <a:srgbClr val="F5A524"/>
            </a:solidFill>
            <a:ln>
              <a:noFill/>
            </a:ln>
          </p:spPr>
          <p:txBody>
            <a:bodyPr rtlCol="0" anchor="ctr"/>
            <a:lstStyle/>
            <a:p>
              <a:pPr algn="ctr"/>
            </a:p>
          </p:txBody>
        </p:sp>
        <p:sp>
          <p:nvSpPr>
            <p:cNvPr id="53" name="TextBox 52"/>
            <p:cNvSpPr txBox="1"/>
            <p:nvPr/>
          </p:nvSpPr>
          <p:spPr>
            <a:xfrm>
              <a:off x="8302752" y="3049524"/>
              <a:ext cx="868680" cy="128016"/>
            </a:xfrm>
            <a:prstGeom prst="rect">
              <a:avLst/>
            </a:prstGeom>
            <a:noFill/>
          </p:spPr>
          <p:txBody>
            <a:bodyPr wrap="square" lIns="0" rIns="0" tIns="0" bIns="0" anchor="t">
              <a:noAutofit/>
            </a:bodyPr>
            <a:lstStyle/>
            <a:p>
              <a:pPr algn="l">
                <a:lnSpc>
                  <a:spcPct val="100000"/>
                </a:lnSpc>
              </a:pPr>
              <a:r>
                <a:rPr sz="750" b="0" spc="60">
                  <a:solidFill>
                    <a:srgbClr val="F5A524"/>
                  </a:solidFill>
                  <a:latin typeface="Menlo"/>
                </a:rPr>
                <a:t>OFFICIAL FIX</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188720"/>
            <a:ext cx="10820095" cy="822960"/>
          </a:xfrm>
        </p:spPr>
        <p:txBody>
          <a:bodyPr wrap="square" lIns="0" rIns="0" tIns="0" bIns="0" anchor="t">
            <a:noAutofit/>
          </a:bodyPr>
          <a:lstStyle/>
          <a:p>
            <a:pPr algn="l">
              <a:lnSpc>
                <a:spcPct val="90000"/>
              </a:lnSpc>
            </a:pPr>
            <a:r>
              <a:rPr sz="5000" b="0" spc="-175">
                <a:solidFill>
                  <a:srgbClr val="FFFFFF"/>
                </a:solidFill>
                <a:latin typeface="Helvetica Neue"/>
              </a:rPr>
              <a:t>A rating that can't be bought.</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07 / 10  ·  AIRWORTHINESS</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sp>
        <p:nvSpPr>
          <p:cNvPr id="10" name="TextBox 9"/>
          <p:cNvSpPr txBox="1"/>
          <p:nvPr/>
        </p:nvSpPr>
        <p:spPr>
          <a:xfrm>
            <a:off x="685800" y="2148840"/>
            <a:ext cx="8686800" cy="731520"/>
          </a:xfrm>
          <a:prstGeom prst="rect">
            <a:avLst/>
          </a:prstGeom>
          <a:noFill/>
        </p:spPr>
        <p:txBody>
          <a:bodyPr wrap="square" lIns="0" rIns="0" tIns="0" bIns="0" anchor="t">
            <a:noAutofit/>
          </a:bodyPr>
          <a:lstStyle/>
          <a:p>
            <a:pPr algn="l">
              <a:lnSpc>
                <a:spcPct val="100000"/>
              </a:lnSpc>
            </a:pPr>
            <a:r>
              <a:rPr sz="2000" b="0" spc="-30">
                <a:solidFill>
                  <a:srgbClr val="8F8F8A"/>
                </a:solidFill>
                <a:latin typeface="Helvetica Neue"/>
              </a:rPr>
              <a:t>Computed from real crashes and rescues. It moves only when agents stop going down.</a:t>
            </a:r>
          </a:p>
        </p:txBody>
      </p:sp>
      <p:grpSp>
        <p:nvGrpSpPr>
          <p:cNvPr id="27" name="Group 26"/>
          <p:cNvGrpSpPr/>
          <p:nvPr/>
        </p:nvGrpSpPr>
        <p:grpSpPr>
          <a:xfrm>
            <a:off x="685800" y="3108960"/>
            <a:ext cx="2893829" cy="1280160"/>
            <a:chOff x="685800" y="3108960"/>
            <a:chExt cx="2893829" cy="1280160"/>
          </a:xfrm>
        </p:grpSpPr>
        <p:sp>
          <p:nvSpPr>
            <p:cNvPr id="11" name="TextBox 10"/>
            <p:cNvSpPr txBox="1"/>
            <p:nvPr/>
          </p:nvSpPr>
          <p:spPr>
            <a:xfrm>
              <a:off x="685800" y="3108960"/>
              <a:ext cx="1097280" cy="1280160"/>
            </a:xfrm>
            <a:prstGeom prst="rect">
              <a:avLst/>
            </a:prstGeom>
            <a:noFill/>
          </p:spPr>
          <p:txBody>
            <a:bodyPr wrap="square" lIns="0" rIns="0" tIns="0" bIns="0" anchor="t">
              <a:noAutofit/>
            </a:bodyPr>
            <a:lstStyle/>
            <a:p>
              <a:pPr algn="l">
                <a:lnSpc>
                  <a:spcPct val="85000"/>
                </a:lnSpc>
              </a:pPr>
              <a:r>
                <a:rPr sz="9600" b="0" spc="-384">
                  <a:solidFill>
                    <a:srgbClr val="8F8F8A"/>
                  </a:solidFill>
                  <a:latin typeface="Helvetica Neue"/>
                </a:rPr>
                <a:t>C</a:t>
              </a:r>
            </a:p>
          </p:txBody>
        </p:sp>
        <p:sp>
          <p:nvSpPr>
            <p:cNvPr id="12" name="Freeform 11"/>
            <p:cNvSpPr/>
            <p:nvPr/>
          </p:nvSpPr>
          <p:spPr>
            <a:xfrm>
              <a:off x="1869139" y="3310127"/>
              <a:ext cx="285081" cy="329185"/>
            </a:xfrm>
            <a:custGeom>
              <a:avLst/>
              <a:gdLst/>
              <a:ahLst/>
              <a:cxnLst/>
              <a:rect l="l" t="t" r="r" b="b"/>
              <a:pathLst>
                <a:path w="285081" h="329185">
                  <a:moveTo>
                    <a:pt x="142541" y="0"/>
                  </a:moveTo>
                  <a:lnTo>
                    <a:pt x="285081" y="82297"/>
                  </a:lnTo>
                  <a:lnTo>
                    <a:pt x="285081"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13" name="Freeform 12"/>
            <p:cNvSpPr/>
            <p:nvPr/>
          </p:nvSpPr>
          <p:spPr>
            <a:xfrm>
              <a:off x="2185896" y="3310127"/>
              <a:ext cx="285082" cy="329185"/>
            </a:xfrm>
            <a:custGeom>
              <a:avLst/>
              <a:gdLst/>
              <a:ahLst/>
              <a:cxnLst/>
              <a:rect l="l" t="t" r="r" b="b"/>
              <a:pathLst>
                <a:path w="285082" h="329185">
                  <a:moveTo>
                    <a:pt x="142541" y="0"/>
                  </a:moveTo>
                  <a:lnTo>
                    <a:pt x="285082" y="82297"/>
                  </a:lnTo>
                  <a:lnTo>
                    <a:pt x="285082"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14" name="Freeform 13"/>
            <p:cNvSpPr/>
            <p:nvPr/>
          </p:nvSpPr>
          <p:spPr>
            <a:xfrm>
              <a:off x="2502654" y="3310127"/>
              <a:ext cx="285081" cy="329185"/>
            </a:xfrm>
            <a:custGeom>
              <a:avLst/>
              <a:gdLst/>
              <a:ahLst/>
              <a:cxnLst/>
              <a:rect l="l" t="t" r="r" b="b"/>
              <a:pathLst>
                <a:path w="285081" h="329185">
                  <a:moveTo>
                    <a:pt x="142540" y="0"/>
                  </a:moveTo>
                  <a:lnTo>
                    <a:pt x="285081" y="82297"/>
                  </a:lnTo>
                  <a:lnTo>
                    <a:pt x="285081" y="246888"/>
                  </a:lnTo>
                  <a:lnTo>
                    <a:pt x="142540" y="329185"/>
                  </a:lnTo>
                  <a:lnTo>
                    <a:pt x="0" y="246888"/>
                  </a:lnTo>
                  <a:lnTo>
                    <a:pt x="0" y="82297"/>
                  </a:lnTo>
                  <a:close/>
                </a:path>
              </a:pathLst>
            </a:custGeom>
            <a:solidFill>
              <a:srgbClr val="F5A524"/>
            </a:solidFill>
            <a:ln>
              <a:noFill/>
            </a:ln>
          </p:spPr>
          <p:txBody>
            <a:bodyPr rtlCol="0" anchor="ctr"/>
            <a:lstStyle/>
            <a:p>
              <a:pPr algn="ctr"/>
            </a:p>
          </p:txBody>
        </p:sp>
        <p:sp>
          <p:nvSpPr>
            <p:cNvPr id="15" name="Freeform 14"/>
            <p:cNvSpPr/>
            <p:nvPr/>
          </p:nvSpPr>
          <p:spPr>
            <a:xfrm>
              <a:off x="2819411" y="3310127"/>
              <a:ext cx="285082" cy="329185"/>
            </a:xfrm>
            <a:custGeom>
              <a:avLst/>
              <a:gdLst/>
              <a:ahLst/>
              <a:cxnLst/>
              <a:rect l="l" t="t" r="r" b="b"/>
              <a:pathLst>
                <a:path w="285082" h="329185">
                  <a:moveTo>
                    <a:pt x="142541" y="0"/>
                  </a:moveTo>
                  <a:lnTo>
                    <a:pt x="285082" y="82297"/>
                  </a:lnTo>
                  <a:lnTo>
                    <a:pt x="285082"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16" name="Freeform 15"/>
            <p:cNvSpPr/>
            <p:nvPr/>
          </p:nvSpPr>
          <p:spPr>
            <a:xfrm>
              <a:off x="3136168" y="3310127"/>
              <a:ext cx="285082" cy="329185"/>
            </a:xfrm>
            <a:custGeom>
              <a:avLst/>
              <a:gdLst/>
              <a:ahLst/>
              <a:cxnLst/>
              <a:rect l="l" t="t" r="r" b="b"/>
              <a:pathLst>
                <a:path w="285082" h="329185">
                  <a:moveTo>
                    <a:pt x="142541" y="0"/>
                  </a:moveTo>
                  <a:lnTo>
                    <a:pt x="285082" y="82297"/>
                  </a:lnTo>
                  <a:lnTo>
                    <a:pt x="285082"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17" name="Freeform 16"/>
            <p:cNvSpPr/>
            <p:nvPr/>
          </p:nvSpPr>
          <p:spPr>
            <a:xfrm>
              <a:off x="2027517"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0E0E0E"/>
            </a:solidFill>
            <a:ln w="9525">
              <a:solidFill>
                <a:srgbClr val="2E2E2E"/>
              </a:solidFill>
            </a:ln>
          </p:spPr>
          <p:txBody>
            <a:bodyPr rtlCol="0" anchor="ctr"/>
            <a:lstStyle/>
            <a:p>
              <a:pPr algn="ctr"/>
            </a:p>
          </p:txBody>
        </p:sp>
        <p:sp>
          <p:nvSpPr>
            <p:cNvPr id="18" name="Freeform 17"/>
            <p:cNvSpPr/>
            <p:nvPr/>
          </p:nvSpPr>
          <p:spPr>
            <a:xfrm>
              <a:off x="2344275"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0E0E0E"/>
            </a:solidFill>
            <a:ln w="9525">
              <a:solidFill>
                <a:srgbClr val="2E2E2E"/>
              </a:solidFill>
            </a:ln>
          </p:spPr>
          <p:txBody>
            <a:bodyPr rtlCol="0" anchor="ctr"/>
            <a:lstStyle/>
            <a:p>
              <a:pPr algn="ctr"/>
            </a:p>
          </p:txBody>
        </p:sp>
        <p:sp>
          <p:nvSpPr>
            <p:cNvPr id="19" name="Freeform 18"/>
            <p:cNvSpPr/>
            <p:nvPr/>
          </p:nvSpPr>
          <p:spPr>
            <a:xfrm>
              <a:off x="2661032"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0E0E0E"/>
            </a:solidFill>
            <a:ln w="9525">
              <a:solidFill>
                <a:srgbClr val="2E2E2E"/>
              </a:solidFill>
            </a:ln>
          </p:spPr>
          <p:txBody>
            <a:bodyPr rtlCol="0" anchor="ctr"/>
            <a:lstStyle/>
            <a:p>
              <a:pPr algn="ctr"/>
            </a:p>
          </p:txBody>
        </p:sp>
        <p:sp>
          <p:nvSpPr>
            <p:cNvPr id="20" name="Freeform 19"/>
            <p:cNvSpPr/>
            <p:nvPr/>
          </p:nvSpPr>
          <p:spPr>
            <a:xfrm>
              <a:off x="2977790" y="3584447"/>
              <a:ext cx="285081" cy="329184"/>
            </a:xfrm>
            <a:custGeom>
              <a:avLst/>
              <a:gdLst/>
              <a:ahLst/>
              <a:cxnLst/>
              <a:rect l="l" t="t" r="r" b="b"/>
              <a:pathLst>
                <a:path w="285081" h="329184">
                  <a:moveTo>
                    <a:pt x="142541" y="0"/>
                  </a:moveTo>
                  <a:lnTo>
                    <a:pt x="285081" y="82297"/>
                  </a:lnTo>
                  <a:lnTo>
                    <a:pt x="285081" y="246888"/>
                  </a:lnTo>
                  <a:lnTo>
                    <a:pt x="142541" y="329184"/>
                  </a:lnTo>
                  <a:lnTo>
                    <a:pt x="0" y="246888"/>
                  </a:lnTo>
                  <a:lnTo>
                    <a:pt x="0" y="82297"/>
                  </a:lnTo>
                  <a:close/>
                </a:path>
              </a:pathLst>
            </a:custGeom>
            <a:solidFill>
              <a:srgbClr val="0E0E0E"/>
            </a:solidFill>
            <a:ln w="9525">
              <a:solidFill>
                <a:srgbClr val="2E2E2E"/>
              </a:solidFill>
            </a:ln>
          </p:spPr>
          <p:txBody>
            <a:bodyPr rtlCol="0" anchor="ctr"/>
            <a:lstStyle/>
            <a:p>
              <a:pPr algn="ctr"/>
            </a:p>
          </p:txBody>
        </p:sp>
        <p:sp>
          <p:nvSpPr>
            <p:cNvPr id="21" name="Freeform 20"/>
            <p:cNvSpPr/>
            <p:nvPr/>
          </p:nvSpPr>
          <p:spPr>
            <a:xfrm>
              <a:off x="3294547"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0E0E0E"/>
            </a:solidFill>
            <a:ln w="9525">
              <a:solidFill>
                <a:srgbClr val="2E2E2E"/>
              </a:solidFill>
            </a:ln>
          </p:spPr>
          <p:txBody>
            <a:bodyPr rtlCol="0" anchor="ctr"/>
            <a:lstStyle/>
            <a:p>
              <a:pPr algn="ctr"/>
            </a:p>
          </p:txBody>
        </p:sp>
        <p:sp>
          <p:nvSpPr>
            <p:cNvPr id="22" name="Freeform 21"/>
            <p:cNvSpPr/>
            <p:nvPr/>
          </p:nvSpPr>
          <p:spPr>
            <a:xfrm>
              <a:off x="1869139" y="3858768"/>
              <a:ext cx="285081" cy="329184"/>
            </a:xfrm>
            <a:custGeom>
              <a:avLst/>
              <a:gdLst/>
              <a:ahLst/>
              <a:cxnLst/>
              <a:rect l="l" t="t" r="r" b="b"/>
              <a:pathLst>
                <a:path w="285081" h="329184">
                  <a:moveTo>
                    <a:pt x="142541" y="0"/>
                  </a:moveTo>
                  <a:lnTo>
                    <a:pt x="285081" y="82296"/>
                  </a:lnTo>
                  <a:lnTo>
                    <a:pt x="285081" y="246888"/>
                  </a:lnTo>
                  <a:lnTo>
                    <a:pt x="142541" y="329184"/>
                  </a:lnTo>
                  <a:lnTo>
                    <a:pt x="0" y="246888"/>
                  </a:lnTo>
                  <a:lnTo>
                    <a:pt x="0" y="82296"/>
                  </a:lnTo>
                  <a:close/>
                </a:path>
              </a:pathLst>
            </a:custGeom>
            <a:solidFill>
              <a:srgbClr val="0E0E0E"/>
            </a:solidFill>
            <a:ln w="9525">
              <a:solidFill>
                <a:srgbClr val="2E2E2E"/>
              </a:solidFill>
            </a:ln>
          </p:spPr>
          <p:txBody>
            <a:bodyPr rtlCol="0" anchor="ctr"/>
            <a:lstStyle/>
            <a:p>
              <a:pPr algn="ctr"/>
            </a:p>
          </p:txBody>
        </p:sp>
        <p:sp>
          <p:nvSpPr>
            <p:cNvPr id="23" name="Freeform 22"/>
            <p:cNvSpPr/>
            <p:nvPr/>
          </p:nvSpPr>
          <p:spPr>
            <a:xfrm>
              <a:off x="2185896" y="385876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0E0E0E"/>
            </a:solidFill>
            <a:ln w="9525">
              <a:solidFill>
                <a:srgbClr val="2E2E2E"/>
              </a:solidFill>
            </a:ln>
          </p:spPr>
          <p:txBody>
            <a:bodyPr rtlCol="0" anchor="ctr"/>
            <a:lstStyle/>
            <a:p>
              <a:pPr algn="ctr"/>
            </a:p>
          </p:txBody>
        </p:sp>
        <p:sp>
          <p:nvSpPr>
            <p:cNvPr id="24" name="Freeform 23"/>
            <p:cNvSpPr/>
            <p:nvPr/>
          </p:nvSpPr>
          <p:spPr>
            <a:xfrm>
              <a:off x="2502654" y="3858768"/>
              <a:ext cx="285081" cy="329184"/>
            </a:xfrm>
            <a:custGeom>
              <a:avLst/>
              <a:gdLst/>
              <a:ahLst/>
              <a:cxnLst/>
              <a:rect l="l" t="t" r="r" b="b"/>
              <a:pathLst>
                <a:path w="285081" h="329184">
                  <a:moveTo>
                    <a:pt x="142540" y="0"/>
                  </a:moveTo>
                  <a:lnTo>
                    <a:pt x="285081" y="82296"/>
                  </a:lnTo>
                  <a:lnTo>
                    <a:pt x="285081" y="246888"/>
                  </a:lnTo>
                  <a:lnTo>
                    <a:pt x="142540" y="329184"/>
                  </a:lnTo>
                  <a:lnTo>
                    <a:pt x="0" y="246888"/>
                  </a:lnTo>
                  <a:lnTo>
                    <a:pt x="0" y="82296"/>
                  </a:lnTo>
                  <a:close/>
                </a:path>
              </a:pathLst>
            </a:custGeom>
            <a:solidFill>
              <a:srgbClr val="0E0E0E"/>
            </a:solidFill>
            <a:ln w="9525">
              <a:solidFill>
                <a:srgbClr val="2E2E2E"/>
              </a:solidFill>
            </a:ln>
          </p:spPr>
          <p:txBody>
            <a:bodyPr rtlCol="0" anchor="ctr"/>
            <a:lstStyle/>
            <a:p>
              <a:pPr algn="ctr"/>
            </a:p>
          </p:txBody>
        </p:sp>
        <p:sp>
          <p:nvSpPr>
            <p:cNvPr id="25" name="Freeform 24"/>
            <p:cNvSpPr/>
            <p:nvPr/>
          </p:nvSpPr>
          <p:spPr>
            <a:xfrm>
              <a:off x="2819411" y="385876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0E0E0E"/>
            </a:solidFill>
            <a:ln w="9525">
              <a:solidFill>
                <a:srgbClr val="2E2E2E"/>
              </a:solidFill>
            </a:ln>
          </p:spPr>
          <p:txBody>
            <a:bodyPr rtlCol="0" anchor="ctr"/>
            <a:lstStyle/>
            <a:p>
              <a:pPr algn="ctr"/>
            </a:p>
          </p:txBody>
        </p:sp>
        <p:sp>
          <p:nvSpPr>
            <p:cNvPr id="26" name="Freeform 25"/>
            <p:cNvSpPr/>
            <p:nvPr/>
          </p:nvSpPr>
          <p:spPr>
            <a:xfrm>
              <a:off x="3136168" y="385876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0E0E0E"/>
            </a:solidFill>
            <a:ln w="9525">
              <a:solidFill>
                <a:srgbClr val="2E2E2E"/>
              </a:solidFill>
            </a:ln>
          </p:spPr>
          <p:txBody>
            <a:bodyPr rtlCol="0" anchor="ctr"/>
            <a:lstStyle/>
            <a:p>
              <a:pPr algn="ctr"/>
            </a:p>
          </p:txBody>
        </p:sp>
      </p:grpSp>
      <p:grpSp>
        <p:nvGrpSpPr>
          <p:cNvPr id="45" name="Group 44"/>
          <p:cNvGrpSpPr/>
          <p:nvPr/>
        </p:nvGrpSpPr>
        <p:grpSpPr>
          <a:xfrm>
            <a:off x="3822191" y="3108960"/>
            <a:ext cx="3460758" cy="1280160"/>
            <a:chOff x="3822191" y="3108960"/>
            <a:chExt cx="3460758" cy="1280160"/>
          </a:xfrm>
        </p:grpSpPr>
        <p:cxnSp>
          <p:nvCxnSpPr>
            <p:cNvPr id="28" name="Connector 27"/>
            <p:cNvCxnSpPr/>
            <p:nvPr/>
          </p:nvCxnSpPr>
          <p:spPr>
            <a:xfrm>
              <a:off x="3822191" y="3749039"/>
              <a:ext cx="384049" cy="0"/>
            </a:xfrm>
            <a:prstGeom prst="line">
              <a:avLst/>
            </a:prstGeom>
            <a:ln w="12700">
              <a:solidFill>
                <a:srgbClr val="FFFFFF"/>
              </a:solidFill>
              <a:tailEnd type="triangle" w="med" len="med"/>
            </a:ln>
          </p:spPr>
        </p:cxnSp>
        <p:sp>
          <p:nvSpPr>
            <p:cNvPr id="29" name="TextBox 28"/>
            <p:cNvSpPr txBox="1"/>
            <p:nvPr/>
          </p:nvSpPr>
          <p:spPr>
            <a:xfrm>
              <a:off x="4389120" y="3108960"/>
              <a:ext cx="1097280" cy="1280160"/>
            </a:xfrm>
            <a:prstGeom prst="rect">
              <a:avLst/>
            </a:prstGeom>
            <a:noFill/>
          </p:spPr>
          <p:txBody>
            <a:bodyPr wrap="square" lIns="0" rIns="0" tIns="0" bIns="0" anchor="t">
              <a:noAutofit/>
            </a:bodyPr>
            <a:lstStyle/>
            <a:p>
              <a:pPr algn="l">
                <a:lnSpc>
                  <a:spcPct val="85000"/>
                </a:lnSpc>
              </a:pPr>
              <a:r>
                <a:rPr sz="9600" b="0" spc="-384">
                  <a:solidFill>
                    <a:srgbClr val="FFFFFF"/>
                  </a:solidFill>
                  <a:latin typeface="Helvetica Neue"/>
                </a:rPr>
                <a:t>B</a:t>
              </a:r>
            </a:p>
          </p:txBody>
        </p:sp>
        <p:sp>
          <p:nvSpPr>
            <p:cNvPr id="30" name="Freeform 29"/>
            <p:cNvSpPr/>
            <p:nvPr/>
          </p:nvSpPr>
          <p:spPr>
            <a:xfrm>
              <a:off x="5572459" y="3310127"/>
              <a:ext cx="285081" cy="329185"/>
            </a:xfrm>
            <a:custGeom>
              <a:avLst/>
              <a:gdLst/>
              <a:ahLst/>
              <a:cxnLst/>
              <a:rect l="l" t="t" r="r" b="b"/>
              <a:pathLst>
                <a:path w="285081" h="329185">
                  <a:moveTo>
                    <a:pt x="142541" y="0"/>
                  </a:moveTo>
                  <a:lnTo>
                    <a:pt x="285081" y="82297"/>
                  </a:lnTo>
                  <a:lnTo>
                    <a:pt x="285081"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31" name="Freeform 30"/>
            <p:cNvSpPr/>
            <p:nvPr/>
          </p:nvSpPr>
          <p:spPr>
            <a:xfrm>
              <a:off x="5889216" y="3310127"/>
              <a:ext cx="285082" cy="329185"/>
            </a:xfrm>
            <a:custGeom>
              <a:avLst/>
              <a:gdLst/>
              <a:ahLst/>
              <a:cxnLst/>
              <a:rect l="l" t="t" r="r" b="b"/>
              <a:pathLst>
                <a:path w="285082" h="329185">
                  <a:moveTo>
                    <a:pt x="142541" y="0"/>
                  </a:moveTo>
                  <a:lnTo>
                    <a:pt x="285082" y="82297"/>
                  </a:lnTo>
                  <a:lnTo>
                    <a:pt x="285082"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32" name="Freeform 31"/>
            <p:cNvSpPr/>
            <p:nvPr/>
          </p:nvSpPr>
          <p:spPr>
            <a:xfrm>
              <a:off x="6205974" y="3310127"/>
              <a:ext cx="285081" cy="329185"/>
            </a:xfrm>
            <a:custGeom>
              <a:avLst/>
              <a:gdLst/>
              <a:ahLst/>
              <a:cxnLst/>
              <a:rect l="l" t="t" r="r" b="b"/>
              <a:pathLst>
                <a:path w="285081" h="329185">
                  <a:moveTo>
                    <a:pt x="142540" y="0"/>
                  </a:moveTo>
                  <a:lnTo>
                    <a:pt x="285081" y="82297"/>
                  </a:lnTo>
                  <a:lnTo>
                    <a:pt x="285081" y="246888"/>
                  </a:lnTo>
                  <a:lnTo>
                    <a:pt x="142540" y="329185"/>
                  </a:lnTo>
                  <a:lnTo>
                    <a:pt x="0" y="246888"/>
                  </a:lnTo>
                  <a:lnTo>
                    <a:pt x="0" y="82297"/>
                  </a:lnTo>
                  <a:close/>
                </a:path>
              </a:pathLst>
            </a:custGeom>
            <a:solidFill>
              <a:srgbClr val="F5A524"/>
            </a:solidFill>
            <a:ln>
              <a:noFill/>
            </a:ln>
          </p:spPr>
          <p:txBody>
            <a:bodyPr rtlCol="0" anchor="ctr"/>
            <a:lstStyle/>
            <a:p>
              <a:pPr algn="ctr"/>
            </a:p>
          </p:txBody>
        </p:sp>
        <p:sp>
          <p:nvSpPr>
            <p:cNvPr id="33" name="Freeform 32"/>
            <p:cNvSpPr/>
            <p:nvPr/>
          </p:nvSpPr>
          <p:spPr>
            <a:xfrm>
              <a:off x="6522731" y="3310127"/>
              <a:ext cx="285082" cy="329185"/>
            </a:xfrm>
            <a:custGeom>
              <a:avLst/>
              <a:gdLst/>
              <a:ahLst/>
              <a:cxnLst/>
              <a:rect l="l" t="t" r="r" b="b"/>
              <a:pathLst>
                <a:path w="285082" h="329185">
                  <a:moveTo>
                    <a:pt x="142541" y="0"/>
                  </a:moveTo>
                  <a:lnTo>
                    <a:pt x="285082" y="82297"/>
                  </a:lnTo>
                  <a:lnTo>
                    <a:pt x="285082"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34" name="Freeform 33"/>
            <p:cNvSpPr/>
            <p:nvPr/>
          </p:nvSpPr>
          <p:spPr>
            <a:xfrm>
              <a:off x="6839488" y="3310127"/>
              <a:ext cx="285082" cy="329185"/>
            </a:xfrm>
            <a:custGeom>
              <a:avLst/>
              <a:gdLst/>
              <a:ahLst/>
              <a:cxnLst/>
              <a:rect l="l" t="t" r="r" b="b"/>
              <a:pathLst>
                <a:path w="285082" h="329185">
                  <a:moveTo>
                    <a:pt x="142541" y="0"/>
                  </a:moveTo>
                  <a:lnTo>
                    <a:pt x="285082" y="82297"/>
                  </a:lnTo>
                  <a:lnTo>
                    <a:pt x="285082"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35" name="Freeform 34"/>
            <p:cNvSpPr/>
            <p:nvPr/>
          </p:nvSpPr>
          <p:spPr>
            <a:xfrm>
              <a:off x="5730837"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F5A524"/>
            </a:solidFill>
            <a:ln>
              <a:noFill/>
            </a:ln>
          </p:spPr>
          <p:txBody>
            <a:bodyPr rtlCol="0" anchor="ctr"/>
            <a:lstStyle/>
            <a:p>
              <a:pPr algn="ctr"/>
            </a:p>
          </p:txBody>
        </p:sp>
        <p:sp>
          <p:nvSpPr>
            <p:cNvPr id="36" name="Freeform 35"/>
            <p:cNvSpPr/>
            <p:nvPr/>
          </p:nvSpPr>
          <p:spPr>
            <a:xfrm>
              <a:off x="6047595"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F5A524"/>
            </a:solidFill>
            <a:ln>
              <a:noFill/>
            </a:ln>
          </p:spPr>
          <p:txBody>
            <a:bodyPr rtlCol="0" anchor="ctr"/>
            <a:lstStyle/>
            <a:p>
              <a:pPr algn="ctr"/>
            </a:p>
          </p:txBody>
        </p:sp>
        <p:sp>
          <p:nvSpPr>
            <p:cNvPr id="37" name="Freeform 36"/>
            <p:cNvSpPr/>
            <p:nvPr/>
          </p:nvSpPr>
          <p:spPr>
            <a:xfrm>
              <a:off x="6364352"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F5A524"/>
            </a:solidFill>
            <a:ln>
              <a:noFill/>
            </a:ln>
          </p:spPr>
          <p:txBody>
            <a:bodyPr rtlCol="0" anchor="ctr"/>
            <a:lstStyle/>
            <a:p>
              <a:pPr algn="ctr"/>
            </a:p>
          </p:txBody>
        </p:sp>
        <p:sp>
          <p:nvSpPr>
            <p:cNvPr id="38" name="Freeform 37"/>
            <p:cNvSpPr/>
            <p:nvPr/>
          </p:nvSpPr>
          <p:spPr>
            <a:xfrm>
              <a:off x="6681110" y="3584447"/>
              <a:ext cx="285081" cy="329184"/>
            </a:xfrm>
            <a:custGeom>
              <a:avLst/>
              <a:gdLst/>
              <a:ahLst/>
              <a:cxnLst/>
              <a:rect l="l" t="t" r="r" b="b"/>
              <a:pathLst>
                <a:path w="285081" h="329184">
                  <a:moveTo>
                    <a:pt x="142541" y="0"/>
                  </a:moveTo>
                  <a:lnTo>
                    <a:pt x="285081" y="82297"/>
                  </a:lnTo>
                  <a:lnTo>
                    <a:pt x="285081" y="246888"/>
                  </a:lnTo>
                  <a:lnTo>
                    <a:pt x="142541" y="329184"/>
                  </a:lnTo>
                  <a:lnTo>
                    <a:pt x="0" y="246888"/>
                  </a:lnTo>
                  <a:lnTo>
                    <a:pt x="0" y="82297"/>
                  </a:lnTo>
                  <a:close/>
                </a:path>
              </a:pathLst>
            </a:custGeom>
            <a:solidFill>
              <a:srgbClr val="F5A524"/>
            </a:solidFill>
            <a:ln>
              <a:noFill/>
            </a:ln>
          </p:spPr>
          <p:txBody>
            <a:bodyPr rtlCol="0" anchor="ctr"/>
            <a:lstStyle/>
            <a:p>
              <a:pPr algn="ctr"/>
            </a:p>
          </p:txBody>
        </p:sp>
        <p:sp>
          <p:nvSpPr>
            <p:cNvPr id="39" name="Freeform 38"/>
            <p:cNvSpPr/>
            <p:nvPr/>
          </p:nvSpPr>
          <p:spPr>
            <a:xfrm>
              <a:off x="6997867"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0E0E0E"/>
            </a:solidFill>
            <a:ln w="9525">
              <a:solidFill>
                <a:srgbClr val="2E2E2E"/>
              </a:solidFill>
            </a:ln>
          </p:spPr>
          <p:txBody>
            <a:bodyPr rtlCol="0" anchor="ctr"/>
            <a:lstStyle/>
            <a:p>
              <a:pPr algn="ctr"/>
            </a:p>
          </p:txBody>
        </p:sp>
        <p:sp>
          <p:nvSpPr>
            <p:cNvPr id="40" name="Freeform 39"/>
            <p:cNvSpPr/>
            <p:nvPr/>
          </p:nvSpPr>
          <p:spPr>
            <a:xfrm>
              <a:off x="5572459" y="3858768"/>
              <a:ext cx="285081" cy="329184"/>
            </a:xfrm>
            <a:custGeom>
              <a:avLst/>
              <a:gdLst/>
              <a:ahLst/>
              <a:cxnLst/>
              <a:rect l="l" t="t" r="r" b="b"/>
              <a:pathLst>
                <a:path w="285081" h="329184">
                  <a:moveTo>
                    <a:pt x="142541" y="0"/>
                  </a:moveTo>
                  <a:lnTo>
                    <a:pt x="285081" y="82296"/>
                  </a:lnTo>
                  <a:lnTo>
                    <a:pt x="285081" y="246888"/>
                  </a:lnTo>
                  <a:lnTo>
                    <a:pt x="142541" y="329184"/>
                  </a:lnTo>
                  <a:lnTo>
                    <a:pt x="0" y="246888"/>
                  </a:lnTo>
                  <a:lnTo>
                    <a:pt x="0" y="82296"/>
                  </a:lnTo>
                  <a:close/>
                </a:path>
              </a:pathLst>
            </a:custGeom>
            <a:solidFill>
              <a:srgbClr val="0E0E0E"/>
            </a:solidFill>
            <a:ln w="9525">
              <a:solidFill>
                <a:srgbClr val="2E2E2E"/>
              </a:solidFill>
            </a:ln>
          </p:spPr>
          <p:txBody>
            <a:bodyPr rtlCol="0" anchor="ctr"/>
            <a:lstStyle/>
            <a:p>
              <a:pPr algn="ctr"/>
            </a:p>
          </p:txBody>
        </p:sp>
        <p:sp>
          <p:nvSpPr>
            <p:cNvPr id="41" name="Freeform 40"/>
            <p:cNvSpPr/>
            <p:nvPr/>
          </p:nvSpPr>
          <p:spPr>
            <a:xfrm>
              <a:off x="5889216" y="385876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0E0E0E"/>
            </a:solidFill>
            <a:ln w="9525">
              <a:solidFill>
                <a:srgbClr val="2E2E2E"/>
              </a:solidFill>
            </a:ln>
          </p:spPr>
          <p:txBody>
            <a:bodyPr rtlCol="0" anchor="ctr"/>
            <a:lstStyle/>
            <a:p>
              <a:pPr algn="ctr"/>
            </a:p>
          </p:txBody>
        </p:sp>
        <p:sp>
          <p:nvSpPr>
            <p:cNvPr id="42" name="Freeform 41"/>
            <p:cNvSpPr/>
            <p:nvPr/>
          </p:nvSpPr>
          <p:spPr>
            <a:xfrm>
              <a:off x="6205974" y="3858768"/>
              <a:ext cx="285081" cy="329184"/>
            </a:xfrm>
            <a:custGeom>
              <a:avLst/>
              <a:gdLst/>
              <a:ahLst/>
              <a:cxnLst/>
              <a:rect l="l" t="t" r="r" b="b"/>
              <a:pathLst>
                <a:path w="285081" h="329184">
                  <a:moveTo>
                    <a:pt x="142540" y="0"/>
                  </a:moveTo>
                  <a:lnTo>
                    <a:pt x="285081" y="82296"/>
                  </a:lnTo>
                  <a:lnTo>
                    <a:pt x="285081" y="246888"/>
                  </a:lnTo>
                  <a:lnTo>
                    <a:pt x="142540" y="329184"/>
                  </a:lnTo>
                  <a:lnTo>
                    <a:pt x="0" y="246888"/>
                  </a:lnTo>
                  <a:lnTo>
                    <a:pt x="0" y="82296"/>
                  </a:lnTo>
                  <a:close/>
                </a:path>
              </a:pathLst>
            </a:custGeom>
            <a:solidFill>
              <a:srgbClr val="0E0E0E"/>
            </a:solidFill>
            <a:ln w="9525">
              <a:solidFill>
                <a:srgbClr val="2E2E2E"/>
              </a:solidFill>
            </a:ln>
          </p:spPr>
          <p:txBody>
            <a:bodyPr rtlCol="0" anchor="ctr"/>
            <a:lstStyle/>
            <a:p>
              <a:pPr algn="ctr"/>
            </a:p>
          </p:txBody>
        </p:sp>
        <p:sp>
          <p:nvSpPr>
            <p:cNvPr id="43" name="Freeform 42"/>
            <p:cNvSpPr/>
            <p:nvPr/>
          </p:nvSpPr>
          <p:spPr>
            <a:xfrm>
              <a:off x="6522731" y="385876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0E0E0E"/>
            </a:solidFill>
            <a:ln w="9525">
              <a:solidFill>
                <a:srgbClr val="2E2E2E"/>
              </a:solidFill>
            </a:ln>
          </p:spPr>
          <p:txBody>
            <a:bodyPr rtlCol="0" anchor="ctr"/>
            <a:lstStyle/>
            <a:p>
              <a:pPr algn="ctr"/>
            </a:p>
          </p:txBody>
        </p:sp>
        <p:sp>
          <p:nvSpPr>
            <p:cNvPr id="44" name="Freeform 43"/>
            <p:cNvSpPr/>
            <p:nvPr/>
          </p:nvSpPr>
          <p:spPr>
            <a:xfrm>
              <a:off x="6839488" y="385876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0E0E0E"/>
            </a:solidFill>
            <a:ln w="9525">
              <a:solidFill>
                <a:srgbClr val="2E2E2E"/>
              </a:solidFill>
            </a:ln>
          </p:spPr>
          <p:txBody>
            <a:bodyPr rtlCol="0" anchor="ctr"/>
            <a:lstStyle/>
            <a:p>
              <a:pPr algn="ctr"/>
            </a:p>
          </p:txBody>
        </p:sp>
      </p:grpSp>
      <p:grpSp>
        <p:nvGrpSpPr>
          <p:cNvPr id="63" name="Group 62"/>
          <p:cNvGrpSpPr/>
          <p:nvPr/>
        </p:nvGrpSpPr>
        <p:grpSpPr>
          <a:xfrm>
            <a:off x="7525512" y="3108960"/>
            <a:ext cx="3460757" cy="1280160"/>
            <a:chOff x="7525512" y="3108960"/>
            <a:chExt cx="3460757" cy="1280160"/>
          </a:xfrm>
        </p:grpSpPr>
        <p:cxnSp>
          <p:nvCxnSpPr>
            <p:cNvPr id="46" name="Connector 45"/>
            <p:cNvCxnSpPr/>
            <p:nvPr/>
          </p:nvCxnSpPr>
          <p:spPr>
            <a:xfrm>
              <a:off x="7525512" y="3749039"/>
              <a:ext cx="384048" cy="0"/>
            </a:xfrm>
            <a:prstGeom prst="line">
              <a:avLst/>
            </a:prstGeom>
            <a:ln w="12700">
              <a:solidFill>
                <a:srgbClr val="FFFFFF"/>
              </a:solidFill>
              <a:tailEnd type="triangle" w="med" len="med"/>
            </a:ln>
          </p:spPr>
        </p:cxnSp>
        <p:sp>
          <p:nvSpPr>
            <p:cNvPr id="47" name="TextBox 46"/>
            <p:cNvSpPr txBox="1"/>
            <p:nvPr/>
          </p:nvSpPr>
          <p:spPr>
            <a:xfrm>
              <a:off x="8092440" y="3108960"/>
              <a:ext cx="1097280" cy="1280160"/>
            </a:xfrm>
            <a:prstGeom prst="rect">
              <a:avLst/>
            </a:prstGeom>
            <a:noFill/>
          </p:spPr>
          <p:txBody>
            <a:bodyPr wrap="square" lIns="0" rIns="0" tIns="0" bIns="0" anchor="t">
              <a:noAutofit/>
            </a:bodyPr>
            <a:lstStyle/>
            <a:p>
              <a:pPr algn="l">
                <a:lnSpc>
                  <a:spcPct val="85000"/>
                </a:lnSpc>
              </a:pPr>
              <a:r>
                <a:rPr sz="9600" b="0" spc="-384">
                  <a:solidFill>
                    <a:srgbClr val="F5A524"/>
                  </a:solidFill>
                  <a:latin typeface="Helvetica Neue"/>
                </a:rPr>
                <a:t>A</a:t>
              </a:r>
            </a:p>
          </p:txBody>
        </p:sp>
        <p:sp>
          <p:nvSpPr>
            <p:cNvPr id="48" name="Freeform 47"/>
            <p:cNvSpPr/>
            <p:nvPr/>
          </p:nvSpPr>
          <p:spPr>
            <a:xfrm>
              <a:off x="9275779" y="3310127"/>
              <a:ext cx="285081" cy="329185"/>
            </a:xfrm>
            <a:custGeom>
              <a:avLst/>
              <a:gdLst/>
              <a:ahLst/>
              <a:cxnLst/>
              <a:rect l="l" t="t" r="r" b="b"/>
              <a:pathLst>
                <a:path w="285081" h="329185">
                  <a:moveTo>
                    <a:pt x="142540" y="0"/>
                  </a:moveTo>
                  <a:lnTo>
                    <a:pt x="285081" y="82297"/>
                  </a:lnTo>
                  <a:lnTo>
                    <a:pt x="285081" y="246888"/>
                  </a:lnTo>
                  <a:lnTo>
                    <a:pt x="142540" y="329185"/>
                  </a:lnTo>
                  <a:lnTo>
                    <a:pt x="0" y="246888"/>
                  </a:lnTo>
                  <a:lnTo>
                    <a:pt x="0" y="82297"/>
                  </a:lnTo>
                  <a:close/>
                </a:path>
              </a:pathLst>
            </a:custGeom>
            <a:solidFill>
              <a:srgbClr val="F5A524"/>
            </a:solidFill>
            <a:ln>
              <a:noFill/>
            </a:ln>
          </p:spPr>
          <p:txBody>
            <a:bodyPr rtlCol="0" anchor="ctr"/>
            <a:lstStyle/>
            <a:p>
              <a:pPr algn="ctr"/>
            </a:p>
          </p:txBody>
        </p:sp>
        <p:sp>
          <p:nvSpPr>
            <p:cNvPr id="49" name="Freeform 48"/>
            <p:cNvSpPr/>
            <p:nvPr/>
          </p:nvSpPr>
          <p:spPr>
            <a:xfrm>
              <a:off x="9592536" y="3310127"/>
              <a:ext cx="285082" cy="329185"/>
            </a:xfrm>
            <a:custGeom>
              <a:avLst/>
              <a:gdLst/>
              <a:ahLst/>
              <a:cxnLst/>
              <a:rect l="l" t="t" r="r" b="b"/>
              <a:pathLst>
                <a:path w="285082" h="329185">
                  <a:moveTo>
                    <a:pt x="142541" y="0"/>
                  </a:moveTo>
                  <a:lnTo>
                    <a:pt x="285082" y="82297"/>
                  </a:lnTo>
                  <a:lnTo>
                    <a:pt x="285082"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50" name="Freeform 49"/>
            <p:cNvSpPr/>
            <p:nvPr/>
          </p:nvSpPr>
          <p:spPr>
            <a:xfrm>
              <a:off x="9909294" y="3310127"/>
              <a:ext cx="285081" cy="329185"/>
            </a:xfrm>
            <a:custGeom>
              <a:avLst/>
              <a:gdLst/>
              <a:ahLst/>
              <a:cxnLst/>
              <a:rect l="l" t="t" r="r" b="b"/>
              <a:pathLst>
                <a:path w="285081" h="329185">
                  <a:moveTo>
                    <a:pt x="142540" y="0"/>
                  </a:moveTo>
                  <a:lnTo>
                    <a:pt x="285081" y="82297"/>
                  </a:lnTo>
                  <a:lnTo>
                    <a:pt x="285081" y="246888"/>
                  </a:lnTo>
                  <a:lnTo>
                    <a:pt x="142540" y="329185"/>
                  </a:lnTo>
                  <a:lnTo>
                    <a:pt x="0" y="246888"/>
                  </a:lnTo>
                  <a:lnTo>
                    <a:pt x="0" y="82297"/>
                  </a:lnTo>
                  <a:close/>
                </a:path>
              </a:pathLst>
            </a:custGeom>
            <a:solidFill>
              <a:srgbClr val="F5A524"/>
            </a:solidFill>
            <a:ln>
              <a:noFill/>
            </a:ln>
          </p:spPr>
          <p:txBody>
            <a:bodyPr rtlCol="0" anchor="ctr"/>
            <a:lstStyle/>
            <a:p>
              <a:pPr algn="ctr"/>
            </a:p>
          </p:txBody>
        </p:sp>
        <p:sp>
          <p:nvSpPr>
            <p:cNvPr id="51" name="Freeform 50"/>
            <p:cNvSpPr/>
            <p:nvPr/>
          </p:nvSpPr>
          <p:spPr>
            <a:xfrm>
              <a:off x="10226051" y="3310127"/>
              <a:ext cx="285082" cy="329185"/>
            </a:xfrm>
            <a:custGeom>
              <a:avLst/>
              <a:gdLst/>
              <a:ahLst/>
              <a:cxnLst/>
              <a:rect l="l" t="t" r="r" b="b"/>
              <a:pathLst>
                <a:path w="285082" h="329185">
                  <a:moveTo>
                    <a:pt x="142541" y="0"/>
                  </a:moveTo>
                  <a:lnTo>
                    <a:pt x="285082" y="82297"/>
                  </a:lnTo>
                  <a:lnTo>
                    <a:pt x="285082"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52" name="Freeform 51"/>
            <p:cNvSpPr/>
            <p:nvPr/>
          </p:nvSpPr>
          <p:spPr>
            <a:xfrm>
              <a:off x="10542808" y="3310127"/>
              <a:ext cx="285082" cy="329185"/>
            </a:xfrm>
            <a:custGeom>
              <a:avLst/>
              <a:gdLst/>
              <a:ahLst/>
              <a:cxnLst/>
              <a:rect l="l" t="t" r="r" b="b"/>
              <a:pathLst>
                <a:path w="285082" h="329185">
                  <a:moveTo>
                    <a:pt x="142541" y="0"/>
                  </a:moveTo>
                  <a:lnTo>
                    <a:pt x="285082" y="82297"/>
                  </a:lnTo>
                  <a:lnTo>
                    <a:pt x="285082" y="246888"/>
                  </a:lnTo>
                  <a:lnTo>
                    <a:pt x="142541" y="329185"/>
                  </a:lnTo>
                  <a:lnTo>
                    <a:pt x="0" y="246888"/>
                  </a:lnTo>
                  <a:lnTo>
                    <a:pt x="0" y="82297"/>
                  </a:lnTo>
                  <a:close/>
                </a:path>
              </a:pathLst>
            </a:custGeom>
            <a:solidFill>
              <a:srgbClr val="F5A524"/>
            </a:solidFill>
            <a:ln>
              <a:noFill/>
            </a:ln>
          </p:spPr>
          <p:txBody>
            <a:bodyPr rtlCol="0" anchor="ctr"/>
            <a:lstStyle/>
            <a:p>
              <a:pPr algn="ctr"/>
            </a:p>
          </p:txBody>
        </p:sp>
        <p:sp>
          <p:nvSpPr>
            <p:cNvPr id="53" name="Freeform 52"/>
            <p:cNvSpPr/>
            <p:nvPr/>
          </p:nvSpPr>
          <p:spPr>
            <a:xfrm>
              <a:off x="9434157"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F5A524"/>
            </a:solidFill>
            <a:ln>
              <a:noFill/>
            </a:ln>
          </p:spPr>
          <p:txBody>
            <a:bodyPr rtlCol="0" anchor="ctr"/>
            <a:lstStyle/>
            <a:p>
              <a:pPr algn="ctr"/>
            </a:p>
          </p:txBody>
        </p:sp>
        <p:sp>
          <p:nvSpPr>
            <p:cNvPr id="54" name="Freeform 53"/>
            <p:cNvSpPr/>
            <p:nvPr/>
          </p:nvSpPr>
          <p:spPr>
            <a:xfrm>
              <a:off x="9750915"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F5A524"/>
            </a:solidFill>
            <a:ln>
              <a:noFill/>
            </a:ln>
          </p:spPr>
          <p:txBody>
            <a:bodyPr rtlCol="0" anchor="ctr"/>
            <a:lstStyle/>
            <a:p>
              <a:pPr algn="ctr"/>
            </a:p>
          </p:txBody>
        </p:sp>
        <p:sp>
          <p:nvSpPr>
            <p:cNvPr id="55" name="Freeform 54"/>
            <p:cNvSpPr/>
            <p:nvPr/>
          </p:nvSpPr>
          <p:spPr>
            <a:xfrm>
              <a:off x="10067672"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F5A524"/>
            </a:solidFill>
            <a:ln>
              <a:noFill/>
            </a:ln>
          </p:spPr>
          <p:txBody>
            <a:bodyPr rtlCol="0" anchor="ctr"/>
            <a:lstStyle/>
            <a:p>
              <a:pPr algn="ctr"/>
            </a:p>
          </p:txBody>
        </p:sp>
        <p:sp>
          <p:nvSpPr>
            <p:cNvPr id="56" name="Freeform 55"/>
            <p:cNvSpPr/>
            <p:nvPr/>
          </p:nvSpPr>
          <p:spPr>
            <a:xfrm>
              <a:off x="10384430" y="3584447"/>
              <a:ext cx="285081" cy="329184"/>
            </a:xfrm>
            <a:custGeom>
              <a:avLst/>
              <a:gdLst/>
              <a:ahLst/>
              <a:cxnLst/>
              <a:rect l="l" t="t" r="r" b="b"/>
              <a:pathLst>
                <a:path w="285081" h="329184">
                  <a:moveTo>
                    <a:pt x="142541" y="0"/>
                  </a:moveTo>
                  <a:lnTo>
                    <a:pt x="285081" y="82297"/>
                  </a:lnTo>
                  <a:lnTo>
                    <a:pt x="285081" y="246888"/>
                  </a:lnTo>
                  <a:lnTo>
                    <a:pt x="142541" y="329184"/>
                  </a:lnTo>
                  <a:lnTo>
                    <a:pt x="0" y="246888"/>
                  </a:lnTo>
                  <a:lnTo>
                    <a:pt x="0" y="82297"/>
                  </a:lnTo>
                  <a:close/>
                </a:path>
              </a:pathLst>
            </a:custGeom>
            <a:solidFill>
              <a:srgbClr val="F5A524"/>
            </a:solidFill>
            <a:ln>
              <a:noFill/>
            </a:ln>
          </p:spPr>
          <p:txBody>
            <a:bodyPr rtlCol="0" anchor="ctr"/>
            <a:lstStyle/>
            <a:p>
              <a:pPr algn="ctr"/>
            </a:p>
          </p:txBody>
        </p:sp>
        <p:sp>
          <p:nvSpPr>
            <p:cNvPr id="57" name="Freeform 56"/>
            <p:cNvSpPr/>
            <p:nvPr/>
          </p:nvSpPr>
          <p:spPr>
            <a:xfrm>
              <a:off x="10701187" y="3584447"/>
              <a:ext cx="285082" cy="329184"/>
            </a:xfrm>
            <a:custGeom>
              <a:avLst/>
              <a:gdLst/>
              <a:ahLst/>
              <a:cxnLst/>
              <a:rect l="l" t="t" r="r" b="b"/>
              <a:pathLst>
                <a:path w="285082" h="329184">
                  <a:moveTo>
                    <a:pt x="142541" y="0"/>
                  </a:moveTo>
                  <a:lnTo>
                    <a:pt x="285082" y="82297"/>
                  </a:lnTo>
                  <a:lnTo>
                    <a:pt x="285082" y="246888"/>
                  </a:lnTo>
                  <a:lnTo>
                    <a:pt x="142541" y="329184"/>
                  </a:lnTo>
                  <a:lnTo>
                    <a:pt x="0" y="246888"/>
                  </a:lnTo>
                  <a:lnTo>
                    <a:pt x="0" y="82297"/>
                  </a:lnTo>
                  <a:close/>
                </a:path>
              </a:pathLst>
            </a:custGeom>
            <a:solidFill>
              <a:srgbClr val="F5A524"/>
            </a:solidFill>
            <a:ln>
              <a:noFill/>
            </a:ln>
          </p:spPr>
          <p:txBody>
            <a:bodyPr rtlCol="0" anchor="ctr"/>
            <a:lstStyle/>
            <a:p>
              <a:pPr algn="ctr"/>
            </a:p>
          </p:txBody>
        </p:sp>
        <p:sp>
          <p:nvSpPr>
            <p:cNvPr id="58" name="Freeform 57"/>
            <p:cNvSpPr/>
            <p:nvPr/>
          </p:nvSpPr>
          <p:spPr>
            <a:xfrm>
              <a:off x="9275779" y="3858768"/>
              <a:ext cx="285081" cy="329184"/>
            </a:xfrm>
            <a:custGeom>
              <a:avLst/>
              <a:gdLst/>
              <a:ahLst/>
              <a:cxnLst/>
              <a:rect l="l" t="t" r="r" b="b"/>
              <a:pathLst>
                <a:path w="285081" h="329184">
                  <a:moveTo>
                    <a:pt x="142540" y="0"/>
                  </a:moveTo>
                  <a:lnTo>
                    <a:pt x="285081" y="82296"/>
                  </a:lnTo>
                  <a:lnTo>
                    <a:pt x="285081" y="246888"/>
                  </a:lnTo>
                  <a:lnTo>
                    <a:pt x="142540" y="329184"/>
                  </a:lnTo>
                  <a:lnTo>
                    <a:pt x="0" y="246888"/>
                  </a:lnTo>
                  <a:lnTo>
                    <a:pt x="0" y="82296"/>
                  </a:lnTo>
                  <a:close/>
                </a:path>
              </a:pathLst>
            </a:custGeom>
            <a:solidFill>
              <a:srgbClr val="F5A524"/>
            </a:solidFill>
            <a:ln>
              <a:noFill/>
            </a:ln>
          </p:spPr>
          <p:txBody>
            <a:bodyPr rtlCol="0" anchor="ctr"/>
            <a:lstStyle/>
            <a:p>
              <a:pPr algn="ctr"/>
            </a:p>
          </p:txBody>
        </p:sp>
        <p:sp>
          <p:nvSpPr>
            <p:cNvPr id="59" name="Freeform 58"/>
            <p:cNvSpPr/>
            <p:nvPr/>
          </p:nvSpPr>
          <p:spPr>
            <a:xfrm>
              <a:off x="9592536" y="385876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F5A524"/>
            </a:solidFill>
            <a:ln>
              <a:noFill/>
            </a:ln>
          </p:spPr>
          <p:txBody>
            <a:bodyPr rtlCol="0" anchor="ctr"/>
            <a:lstStyle/>
            <a:p>
              <a:pPr algn="ctr"/>
            </a:p>
          </p:txBody>
        </p:sp>
        <p:sp>
          <p:nvSpPr>
            <p:cNvPr id="60" name="Freeform 59"/>
            <p:cNvSpPr/>
            <p:nvPr/>
          </p:nvSpPr>
          <p:spPr>
            <a:xfrm>
              <a:off x="9909294" y="3858768"/>
              <a:ext cx="285081" cy="329184"/>
            </a:xfrm>
            <a:custGeom>
              <a:avLst/>
              <a:gdLst/>
              <a:ahLst/>
              <a:cxnLst/>
              <a:rect l="l" t="t" r="r" b="b"/>
              <a:pathLst>
                <a:path w="285081" h="329184">
                  <a:moveTo>
                    <a:pt x="142540" y="0"/>
                  </a:moveTo>
                  <a:lnTo>
                    <a:pt x="285081" y="82296"/>
                  </a:lnTo>
                  <a:lnTo>
                    <a:pt x="285081" y="246888"/>
                  </a:lnTo>
                  <a:lnTo>
                    <a:pt x="142540" y="329184"/>
                  </a:lnTo>
                  <a:lnTo>
                    <a:pt x="0" y="246888"/>
                  </a:lnTo>
                  <a:lnTo>
                    <a:pt x="0" y="82296"/>
                  </a:lnTo>
                  <a:close/>
                </a:path>
              </a:pathLst>
            </a:custGeom>
            <a:solidFill>
              <a:srgbClr val="F5A524"/>
            </a:solidFill>
            <a:ln>
              <a:noFill/>
            </a:ln>
          </p:spPr>
          <p:txBody>
            <a:bodyPr rtlCol="0" anchor="ctr"/>
            <a:lstStyle/>
            <a:p>
              <a:pPr algn="ctr"/>
            </a:p>
          </p:txBody>
        </p:sp>
        <p:sp>
          <p:nvSpPr>
            <p:cNvPr id="61" name="Freeform 60"/>
            <p:cNvSpPr/>
            <p:nvPr/>
          </p:nvSpPr>
          <p:spPr>
            <a:xfrm>
              <a:off x="10226051" y="385876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F5A524"/>
            </a:solidFill>
            <a:ln>
              <a:noFill/>
            </a:ln>
          </p:spPr>
          <p:txBody>
            <a:bodyPr rtlCol="0" anchor="ctr"/>
            <a:lstStyle/>
            <a:p>
              <a:pPr algn="ctr"/>
            </a:p>
          </p:txBody>
        </p:sp>
        <p:sp>
          <p:nvSpPr>
            <p:cNvPr id="62" name="Freeform 61"/>
            <p:cNvSpPr/>
            <p:nvPr/>
          </p:nvSpPr>
          <p:spPr>
            <a:xfrm>
              <a:off x="10542808" y="3858768"/>
              <a:ext cx="285082" cy="329184"/>
            </a:xfrm>
            <a:custGeom>
              <a:avLst/>
              <a:gdLst/>
              <a:ahLst/>
              <a:cxnLst/>
              <a:rect l="l" t="t" r="r" b="b"/>
              <a:pathLst>
                <a:path w="285082" h="329184">
                  <a:moveTo>
                    <a:pt x="142541" y="0"/>
                  </a:moveTo>
                  <a:lnTo>
                    <a:pt x="285082" y="82296"/>
                  </a:lnTo>
                  <a:lnTo>
                    <a:pt x="285082" y="246888"/>
                  </a:lnTo>
                  <a:lnTo>
                    <a:pt x="142541" y="329184"/>
                  </a:lnTo>
                  <a:lnTo>
                    <a:pt x="0" y="246888"/>
                  </a:lnTo>
                  <a:lnTo>
                    <a:pt x="0" y="82296"/>
                  </a:lnTo>
                  <a:close/>
                </a:path>
              </a:pathLst>
            </a:custGeom>
            <a:solidFill>
              <a:srgbClr val="0E0E0E"/>
            </a:solidFill>
            <a:ln w="9525">
              <a:solidFill>
                <a:srgbClr val="2E2E2E"/>
              </a:solidFill>
            </a:ln>
          </p:spPr>
          <p:txBody>
            <a:bodyPr rtlCol="0" anchor="ctr"/>
            <a:lstStyle/>
            <a:p>
              <a:pPr algn="ctr"/>
            </a:p>
          </p:txBody>
        </p:sp>
      </p:grpSp>
      <p:grpSp>
        <p:nvGrpSpPr>
          <p:cNvPr id="67" name="Group 66"/>
          <p:cNvGrpSpPr/>
          <p:nvPr/>
        </p:nvGrpSpPr>
        <p:grpSpPr>
          <a:xfrm>
            <a:off x="685800" y="5138928"/>
            <a:ext cx="3566160" cy="502920"/>
            <a:chOff x="685800" y="5138928"/>
            <a:chExt cx="3566160" cy="502920"/>
          </a:xfrm>
        </p:grpSpPr>
        <p:sp>
          <p:nvSpPr>
            <p:cNvPr id="64" name="Rectangle 63"/>
            <p:cNvSpPr/>
            <p:nvPr/>
          </p:nvSpPr>
          <p:spPr>
            <a:xfrm>
              <a:off x="685800" y="5138928"/>
              <a:ext cx="3566160" cy="502920"/>
            </a:xfrm>
            <a:prstGeom prst="rect">
              <a:avLst/>
            </a:prstGeom>
            <a:noFill/>
            <a:ln w="9525">
              <a:solidFill>
                <a:srgbClr val="6E6E68"/>
              </a:solidFill>
            </a:ln>
          </p:spPr>
          <p:txBody>
            <a:bodyPr rtlCol="0" anchor="ctr"/>
            <a:lstStyle/>
            <a:p>
              <a:pPr algn="ctr"/>
            </a:p>
          </p:txBody>
        </p:sp>
        <p:sp>
          <p:nvSpPr>
            <p:cNvPr id="65" name="Freeform 64"/>
            <p:cNvSpPr/>
            <p:nvPr/>
          </p:nvSpPr>
          <p:spPr>
            <a:xfrm>
              <a:off x="873011" y="5289803"/>
              <a:ext cx="174217" cy="201169"/>
            </a:xfrm>
            <a:custGeom>
              <a:avLst/>
              <a:gdLst/>
              <a:ahLst/>
              <a:cxnLst/>
              <a:rect l="l" t="t" r="r" b="b"/>
              <a:pathLst>
                <a:path w="174217" h="201169">
                  <a:moveTo>
                    <a:pt x="87109" y="0"/>
                  </a:moveTo>
                  <a:lnTo>
                    <a:pt x="174217" y="50293"/>
                  </a:lnTo>
                  <a:lnTo>
                    <a:pt x="174217" y="150876"/>
                  </a:lnTo>
                  <a:lnTo>
                    <a:pt x="87109" y="201169"/>
                  </a:lnTo>
                  <a:lnTo>
                    <a:pt x="0" y="150876"/>
                  </a:lnTo>
                  <a:lnTo>
                    <a:pt x="0" y="50293"/>
                  </a:lnTo>
                  <a:close/>
                </a:path>
              </a:pathLst>
            </a:custGeom>
            <a:solidFill>
              <a:srgbClr val="F5A524"/>
            </a:solidFill>
            <a:ln>
              <a:noFill/>
            </a:ln>
          </p:spPr>
          <p:txBody>
            <a:bodyPr rtlCol="0" anchor="ctr"/>
            <a:lstStyle/>
            <a:p>
              <a:pPr algn="ctr"/>
            </a:p>
          </p:txBody>
        </p:sp>
        <p:sp>
          <p:nvSpPr>
            <p:cNvPr id="66" name="TextBox 65"/>
            <p:cNvSpPr txBox="1"/>
            <p:nvPr/>
          </p:nvSpPr>
          <p:spPr>
            <a:xfrm>
              <a:off x="1188720" y="5303520"/>
              <a:ext cx="2971800" cy="201168"/>
            </a:xfrm>
            <a:prstGeom prst="rect">
              <a:avLst/>
            </a:prstGeom>
            <a:noFill/>
          </p:spPr>
          <p:txBody>
            <a:bodyPr wrap="square" lIns="0" rIns="0" tIns="0" bIns="0" anchor="t">
              <a:noAutofit/>
            </a:bodyPr>
            <a:lstStyle/>
            <a:p>
              <a:pPr algn="l">
                <a:lnSpc>
                  <a:spcPct val="100000"/>
                </a:lnSpc>
              </a:pPr>
              <a:r>
                <a:rPr sz="1100" b="0">
                  <a:solidFill>
                    <a:srgbClr val="FFFFFF"/>
                  </a:solidFill>
                  <a:latin typeface="Menlo"/>
                </a:rPr>
                <a:t>MAYDAY AIRWORTHINESS · </a:t>
              </a:r>
              <a:r>
                <a:rPr sz="1100" b="0">
                  <a:solidFill>
                    <a:srgbClr val="F5A524"/>
                  </a:solidFill>
                  <a:latin typeface="Menlo"/>
                </a:rPr>
                <a:t>B 62</a:t>
              </a:r>
            </a:p>
          </p:txBody>
        </p:sp>
      </p:grpSp>
      <p:sp>
        <p:nvSpPr>
          <p:cNvPr id="68" name="TextBox 67"/>
          <p:cNvSpPr txBox="1"/>
          <p:nvPr/>
        </p:nvSpPr>
        <p:spPr>
          <a:xfrm>
            <a:off x="4617720" y="5239512"/>
            <a:ext cx="6888175" cy="365760"/>
          </a:xfrm>
          <a:prstGeom prst="rect">
            <a:avLst/>
          </a:prstGeom>
          <a:noFill/>
        </p:spPr>
        <p:txBody>
          <a:bodyPr wrap="square" lIns="0" rIns="0" tIns="0" bIns="0" anchor="t">
            <a:noAutofit/>
          </a:bodyPr>
          <a:lstStyle/>
          <a:p>
            <a:pPr algn="l">
              <a:lnSpc>
                <a:spcPct val="100000"/>
              </a:lnSpc>
            </a:pPr>
            <a:r>
              <a:rPr sz="1800" b="0" spc="-27">
                <a:solidFill>
                  <a:srgbClr val="FFFFFF"/>
                </a:solidFill>
                <a:latin typeface="Helvetica Neue"/>
              </a:rPr>
              <a:t>Agents check it before they build: </a:t>
            </a:r>
            <a:r>
              <a:rPr sz="1600" b="0">
                <a:solidFill>
                  <a:srgbClr val="F5A524"/>
                </a:solidFill>
                <a:latin typeface="Menlo"/>
              </a:rPr>
              <a:t>mayday_preflight</a:t>
            </a:r>
            <a:r>
              <a:rPr sz="1800" b="0" spc="-27">
                <a:solidFill>
                  <a:srgbClr val="FFFFFF"/>
                </a:solidFill>
                <a:latin typeface="Helvetica Neue"/>
              </a:rPr>
              <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63"/>
                                        </p:tgtEl>
                                        <p:attrNameLst>
                                          <p:attrName>style.visibility</p:attrName>
                                        </p:attrNameLst>
                                      </p:cBhvr>
                                      <p:to>
                                        <p:strVal val="visible"/>
                                      </p:to>
                                    </p:set>
                                    <p:animEffect transition="in" filter="fade">
                                      <p:cBhvr>
                                        <p:cTn id="15" dur="500"/>
                                        <p:tgtEl>
                                          <p:spTgt spid="63"/>
                                        </p:tgtEl>
                                      </p:cBhvr>
                                    </p:animEffect>
                                  </p:childTnLst>
                                </p:cTn>
                              </p:par>
                            </p:childTnLst>
                          </p:cTn>
                        </p:par>
                        <p:par>
                          <p:cTn id="16" fill="hold">
                            <p:stCondLst>
                              <p:cond delay="2550"/>
                            </p:stCondLst>
                            <p:childTnLst>
                              <p:par>
                                <p:cTn id="17" presetID="10" presetClass="entr" presetSubtype="0" fill="hold" nodeType="afterEffect">
                                  <p:stCondLst>
                                    <p:cond delay="350"/>
                                  </p:stCondLst>
                                  <p:childTnLst>
                                    <p:set>
                                      <p:cBhvr>
                                        <p:cTn id="18" dur="1" fill="hold">
                                          <p:stCondLst>
                                            <p:cond delay="0"/>
                                          </p:stCondLst>
                                        </p:cTn>
                                        <p:tgtEl>
                                          <p:spTgt spid="67"/>
                                        </p:tgtEl>
                                        <p:attrNameLst>
                                          <p:attrName>style.visibility</p:attrName>
                                        </p:attrNameLst>
                                      </p:cBhvr>
                                      <p:to>
                                        <p:strVal val="visible"/>
                                      </p:to>
                                    </p:set>
                                    <p:animEffect transition="in" filter="fade">
                                      <p:cBhvr>
                                        <p:cTn id="19" dur="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188720"/>
            <a:ext cx="10820095" cy="868680"/>
          </a:xfrm>
        </p:spPr>
        <p:txBody>
          <a:bodyPr wrap="square" lIns="0" rIns="0" tIns="0" bIns="0" anchor="t">
            <a:noAutofit/>
          </a:bodyPr>
          <a:lstStyle/>
          <a:p>
            <a:pPr algn="l">
              <a:lnSpc>
                <a:spcPct val="90000"/>
              </a:lnSpc>
            </a:pPr>
            <a:r>
              <a:rPr sz="5400" b="0" spc="-189">
                <a:solidFill>
                  <a:srgbClr val="FFFFFF"/>
                </a:solidFill>
                <a:latin typeface="Helvetica Neue"/>
              </a:rPr>
              <a:t>How it's built.</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08 / 10  ·  HOW IT'S BUILT</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grpSp>
        <p:nvGrpSpPr>
          <p:cNvPr id="14" name="Group 13"/>
          <p:cNvGrpSpPr/>
          <p:nvPr/>
        </p:nvGrpSpPr>
        <p:grpSpPr>
          <a:xfrm>
            <a:off x="685800" y="2468880"/>
            <a:ext cx="2430703" cy="2697480"/>
            <a:chOff x="685800" y="2468880"/>
            <a:chExt cx="2430703" cy="2697480"/>
          </a:xfrm>
        </p:grpSpPr>
        <p:cxnSp>
          <p:nvCxnSpPr>
            <p:cNvPr id="10" name="Connector 9"/>
            <p:cNvCxnSpPr/>
            <p:nvPr/>
          </p:nvCxnSpPr>
          <p:spPr>
            <a:xfrm>
              <a:off x="685800" y="2468880"/>
              <a:ext cx="2430703" cy="0"/>
            </a:xfrm>
            <a:prstGeom prst="line">
              <a:avLst/>
            </a:prstGeom>
            <a:ln w="9525">
              <a:solidFill>
                <a:srgbClr val="6E6E68"/>
              </a:solidFill>
            </a:ln>
          </p:spPr>
        </p:cxnSp>
        <p:sp>
          <p:nvSpPr>
            <p:cNvPr id="11" name="Freeform 10"/>
            <p:cNvSpPr/>
            <p:nvPr/>
          </p:nvSpPr>
          <p:spPr>
            <a:xfrm>
              <a:off x="698050" y="2651760"/>
              <a:ext cx="158379" cy="182880"/>
            </a:xfrm>
            <a:custGeom>
              <a:avLst/>
              <a:gdLst/>
              <a:ahLst/>
              <a:cxnLst/>
              <a:rect l="l" t="t" r="r" b="b"/>
              <a:pathLst>
                <a:path w="158379" h="182880">
                  <a:moveTo>
                    <a:pt x="79190" y="0"/>
                  </a:moveTo>
                  <a:lnTo>
                    <a:pt x="158379" y="45720"/>
                  </a:lnTo>
                  <a:lnTo>
                    <a:pt x="158379" y="137160"/>
                  </a:lnTo>
                  <a:lnTo>
                    <a:pt x="79190" y="182880"/>
                  </a:lnTo>
                  <a:lnTo>
                    <a:pt x="0" y="137160"/>
                  </a:lnTo>
                  <a:lnTo>
                    <a:pt x="0" y="45720"/>
                  </a:lnTo>
                  <a:close/>
                </a:path>
              </a:pathLst>
            </a:custGeom>
            <a:solidFill>
              <a:srgbClr val="F5A524"/>
            </a:solidFill>
            <a:ln>
              <a:noFill/>
            </a:ln>
          </p:spPr>
          <p:txBody>
            <a:bodyPr rtlCol="0" anchor="ctr"/>
            <a:lstStyle/>
            <a:p>
              <a:pPr algn="ctr"/>
            </a:p>
          </p:txBody>
        </p:sp>
        <p:sp>
          <p:nvSpPr>
            <p:cNvPr id="12" name="TextBox 11"/>
            <p:cNvSpPr txBox="1"/>
            <p:nvPr/>
          </p:nvSpPr>
          <p:spPr>
            <a:xfrm>
              <a:off x="978408" y="2656332"/>
              <a:ext cx="2138095" cy="201168"/>
            </a:xfrm>
            <a:prstGeom prst="rect">
              <a:avLst/>
            </a:prstGeom>
            <a:noFill/>
          </p:spPr>
          <p:txBody>
            <a:bodyPr wrap="square" lIns="0" rIns="0" tIns="0" bIns="0" anchor="t">
              <a:noAutofit/>
            </a:bodyPr>
            <a:lstStyle/>
            <a:p>
              <a:pPr algn="l">
                <a:lnSpc>
                  <a:spcPct val="100000"/>
                </a:lnSpc>
              </a:pPr>
              <a:r>
                <a:rPr sz="1150" b="0" spc="184">
                  <a:solidFill>
                    <a:srgbClr val="FFFFFF"/>
                  </a:solidFill>
                  <a:latin typeface="Menlo"/>
                </a:rPr>
                <a:t>SUPABASE</a:t>
              </a:r>
            </a:p>
          </p:txBody>
        </p:sp>
        <p:sp>
          <p:nvSpPr>
            <p:cNvPr id="13" name="TextBox 12"/>
            <p:cNvSpPr txBox="1"/>
            <p:nvPr/>
          </p:nvSpPr>
          <p:spPr>
            <a:xfrm>
              <a:off x="685800" y="3154680"/>
              <a:ext cx="2430703" cy="2011680"/>
            </a:xfrm>
            <a:prstGeom prst="rect">
              <a:avLst/>
            </a:prstGeom>
            <a:noFill/>
          </p:spPr>
          <p:txBody>
            <a:bodyPr wrap="square" lIns="0" rIns="0" tIns="0" bIns="0" anchor="t">
              <a:noAutofit/>
            </a:bodyPr>
            <a:lstStyle/>
            <a:p>
              <a:pPr algn="l">
                <a:lnSpc>
                  <a:spcPct val="102000"/>
                </a:lnSpc>
              </a:pPr>
              <a:r>
                <a:rPr sz="1600" b="0" spc="-16">
                  <a:solidFill>
                    <a:srgbClr val="F4F4F2"/>
                  </a:solidFill>
                  <a:latin typeface="Helvetica Neue"/>
                </a:rPr>
                <a:t>Postgres does the matching (pg_trgm + error codes).</a:t>
              </a:r>
            </a:p>
            <a:p>
              <a:pPr algn="l">
                <a:lnSpc>
                  <a:spcPct val="102000"/>
                </a:lnSpc>
                <a:spcBef>
                  <a:spcPts val="700"/>
                </a:spcBef>
              </a:pPr>
              <a:r>
                <a:rPr sz="1600" b="0" spc="-16">
                  <a:solidFill>
                    <a:srgbClr val="F4F4F2"/>
                  </a:solidFill>
                  <a:latin typeface="Helvetica Neue"/>
                </a:rPr>
                <a:t>RLS is the permission model.</a:t>
              </a:r>
            </a:p>
            <a:p>
              <a:pPr algn="l">
                <a:lnSpc>
                  <a:spcPct val="102000"/>
                </a:lnSpc>
                <a:spcBef>
                  <a:spcPts val="700"/>
                </a:spcBef>
              </a:pPr>
              <a:r>
                <a:rPr sz="1600" b="0" spc="-16">
                  <a:solidFill>
                    <a:srgbClr val="F4F4F2"/>
                  </a:solidFill>
                  <a:latin typeface="Helvetica Neue"/>
                </a:rPr>
                <a:t>Realtime is the UI.</a:t>
              </a:r>
            </a:p>
          </p:txBody>
        </p:sp>
      </p:grpSp>
      <p:grpSp>
        <p:nvGrpSpPr>
          <p:cNvPr id="19" name="Group 18"/>
          <p:cNvGrpSpPr/>
          <p:nvPr/>
        </p:nvGrpSpPr>
        <p:grpSpPr>
          <a:xfrm>
            <a:off x="3482263" y="2468880"/>
            <a:ext cx="2430704" cy="2697480"/>
            <a:chOff x="3482263" y="2468880"/>
            <a:chExt cx="2430704" cy="2697480"/>
          </a:xfrm>
        </p:grpSpPr>
        <p:cxnSp>
          <p:nvCxnSpPr>
            <p:cNvPr id="15" name="Connector 14"/>
            <p:cNvCxnSpPr/>
            <p:nvPr/>
          </p:nvCxnSpPr>
          <p:spPr>
            <a:xfrm>
              <a:off x="3482263" y="2468880"/>
              <a:ext cx="2430704" cy="0"/>
            </a:xfrm>
            <a:prstGeom prst="line">
              <a:avLst/>
            </a:prstGeom>
            <a:ln w="9525">
              <a:solidFill>
                <a:srgbClr val="6E6E68"/>
              </a:solidFill>
            </a:ln>
          </p:spPr>
        </p:cxnSp>
        <p:sp>
          <p:nvSpPr>
            <p:cNvPr id="16" name="Freeform 15"/>
            <p:cNvSpPr/>
            <p:nvPr/>
          </p:nvSpPr>
          <p:spPr>
            <a:xfrm>
              <a:off x="3494514" y="2651760"/>
              <a:ext cx="158379" cy="182880"/>
            </a:xfrm>
            <a:custGeom>
              <a:avLst/>
              <a:gdLst/>
              <a:ahLst/>
              <a:cxnLst/>
              <a:rect l="l" t="t" r="r" b="b"/>
              <a:pathLst>
                <a:path w="158379" h="182880">
                  <a:moveTo>
                    <a:pt x="79189" y="0"/>
                  </a:moveTo>
                  <a:lnTo>
                    <a:pt x="158379" y="45720"/>
                  </a:lnTo>
                  <a:lnTo>
                    <a:pt x="158379" y="137160"/>
                  </a:lnTo>
                  <a:lnTo>
                    <a:pt x="79189" y="182880"/>
                  </a:lnTo>
                  <a:lnTo>
                    <a:pt x="0" y="137160"/>
                  </a:lnTo>
                  <a:lnTo>
                    <a:pt x="0" y="45720"/>
                  </a:lnTo>
                  <a:close/>
                </a:path>
              </a:pathLst>
            </a:custGeom>
            <a:solidFill>
              <a:srgbClr val="F5A524"/>
            </a:solidFill>
            <a:ln>
              <a:noFill/>
            </a:ln>
          </p:spPr>
          <p:txBody>
            <a:bodyPr rtlCol="0" anchor="ctr"/>
            <a:lstStyle/>
            <a:p>
              <a:pPr algn="ctr"/>
            </a:p>
          </p:txBody>
        </p:sp>
        <p:sp>
          <p:nvSpPr>
            <p:cNvPr id="17" name="TextBox 16"/>
            <p:cNvSpPr txBox="1"/>
            <p:nvPr/>
          </p:nvSpPr>
          <p:spPr>
            <a:xfrm>
              <a:off x="3774871" y="2656332"/>
              <a:ext cx="2138095" cy="201168"/>
            </a:xfrm>
            <a:prstGeom prst="rect">
              <a:avLst/>
            </a:prstGeom>
            <a:noFill/>
          </p:spPr>
          <p:txBody>
            <a:bodyPr wrap="square" lIns="0" rIns="0" tIns="0" bIns="0" anchor="t">
              <a:noAutofit/>
            </a:bodyPr>
            <a:lstStyle/>
            <a:p>
              <a:pPr algn="l">
                <a:lnSpc>
                  <a:spcPct val="100000"/>
                </a:lnSpc>
              </a:pPr>
              <a:r>
                <a:rPr sz="1150" b="0" spc="184">
                  <a:solidFill>
                    <a:srgbClr val="FFFFFF"/>
                  </a:solidFill>
                  <a:latin typeface="Menlo"/>
                </a:rPr>
                <a:t>VERCEL</a:t>
              </a:r>
            </a:p>
          </p:txBody>
        </p:sp>
        <p:sp>
          <p:nvSpPr>
            <p:cNvPr id="18" name="TextBox 17"/>
            <p:cNvSpPr txBox="1"/>
            <p:nvPr/>
          </p:nvSpPr>
          <p:spPr>
            <a:xfrm>
              <a:off x="3482263" y="3154680"/>
              <a:ext cx="2430703" cy="2011680"/>
            </a:xfrm>
            <a:prstGeom prst="rect">
              <a:avLst/>
            </a:prstGeom>
            <a:noFill/>
          </p:spPr>
          <p:txBody>
            <a:bodyPr wrap="square" lIns="0" rIns="0" tIns="0" bIns="0" anchor="t">
              <a:noAutofit/>
            </a:bodyPr>
            <a:lstStyle/>
            <a:p>
              <a:pPr algn="l">
                <a:lnSpc>
                  <a:spcPct val="102000"/>
                </a:lnSpc>
              </a:pPr>
              <a:r>
                <a:rPr sz="1600" b="0" spc="-16">
                  <a:solidFill>
                    <a:srgbClr val="F4F4F2"/>
                  </a:solidFill>
                  <a:latin typeface="Helvetica Neue"/>
                </a:rPr>
                <a:t>Next.js 16, the MCP server, deploys in seconds.</a:t>
              </a:r>
            </a:p>
          </p:txBody>
        </p:sp>
      </p:grpSp>
      <p:grpSp>
        <p:nvGrpSpPr>
          <p:cNvPr id="24" name="Group 23"/>
          <p:cNvGrpSpPr/>
          <p:nvPr/>
        </p:nvGrpSpPr>
        <p:grpSpPr>
          <a:xfrm>
            <a:off x="6278727" y="2468880"/>
            <a:ext cx="2430704" cy="2697480"/>
            <a:chOff x="6278727" y="2468880"/>
            <a:chExt cx="2430704" cy="2697480"/>
          </a:xfrm>
        </p:grpSpPr>
        <p:cxnSp>
          <p:nvCxnSpPr>
            <p:cNvPr id="20" name="Connector 19"/>
            <p:cNvCxnSpPr/>
            <p:nvPr/>
          </p:nvCxnSpPr>
          <p:spPr>
            <a:xfrm>
              <a:off x="6278727" y="2468880"/>
              <a:ext cx="2430704" cy="0"/>
            </a:xfrm>
            <a:prstGeom prst="line">
              <a:avLst/>
            </a:prstGeom>
            <a:ln w="9525">
              <a:solidFill>
                <a:srgbClr val="6E6E68"/>
              </a:solidFill>
            </a:ln>
          </p:spPr>
        </p:cxnSp>
        <p:sp>
          <p:nvSpPr>
            <p:cNvPr id="21" name="Freeform 20"/>
            <p:cNvSpPr/>
            <p:nvPr/>
          </p:nvSpPr>
          <p:spPr>
            <a:xfrm>
              <a:off x="6290978" y="2651760"/>
              <a:ext cx="158378" cy="182880"/>
            </a:xfrm>
            <a:custGeom>
              <a:avLst/>
              <a:gdLst/>
              <a:ahLst/>
              <a:cxnLst/>
              <a:rect l="l" t="t" r="r" b="b"/>
              <a:pathLst>
                <a:path w="158378" h="182880">
                  <a:moveTo>
                    <a:pt x="79189" y="0"/>
                  </a:moveTo>
                  <a:lnTo>
                    <a:pt x="158378" y="45720"/>
                  </a:lnTo>
                  <a:lnTo>
                    <a:pt x="158378" y="137160"/>
                  </a:lnTo>
                  <a:lnTo>
                    <a:pt x="79189" y="182880"/>
                  </a:lnTo>
                  <a:lnTo>
                    <a:pt x="0" y="137160"/>
                  </a:lnTo>
                  <a:lnTo>
                    <a:pt x="0" y="45720"/>
                  </a:lnTo>
                  <a:close/>
                </a:path>
              </a:pathLst>
            </a:custGeom>
            <a:solidFill>
              <a:srgbClr val="F5A524"/>
            </a:solidFill>
            <a:ln>
              <a:noFill/>
            </a:ln>
          </p:spPr>
          <p:txBody>
            <a:bodyPr rtlCol="0" anchor="ctr"/>
            <a:lstStyle/>
            <a:p>
              <a:pPr algn="ctr"/>
            </a:p>
          </p:txBody>
        </p:sp>
        <p:sp>
          <p:nvSpPr>
            <p:cNvPr id="22" name="TextBox 21"/>
            <p:cNvSpPr txBox="1"/>
            <p:nvPr/>
          </p:nvSpPr>
          <p:spPr>
            <a:xfrm>
              <a:off x="6571335" y="2656332"/>
              <a:ext cx="2138095" cy="201168"/>
            </a:xfrm>
            <a:prstGeom prst="rect">
              <a:avLst/>
            </a:prstGeom>
            <a:noFill/>
          </p:spPr>
          <p:txBody>
            <a:bodyPr wrap="square" lIns="0" rIns="0" tIns="0" bIns="0" anchor="t">
              <a:noAutofit/>
            </a:bodyPr>
            <a:lstStyle/>
            <a:p>
              <a:pPr algn="l">
                <a:lnSpc>
                  <a:spcPct val="100000"/>
                </a:lnSpc>
              </a:pPr>
              <a:r>
                <a:rPr sz="1150" b="0" spc="184">
                  <a:solidFill>
                    <a:srgbClr val="FFFFFF"/>
                  </a:solidFill>
                  <a:latin typeface="Menlo"/>
                </a:rPr>
                <a:t>STRIPE</a:t>
              </a:r>
            </a:p>
          </p:txBody>
        </p:sp>
        <p:sp>
          <p:nvSpPr>
            <p:cNvPr id="23" name="TextBox 22"/>
            <p:cNvSpPr txBox="1"/>
            <p:nvPr/>
          </p:nvSpPr>
          <p:spPr>
            <a:xfrm>
              <a:off x="6278727" y="3154680"/>
              <a:ext cx="2430703" cy="2011680"/>
            </a:xfrm>
            <a:prstGeom prst="rect">
              <a:avLst/>
            </a:prstGeom>
            <a:noFill/>
          </p:spPr>
          <p:txBody>
            <a:bodyPr wrap="square" lIns="0" rIns="0" tIns="0" bIns="0" anchor="t">
              <a:noAutofit/>
            </a:bodyPr>
            <a:lstStyle/>
            <a:p>
              <a:pPr algn="l">
                <a:lnSpc>
                  <a:spcPct val="102000"/>
                </a:lnSpc>
              </a:pPr>
              <a:r>
                <a:rPr sz="1600" b="0" spc="-16">
                  <a:solidFill>
                    <a:srgbClr val="F4F4F2"/>
                  </a:solidFill>
                  <a:latin typeface="Helvetica Neue"/>
                </a:rPr>
                <a:t>Checkout to claim an airspace.</a:t>
              </a:r>
            </a:p>
            <a:p>
              <a:pPr algn="l">
                <a:lnSpc>
                  <a:spcPct val="102000"/>
                </a:lnSpc>
                <a:spcBef>
                  <a:spcPts val="700"/>
                </a:spcBef>
              </a:pPr>
              <a:r>
                <a:rPr sz="1600" b="0" spc="-16">
                  <a:solidFill>
                    <a:srgbClr val="F4F4F2"/>
                  </a:solidFill>
                  <a:latin typeface="Helvetica Neue"/>
                </a:rPr>
                <a:t>Billing Meters for pay-per-rescue.</a:t>
              </a:r>
            </a:p>
          </p:txBody>
        </p:sp>
      </p:grpSp>
      <p:grpSp>
        <p:nvGrpSpPr>
          <p:cNvPr id="29" name="Group 28"/>
          <p:cNvGrpSpPr/>
          <p:nvPr/>
        </p:nvGrpSpPr>
        <p:grpSpPr>
          <a:xfrm>
            <a:off x="9075191" y="2468880"/>
            <a:ext cx="2430704" cy="2697480"/>
            <a:chOff x="9075191" y="2468880"/>
            <a:chExt cx="2430704" cy="2697480"/>
          </a:xfrm>
        </p:grpSpPr>
        <p:cxnSp>
          <p:nvCxnSpPr>
            <p:cNvPr id="25" name="Connector 24"/>
            <p:cNvCxnSpPr/>
            <p:nvPr/>
          </p:nvCxnSpPr>
          <p:spPr>
            <a:xfrm>
              <a:off x="9075191" y="2468880"/>
              <a:ext cx="2430704" cy="0"/>
            </a:xfrm>
            <a:prstGeom prst="line">
              <a:avLst/>
            </a:prstGeom>
            <a:ln w="9525">
              <a:solidFill>
                <a:srgbClr val="6E6E68"/>
              </a:solidFill>
            </a:ln>
          </p:spPr>
        </p:cxnSp>
        <p:sp>
          <p:nvSpPr>
            <p:cNvPr id="26" name="Freeform 25"/>
            <p:cNvSpPr/>
            <p:nvPr/>
          </p:nvSpPr>
          <p:spPr>
            <a:xfrm>
              <a:off x="9087442" y="2651760"/>
              <a:ext cx="158378" cy="182880"/>
            </a:xfrm>
            <a:custGeom>
              <a:avLst/>
              <a:gdLst/>
              <a:ahLst/>
              <a:cxnLst/>
              <a:rect l="l" t="t" r="r" b="b"/>
              <a:pathLst>
                <a:path w="158378" h="182880">
                  <a:moveTo>
                    <a:pt x="79189" y="0"/>
                  </a:moveTo>
                  <a:lnTo>
                    <a:pt x="158378" y="45720"/>
                  </a:lnTo>
                  <a:lnTo>
                    <a:pt x="158378" y="137160"/>
                  </a:lnTo>
                  <a:lnTo>
                    <a:pt x="79189" y="182880"/>
                  </a:lnTo>
                  <a:lnTo>
                    <a:pt x="0" y="137160"/>
                  </a:lnTo>
                  <a:lnTo>
                    <a:pt x="0" y="45720"/>
                  </a:lnTo>
                  <a:close/>
                </a:path>
              </a:pathLst>
            </a:custGeom>
            <a:solidFill>
              <a:srgbClr val="F5A524"/>
            </a:solidFill>
            <a:ln>
              <a:noFill/>
            </a:ln>
          </p:spPr>
          <p:txBody>
            <a:bodyPr rtlCol="0" anchor="ctr"/>
            <a:lstStyle/>
            <a:p>
              <a:pPr algn="ctr"/>
            </a:p>
          </p:txBody>
        </p:sp>
        <p:sp>
          <p:nvSpPr>
            <p:cNvPr id="27" name="TextBox 26"/>
            <p:cNvSpPr txBox="1"/>
            <p:nvPr/>
          </p:nvSpPr>
          <p:spPr>
            <a:xfrm>
              <a:off x="9367799" y="2656332"/>
              <a:ext cx="2138095" cy="201168"/>
            </a:xfrm>
            <a:prstGeom prst="rect">
              <a:avLst/>
            </a:prstGeom>
            <a:noFill/>
          </p:spPr>
          <p:txBody>
            <a:bodyPr wrap="square" lIns="0" rIns="0" tIns="0" bIns="0" anchor="t">
              <a:noAutofit/>
            </a:bodyPr>
            <a:lstStyle/>
            <a:p>
              <a:pPr algn="l">
                <a:lnSpc>
                  <a:spcPct val="100000"/>
                </a:lnSpc>
              </a:pPr>
              <a:r>
                <a:rPr sz="1150" b="0" spc="184">
                  <a:solidFill>
                    <a:srgbClr val="FFFFFF"/>
                  </a:solidFill>
                  <a:latin typeface="Menlo"/>
                </a:rPr>
                <a:t>CLAUDE</a:t>
              </a:r>
            </a:p>
          </p:txBody>
        </p:sp>
        <p:sp>
          <p:nvSpPr>
            <p:cNvPr id="28" name="TextBox 27"/>
            <p:cNvSpPr txBox="1"/>
            <p:nvPr/>
          </p:nvSpPr>
          <p:spPr>
            <a:xfrm>
              <a:off x="9075191" y="3154680"/>
              <a:ext cx="2430703" cy="2011680"/>
            </a:xfrm>
            <a:prstGeom prst="rect">
              <a:avLst/>
            </a:prstGeom>
            <a:noFill/>
          </p:spPr>
          <p:txBody>
            <a:bodyPr wrap="square" lIns="0" rIns="0" tIns="0" bIns="0" anchor="t">
              <a:noAutofit/>
            </a:bodyPr>
            <a:lstStyle/>
            <a:p>
              <a:pPr algn="l">
                <a:lnSpc>
                  <a:spcPct val="102000"/>
                </a:lnSpc>
              </a:pPr>
              <a:r>
                <a:rPr sz="1600" b="0" spc="-16">
                  <a:solidFill>
                    <a:srgbClr val="F4F4F2"/>
                  </a:solidFill>
                  <a:latin typeface="Helvetica Neue"/>
                </a:rPr>
                <a:t>Claude Code plugin hook, six MCP tools, test flights flown by real agents.</a:t>
              </a:r>
            </a:p>
          </p:txBody>
        </p:sp>
      </p:grpSp>
      <p:cxnSp>
        <p:nvCxnSpPr>
          <p:cNvPr id="30" name="Connector 29"/>
          <p:cNvCxnSpPr/>
          <p:nvPr/>
        </p:nvCxnSpPr>
        <p:spPr>
          <a:xfrm>
            <a:off x="685800" y="5394960"/>
            <a:ext cx="10820095" cy="0"/>
          </a:xfrm>
          <a:prstGeom prst="line">
            <a:avLst/>
          </a:prstGeom>
          <a:ln w="9525">
            <a:solidFill>
              <a:srgbClr val="343434"/>
            </a:solidFill>
          </a:ln>
        </p:spPr>
      </p:cxnSp>
      <p:sp>
        <p:nvSpPr>
          <p:cNvPr id="31" name="Freeform 30"/>
          <p:cNvSpPr/>
          <p:nvPr/>
        </p:nvSpPr>
        <p:spPr>
          <a:xfrm>
            <a:off x="695600" y="5641848"/>
            <a:ext cx="126703" cy="146304"/>
          </a:xfrm>
          <a:custGeom>
            <a:avLst/>
            <a:gdLst/>
            <a:ahLst/>
            <a:cxnLst/>
            <a:rect l="l" t="t" r="r" b="b"/>
            <a:pathLst>
              <a:path w="126703" h="146304">
                <a:moveTo>
                  <a:pt x="63352" y="0"/>
                </a:moveTo>
                <a:lnTo>
                  <a:pt x="126703" y="36576"/>
                </a:lnTo>
                <a:lnTo>
                  <a:pt x="126703" y="109728"/>
                </a:lnTo>
                <a:lnTo>
                  <a:pt x="63352" y="146304"/>
                </a:lnTo>
                <a:lnTo>
                  <a:pt x="0" y="109728"/>
                </a:lnTo>
                <a:lnTo>
                  <a:pt x="0" y="36576"/>
                </a:lnTo>
                <a:close/>
              </a:path>
            </a:pathLst>
          </a:custGeom>
          <a:solidFill>
            <a:srgbClr val="F5A524"/>
          </a:solidFill>
          <a:ln>
            <a:noFill/>
          </a:ln>
        </p:spPr>
        <p:txBody>
          <a:bodyPr rtlCol="0" anchor="ctr"/>
          <a:lstStyle/>
          <a:p>
            <a:pPr algn="ctr"/>
          </a:p>
        </p:txBody>
      </p:sp>
      <p:sp>
        <p:nvSpPr>
          <p:cNvPr id="32" name="TextBox 31"/>
          <p:cNvSpPr txBox="1"/>
          <p:nvPr/>
        </p:nvSpPr>
        <p:spPr>
          <a:xfrm>
            <a:off x="960120" y="5605272"/>
            <a:ext cx="10545775" cy="274320"/>
          </a:xfrm>
          <a:prstGeom prst="rect">
            <a:avLst/>
          </a:prstGeom>
          <a:noFill/>
        </p:spPr>
        <p:txBody>
          <a:bodyPr wrap="square" lIns="0" rIns="0" tIns="0" bIns="0" anchor="t">
            <a:noAutofit/>
          </a:bodyPr>
          <a:lstStyle/>
          <a:p>
            <a:pPr algn="l">
              <a:lnSpc>
                <a:spcPct val="100000"/>
              </a:lnSpc>
            </a:pPr>
            <a:r>
              <a:rPr sz="1300" b="0">
                <a:solidFill>
                  <a:srgbClr val="F5A524"/>
                </a:solidFill>
                <a:latin typeface="Menlo"/>
              </a:rPr>
              <a:t>A mayday is one SQL transaction.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19"/>
                                        </p:tgtEl>
                                        <p:attrNameLst>
                                          <p:attrName>style.visibility</p:attrName>
                                        </p:attrNameLst>
                                      </p:cBhvr>
                                      <p:to>
                                        <p:strVal val="visible"/>
                                      </p:to>
                                    </p:set>
                                    <p:animEffect transition="in" filter="fade">
                                      <p:cBhvr>
                                        <p:cTn id="11" dur="500"/>
                                        <p:tgtEl>
                                          <p:spTgt spid="19"/>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par>
                          <p:cTn id="16" fill="hold">
                            <p:stCondLst>
                              <p:cond delay="2550"/>
                            </p:stCondLst>
                            <p:childTnLst>
                              <p:par>
                                <p:cTn id="17" presetID="10" presetClass="entr" presetSubtype="0" fill="hold" nodeType="afterEffect">
                                  <p:stCondLst>
                                    <p:cond delay="35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188720"/>
            <a:ext cx="10820095" cy="1417320"/>
          </a:xfrm>
        </p:spPr>
        <p:txBody>
          <a:bodyPr wrap="square" lIns="0" rIns="0" tIns="0" bIns="0" anchor="t">
            <a:noAutofit/>
          </a:bodyPr>
          <a:lstStyle/>
          <a:p>
            <a:pPr algn="l">
              <a:lnSpc>
                <a:spcPct val="90000"/>
              </a:lnSpc>
            </a:pPr>
            <a:r>
              <a:rPr sz="4400" b="0" spc="-154">
                <a:solidFill>
                  <a:srgbClr val="FFFFFF"/>
                </a:solidFill>
                <a:latin typeface="Helvetica Neue"/>
              </a:rPr>
              <a:t>Vendors already pay to stop developers failing on their product.</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09 / 10  ·  THE BUSINESS</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grpSp>
        <p:nvGrpSpPr>
          <p:cNvPr id="13" name="Group 12"/>
          <p:cNvGrpSpPr/>
          <p:nvPr/>
        </p:nvGrpSpPr>
        <p:grpSpPr>
          <a:xfrm>
            <a:off x="685800" y="2880360"/>
            <a:ext cx="10820095" cy="612648"/>
            <a:chOff x="685800" y="2880360"/>
            <a:chExt cx="10820095" cy="612648"/>
          </a:xfrm>
        </p:grpSpPr>
        <p:cxnSp>
          <p:nvCxnSpPr>
            <p:cNvPr id="10" name="Connector 9"/>
            <p:cNvCxnSpPr/>
            <p:nvPr/>
          </p:nvCxnSpPr>
          <p:spPr>
            <a:xfrm>
              <a:off x="685800" y="2880360"/>
              <a:ext cx="10820095" cy="0"/>
            </a:xfrm>
            <a:prstGeom prst="line">
              <a:avLst/>
            </a:prstGeom>
            <a:ln w="9525">
              <a:solidFill>
                <a:srgbClr val="343434"/>
              </a:solidFill>
            </a:ln>
          </p:spPr>
        </p:cxnSp>
        <p:sp>
          <p:nvSpPr>
            <p:cNvPr id="11" name="TextBox 10"/>
            <p:cNvSpPr txBox="1"/>
            <p:nvPr/>
          </p:nvSpPr>
          <p:spPr>
            <a:xfrm>
              <a:off x="685800" y="3035808"/>
              <a:ext cx="1554480" cy="457200"/>
            </a:xfrm>
            <a:prstGeom prst="rect">
              <a:avLst/>
            </a:prstGeom>
            <a:noFill/>
          </p:spPr>
          <p:txBody>
            <a:bodyPr wrap="square" lIns="0" rIns="0" tIns="0" bIns="0" anchor="t">
              <a:noAutofit/>
            </a:bodyPr>
            <a:lstStyle/>
            <a:p>
              <a:pPr algn="l">
                <a:lnSpc>
                  <a:spcPct val="100000"/>
                </a:lnSpc>
              </a:pPr>
              <a:r>
                <a:rPr sz="2600" b="0" spc="-78">
                  <a:solidFill>
                    <a:srgbClr val="F5A524"/>
                  </a:solidFill>
                  <a:latin typeface="Helvetica Neue"/>
                </a:rPr>
                <a:t>Find</a:t>
              </a:r>
            </a:p>
          </p:txBody>
        </p:sp>
        <p:sp>
          <p:nvSpPr>
            <p:cNvPr id="12" name="TextBox 11"/>
            <p:cNvSpPr txBox="1"/>
            <p:nvPr/>
          </p:nvSpPr>
          <p:spPr>
            <a:xfrm>
              <a:off x="2423160" y="3063240"/>
              <a:ext cx="9082735" cy="411480"/>
            </a:xfrm>
            <a:prstGeom prst="rect">
              <a:avLst/>
            </a:prstGeom>
            <a:noFill/>
          </p:spPr>
          <p:txBody>
            <a:bodyPr wrap="square" lIns="0" rIns="0" tIns="0" bIns="0" anchor="t">
              <a:noAutofit/>
            </a:bodyPr>
            <a:lstStyle/>
            <a:p>
              <a:pPr algn="l">
                <a:lnSpc>
                  <a:spcPct val="100000"/>
                </a:lnSpc>
              </a:pPr>
              <a:r>
                <a:rPr sz="2200" b="0" spc="-44">
                  <a:solidFill>
                    <a:srgbClr val="FFFFFF"/>
                  </a:solidFill>
                  <a:latin typeface="Helvetica Neue"/>
                </a:rPr>
                <a:t>test flights + live maydays</a:t>
              </a:r>
            </a:p>
          </p:txBody>
        </p:sp>
      </p:grpSp>
      <p:grpSp>
        <p:nvGrpSpPr>
          <p:cNvPr id="17" name="Group 16"/>
          <p:cNvGrpSpPr/>
          <p:nvPr/>
        </p:nvGrpSpPr>
        <p:grpSpPr>
          <a:xfrm>
            <a:off x="685800" y="3611880"/>
            <a:ext cx="10820095" cy="612648"/>
            <a:chOff x="685800" y="3611880"/>
            <a:chExt cx="10820095" cy="612648"/>
          </a:xfrm>
        </p:grpSpPr>
        <p:cxnSp>
          <p:nvCxnSpPr>
            <p:cNvPr id="14" name="Connector 13"/>
            <p:cNvCxnSpPr/>
            <p:nvPr/>
          </p:nvCxnSpPr>
          <p:spPr>
            <a:xfrm>
              <a:off x="685800" y="3611880"/>
              <a:ext cx="10820095" cy="0"/>
            </a:xfrm>
            <a:prstGeom prst="line">
              <a:avLst/>
            </a:prstGeom>
            <a:ln w="9525">
              <a:solidFill>
                <a:srgbClr val="343434"/>
              </a:solidFill>
            </a:ln>
          </p:spPr>
        </p:cxnSp>
        <p:sp>
          <p:nvSpPr>
            <p:cNvPr id="15" name="TextBox 14"/>
            <p:cNvSpPr txBox="1"/>
            <p:nvPr/>
          </p:nvSpPr>
          <p:spPr>
            <a:xfrm>
              <a:off x="685800" y="3767328"/>
              <a:ext cx="1554480" cy="457200"/>
            </a:xfrm>
            <a:prstGeom prst="rect">
              <a:avLst/>
            </a:prstGeom>
            <a:noFill/>
          </p:spPr>
          <p:txBody>
            <a:bodyPr wrap="square" lIns="0" rIns="0" tIns="0" bIns="0" anchor="t">
              <a:noAutofit/>
            </a:bodyPr>
            <a:lstStyle/>
            <a:p>
              <a:pPr algn="l">
                <a:lnSpc>
                  <a:spcPct val="100000"/>
                </a:lnSpc>
              </a:pPr>
              <a:r>
                <a:rPr sz="2600" b="0" spc="-78">
                  <a:solidFill>
                    <a:srgbClr val="F5A524"/>
                  </a:solidFill>
                  <a:latin typeface="Helvetica Neue"/>
                </a:rPr>
                <a:t>Fix</a:t>
              </a:r>
            </a:p>
          </p:txBody>
        </p:sp>
        <p:sp>
          <p:nvSpPr>
            <p:cNvPr id="16" name="TextBox 15"/>
            <p:cNvSpPr txBox="1"/>
            <p:nvPr/>
          </p:nvSpPr>
          <p:spPr>
            <a:xfrm>
              <a:off x="2423160" y="3794760"/>
              <a:ext cx="9082735" cy="411480"/>
            </a:xfrm>
            <a:prstGeom prst="rect">
              <a:avLst/>
            </a:prstGeom>
            <a:noFill/>
          </p:spPr>
          <p:txBody>
            <a:bodyPr wrap="square" lIns="0" rIns="0" tIns="0" bIns="0" anchor="t">
              <a:noAutofit/>
            </a:bodyPr>
            <a:lstStyle/>
            <a:p>
              <a:pPr algn="l">
                <a:lnSpc>
                  <a:spcPct val="100000"/>
                </a:lnSpc>
              </a:pPr>
              <a:r>
                <a:rPr sz="2200" b="0" spc="-44">
                  <a:solidFill>
                    <a:srgbClr val="FFFFFF"/>
                  </a:solidFill>
                  <a:latin typeface="Helvetica Neue"/>
                </a:rPr>
                <a:t>the official fix, delivered at the moment of failure</a:t>
              </a:r>
            </a:p>
          </p:txBody>
        </p:sp>
      </p:grpSp>
      <p:grpSp>
        <p:nvGrpSpPr>
          <p:cNvPr id="21" name="Group 20"/>
          <p:cNvGrpSpPr/>
          <p:nvPr/>
        </p:nvGrpSpPr>
        <p:grpSpPr>
          <a:xfrm>
            <a:off x="685800" y="4343400"/>
            <a:ext cx="10820095" cy="612648"/>
            <a:chOff x="685800" y="4343400"/>
            <a:chExt cx="10820095" cy="612648"/>
          </a:xfrm>
        </p:grpSpPr>
        <p:cxnSp>
          <p:nvCxnSpPr>
            <p:cNvPr id="18" name="Connector 17"/>
            <p:cNvCxnSpPr/>
            <p:nvPr/>
          </p:nvCxnSpPr>
          <p:spPr>
            <a:xfrm>
              <a:off x="685800" y="4343400"/>
              <a:ext cx="10820095" cy="0"/>
            </a:xfrm>
            <a:prstGeom prst="line">
              <a:avLst/>
            </a:prstGeom>
            <a:ln w="9525">
              <a:solidFill>
                <a:srgbClr val="343434"/>
              </a:solidFill>
            </a:ln>
          </p:spPr>
        </p:cxnSp>
        <p:sp>
          <p:nvSpPr>
            <p:cNvPr id="19" name="TextBox 18"/>
            <p:cNvSpPr txBox="1"/>
            <p:nvPr/>
          </p:nvSpPr>
          <p:spPr>
            <a:xfrm>
              <a:off x="685800" y="4498848"/>
              <a:ext cx="1554480" cy="457200"/>
            </a:xfrm>
            <a:prstGeom prst="rect">
              <a:avLst/>
            </a:prstGeom>
            <a:noFill/>
          </p:spPr>
          <p:txBody>
            <a:bodyPr wrap="square" lIns="0" rIns="0" tIns="0" bIns="0" anchor="t">
              <a:noAutofit/>
            </a:bodyPr>
            <a:lstStyle/>
            <a:p>
              <a:pPr algn="l">
                <a:lnSpc>
                  <a:spcPct val="100000"/>
                </a:lnSpc>
              </a:pPr>
              <a:r>
                <a:rPr sz="2600" b="0" spc="-78">
                  <a:solidFill>
                    <a:srgbClr val="F5A524"/>
                  </a:solidFill>
                  <a:latin typeface="Helvetica Neue"/>
                </a:rPr>
                <a:t>Prove</a:t>
              </a:r>
            </a:p>
          </p:txBody>
        </p:sp>
        <p:sp>
          <p:nvSpPr>
            <p:cNvPr id="20" name="TextBox 19"/>
            <p:cNvSpPr txBox="1"/>
            <p:nvPr/>
          </p:nvSpPr>
          <p:spPr>
            <a:xfrm>
              <a:off x="2423160" y="4526280"/>
              <a:ext cx="9082735" cy="411480"/>
            </a:xfrm>
            <a:prstGeom prst="rect">
              <a:avLst/>
            </a:prstGeom>
            <a:noFill/>
          </p:spPr>
          <p:txBody>
            <a:bodyPr wrap="square" lIns="0" rIns="0" tIns="0" bIns="0" anchor="t">
              <a:noAutofit/>
            </a:bodyPr>
            <a:lstStyle/>
            <a:p>
              <a:pPr algn="l">
                <a:lnSpc>
                  <a:spcPct val="100000"/>
                </a:lnSpc>
              </a:pPr>
              <a:r>
                <a:rPr sz="2200" b="0" spc="-44">
                  <a:solidFill>
                    <a:srgbClr val="FFFFFF"/>
                  </a:solidFill>
                  <a:latin typeface="Helvetica Neue"/>
                </a:rPr>
                <a:t>airworthiness and a per-rescue bill</a:t>
              </a:r>
            </a:p>
          </p:txBody>
        </p:sp>
      </p:grpSp>
      <p:cxnSp>
        <p:nvCxnSpPr>
          <p:cNvPr id="22" name="Connector 21"/>
          <p:cNvCxnSpPr/>
          <p:nvPr/>
        </p:nvCxnSpPr>
        <p:spPr>
          <a:xfrm>
            <a:off x="685800" y="5074920"/>
            <a:ext cx="10820095" cy="0"/>
          </a:xfrm>
          <a:prstGeom prst="line">
            <a:avLst/>
          </a:prstGeom>
          <a:ln w="9525">
            <a:solidFill>
              <a:srgbClr val="343434"/>
            </a:solidFill>
          </a:ln>
        </p:spPr>
      </p:cxnSp>
      <p:sp>
        <p:nvSpPr>
          <p:cNvPr id="23" name="TextBox 22"/>
          <p:cNvSpPr txBox="1"/>
          <p:nvPr/>
        </p:nvSpPr>
        <p:spPr>
          <a:xfrm>
            <a:off x="685800" y="5394960"/>
            <a:ext cx="10820095" cy="457200"/>
          </a:xfrm>
          <a:prstGeom prst="rect">
            <a:avLst/>
          </a:prstGeom>
          <a:noFill/>
        </p:spPr>
        <p:txBody>
          <a:bodyPr wrap="square" lIns="0" rIns="0" tIns="0" bIns="0" anchor="t">
            <a:noAutofit/>
          </a:bodyPr>
          <a:lstStyle/>
          <a:p>
            <a:pPr algn="l">
              <a:lnSpc>
                <a:spcPct val="100000"/>
              </a:lnSpc>
            </a:pPr>
            <a:r>
              <a:rPr sz="2400" b="0" spc="-60">
                <a:solidFill>
                  <a:srgbClr val="FFFFFF"/>
                </a:solidFill>
                <a:latin typeface="Helvetica Neue"/>
              </a:rPr>
              <a:t>Day-one value with zero network: </a:t>
            </a:r>
            <a:r>
              <a:rPr sz="2400" b="0" spc="-60">
                <a:solidFill>
                  <a:srgbClr val="F5A524"/>
                </a:solidFill>
                <a:latin typeface="Helvetica Neue"/>
              </a:rPr>
              <a:t>launch a test flight.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500"/>
                                        <p:tgtEl>
                                          <p:spTgt spid="17"/>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itle 1"/>
          <p:cNvSpPr>
            <a:spLocks noGrp="1"/>
          </p:cNvSpPr>
          <p:nvPr>
            <p:ph type="title"/>
          </p:nvPr>
        </p:nvSpPr>
        <p:spPr>
          <a:xfrm>
            <a:off x="685800" y="1188720"/>
            <a:ext cx="10424160" cy="2057400"/>
          </a:xfrm>
        </p:spPr>
        <p:txBody>
          <a:bodyPr wrap="square" lIns="0" rIns="0" tIns="0" bIns="0" anchor="t">
            <a:noAutofit/>
          </a:bodyPr>
          <a:lstStyle/>
          <a:p>
            <a:pPr algn="l">
              <a:lnSpc>
                <a:spcPct val="90000"/>
              </a:lnSpc>
            </a:pPr>
            <a:r>
              <a:rPr sz="4800" b="0" spc="-168">
                <a:solidFill>
                  <a:srgbClr val="FFFFFF"/>
                </a:solidFill>
                <a:latin typeface="Helvetica Neue"/>
              </a:rPr>
              <a:t>Every agent that goes down should be the last one to go down there.</a:t>
            </a:r>
          </a:p>
        </p:txBody>
      </p:sp>
      <p:sp>
        <p:nvSpPr>
          <p:cNvPr id="3" name="Freeform 2"/>
          <p:cNvSpPr/>
          <p:nvPr/>
        </p:nvSpPr>
        <p:spPr>
          <a:xfrm>
            <a:off x="691356" y="466344"/>
            <a:ext cx="190055" cy="219456"/>
          </a:xfrm>
          <a:custGeom>
            <a:avLst/>
            <a:gdLst/>
            <a:ahLst/>
            <a:cxnLst/>
            <a:rect l="l" t="t" r="r" b="b"/>
            <a:pathLst>
              <a:path w="190055" h="219456">
                <a:moveTo>
                  <a:pt x="95028" y="0"/>
                </a:moveTo>
                <a:lnTo>
                  <a:pt x="190055" y="54864"/>
                </a:lnTo>
                <a:lnTo>
                  <a:pt x="190055" y="164592"/>
                </a:lnTo>
                <a:lnTo>
                  <a:pt x="95028" y="219456"/>
                </a:lnTo>
                <a:lnTo>
                  <a:pt x="0" y="164592"/>
                </a:lnTo>
                <a:lnTo>
                  <a:pt x="0" y="54863"/>
                </a:lnTo>
                <a:close/>
              </a:path>
            </a:pathLst>
          </a:custGeom>
          <a:solidFill>
            <a:srgbClr val="F5A524"/>
          </a:solidFill>
          <a:ln>
            <a:noFill/>
          </a:ln>
        </p:spPr>
        <p:txBody>
          <a:bodyPr rtlCol="0" anchor="ctr"/>
          <a:lstStyle/>
          <a:p>
            <a:pPr algn="ctr"/>
          </a:p>
        </p:txBody>
      </p:sp>
      <p:sp>
        <p:nvSpPr>
          <p:cNvPr id="4" name="TextBox 3"/>
          <p:cNvSpPr txBox="1"/>
          <p:nvPr/>
        </p:nvSpPr>
        <p:spPr>
          <a:xfrm>
            <a:off x="1014983" y="493776"/>
            <a:ext cx="2743200" cy="182880"/>
          </a:xfrm>
          <a:prstGeom prst="rect">
            <a:avLst/>
          </a:prstGeom>
          <a:noFill/>
        </p:spPr>
        <p:txBody>
          <a:bodyPr wrap="square" lIns="0" rIns="0" tIns="0" bIns="0" anchor="t">
            <a:noAutofit/>
          </a:bodyPr>
          <a:lstStyle/>
          <a:p>
            <a:pPr algn="l">
              <a:lnSpc>
                <a:spcPct val="100000"/>
              </a:lnSpc>
            </a:pPr>
            <a:r>
              <a:rPr sz="1000" b="0" spc="160">
                <a:solidFill>
                  <a:srgbClr val="FFFFFF"/>
                </a:solidFill>
                <a:latin typeface="Menlo"/>
              </a:rPr>
              <a:t>MAYDAY</a:t>
            </a:r>
          </a:p>
        </p:txBody>
      </p:sp>
      <p:sp>
        <p:nvSpPr>
          <p:cNvPr id="5" name="TextBox 4"/>
          <p:cNvSpPr txBox="1"/>
          <p:nvPr/>
        </p:nvSpPr>
        <p:spPr>
          <a:xfrm>
            <a:off x="6019495" y="493776"/>
            <a:ext cx="5486400" cy="182880"/>
          </a:xfrm>
          <a:prstGeom prst="rect">
            <a:avLst/>
          </a:prstGeom>
          <a:noFill/>
        </p:spPr>
        <p:txBody>
          <a:bodyPr wrap="square" lIns="0" rIns="0" tIns="0" bIns="0" anchor="t">
            <a:noAutofit/>
          </a:bodyPr>
          <a:lstStyle/>
          <a:p>
            <a:pPr algn="r">
              <a:lnSpc>
                <a:spcPct val="100000"/>
              </a:lnSpc>
            </a:pPr>
            <a:r>
              <a:rPr sz="1000" b="0" spc="160">
                <a:solidFill>
                  <a:srgbClr val="8F8F8A"/>
                </a:solidFill>
                <a:latin typeface="Menlo"/>
              </a:rPr>
              <a:t>10 / 10  ·  CLOSE</a:t>
            </a:r>
          </a:p>
        </p:txBody>
      </p:sp>
      <p:cxnSp>
        <p:nvCxnSpPr>
          <p:cNvPr id="6" name="Connector 5"/>
          <p:cNvCxnSpPr/>
          <p:nvPr/>
        </p:nvCxnSpPr>
        <p:spPr>
          <a:xfrm>
            <a:off x="685800" y="896112"/>
            <a:ext cx="10820095" cy="0"/>
          </a:xfrm>
          <a:prstGeom prst="line">
            <a:avLst/>
          </a:prstGeom>
          <a:ln w="9525">
            <a:solidFill>
              <a:srgbClr val="343434"/>
            </a:solidFill>
          </a:ln>
        </p:spPr>
      </p:cxnSp>
      <p:cxnSp>
        <p:nvCxnSpPr>
          <p:cNvPr id="7" name="Connector 6"/>
          <p:cNvCxnSpPr/>
          <p:nvPr/>
        </p:nvCxnSpPr>
        <p:spPr>
          <a:xfrm>
            <a:off x="685800" y="6291072"/>
            <a:ext cx="10820095" cy="0"/>
          </a:xfrm>
          <a:prstGeom prst="line">
            <a:avLst/>
          </a:prstGeom>
          <a:ln w="9525">
            <a:solidFill>
              <a:srgbClr val="343434"/>
            </a:solidFill>
          </a:ln>
        </p:spPr>
      </p:cxnSp>
      <p:sp>
        <p:nvSpPr>
          <p:cNvPr id="8" name="TextBox 7"/>
          <p:cNvSpPr txBox="1"/>
          <p:nvPr/>
        </p:nvSpPr>
        <p:spPr>
          <a:xfrm>
            <a:off x="685800" y="6400800"/>
            <a:ext cx="5486400" cy="164592"/>
          </a:xfrm>
          <a:prstGeom prst="rect">
            <a:avLst/>
          </a:prstGeom>
          <a:noFill/>
        </p:spPr>
        <p:txBody>
          <a:bodyPr wrap="square" lIns="0" rIns="0" tIns="0" bIns="0" anchor="t">
            <a:noAutofit/>
          </a:bodyPr>
          <a:lstStyle/>
          <a:p>
            <a:pPr algn="l">
              <a:lnSpc>
                <a:spcPct val="100000"/>
              </a:lnSpc>
            </a:pPr>
            <a:r>
              <a:rPr sz="850" b="0" spc="136">
                <a:solidFill>
                  <a:srgbClr val="55554F"/>
                </a:solidFill>
                <a:latin typeface="Menlo"/>
              </a:rPr>
              <a:t>THE STOP SIGNAL FOR AGENTS</a:t>
            </a:r>
          </a:p>
        </p:txBody>
      </p:sp>
      <p:sp>
        <p:nvSpPr>
          <p:cNvPr id="9" name="TextBox 8"/>
          <p:cNvSpPr txBox="1"/>
          <p:nvPr/>
        </p:nvSpPr>
        <p:spPr>
          <a:xfrm>
            <a:off x="6019495" y="6400800"/>
            <a:ext cx="5486400" cy="164592"/>
          </a:xfrm>
          <a:prstGeom prst="rect">
            <a:avLst/>
          </a:prstGeom>
          <a:noFill/>
        </p:spPr>
        <p:txBody>
          <a:bodyPr wrap="square" lIns="0" rIns="0" tIns="0" bIns="0" anchor="t">
            <a:noAutofit/>
          </a:bodyPr>
          <a:lstStyle/>
          <a:p>
            <a:pPr algn="r">
              <a:lnSpc>
                <a:spcPct val="100000"/>
              </a:lnSpc>
            </a:pPr>
            <a:r>
              <a:rPr sz="850" b="0" spc="34">
                <a:solidFill>
                  <a:srgbClr val="55554F"/>
                </a:solidFill>
                <a:latin typeface="Menlo"/>
              </a:rPr>
              <a:t>mayday-alpha-eight.vercel.app</a:t>
            </a:r>
          </a:p>
        </p:txBody>
      </p:sp>
      <p:sp>
        <p:nvSpPr>
          <p:cNvPr id="10" name="TextBox 9"/>
          <p:cNvSpPr txBox="1"/>
          <p:nvPr/>
        </p:nvSpPr>
        <p:spPr>
          <a:xfrm>
            <a:off x="685800" y="3520440"/>
            <a:ext cx="10820095" cy="320040"/>
          </a:xfrm>
          <a:prstGeom prst="rect">
            <a:avLst/>
          </a:prstGeom>
          <a:noFill/>
        </p:spPr>
        <p:txBody>
          <a:bodyPr wrap="square" lIns="0" rIns="0" tIns="0" bIns="0" anchor="t">
            <a:noAutofit/>
          </a:bodyPr>
          <a:lstStyle/>
          <a:p>
            <a:pPr algn="l">
              <a:lnSpc>
                <a:spcPct val="100000"/>
              </a:lnSpc>
            </a:pPr>
            <a:r>
              <a:rPr sz="1800" b="0">
                <a:solidFill>
                  <a:srgbClr val="F5A524"/>
                </a:solidFill>
                <a:latin typeface="Menlo"/>
              </a:rPr>
              <a:t>https://mayday-alpha-eight.vercel.app</a:t>
            </a:r>
          </a:p>
        </p:txBody>
      </p:sp>
      <p:sp>
        <p:nvSpPr>
          <p:cNvPr id="11" name="TextBox 10"/>
          <p:cNvSpPr txBox="1"/>
          <p:nvPr/>
        </p:nvSpPr>
        <p:spPr>
          <a:xfrm>
            <a:off x="685800" y="3931920"/>
            <a:ext cx="10820095" cy="320040"/>
          </a:xfrm>
          <a:prstGeom prst="rect">
            <a:avLst/>
          </a:prstGeom>
          <a:noFill/>
        </p:spPr>
        <p:txBody>
          <a:bodyPr wrap="square" lIns="0" rIns="0" tIns="0" bIns="0" anchor="t">
            <a:noAutofit/>
          </a:bodyPr>
          <a:lstStyle/>
          <a:p>
            <a:pPr algn="l">
              <a:lnSpc>
                <a:spcPct val="100000"/>
              </a:lnSpc>
            </a:pPr>
            <a:r>
              <a:rPr sz="1800" b="0">
                <a:solidFill>
                  <a:srgbClr val="FFFFFF"/>
                </a:solidFill>
                <a:latin typeface="Menlo"/>
              </a:rPr>
              <a:t>https://github.com/vnmoorthy/mayday</a:t>
            </a:r>
          </a:p>
        </p:txBody>
      </p:sp>
      <p:sp>
        <p:nvSpPr>
          <p:cNvPr id="12" name="Freeform 11"/>
          <p:cNvSpPr/>
          <p:nvPr/>
        </p:nvSpPr>
        <p:spPr>
          <a:xfrm>
            <a:off x="707181"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13" name="Freeform 12"/>
          <p:cNvSpPr/>
          <p:nvPr/>
        </p:nvSpPr>
        <p:spPr>
          <a:xfrm>
            <a:off x="1134803"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14" name="Freeform 13"/>
          <p:cNvSpPr/>
          <p:nvPr/>
        </p:nvSpPr>
        <p:spPr>
          <a:xfrm>
            <a:off x="1562426"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15" name="Freeform 14"/>
          <p:cNvSpPr/>
          <p:nvPr/>
        </p:nvSpPr>
        <p:spPr>
          <a:xfrm>
            <a:off x="1990048" y="4624120"/>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16" name="Freeform 15"/>
          <p:cNvSpPr/>
          <p:nvPr/>
        </p:nvSpPr>
        <p:spPr>
          <a:xfrm>
            <a:off x="2417671"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17" name="Freeform 16"/>
          <p:cNvSpPr/>
          <p:nvPr/>
        </p:nvSpPr>
        <p:spPr>
          <a:xfrm>
            <a:off x="2845293" y="4624120"/>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F3B30"/>
          </a:solidFill>
          <a:ln>
            <a:noFill/>
          </a:ln>
        </p:spPr>
        <p:txBody>
          <a:bodyPr rtlCol="0" anchor="ctr"/>
          <a:lstStyle/>
          <a:p>
            <a:pPr algn="ctr"/>
          </a:p>
        </p:txBody>
      </p:sp>
      <p:sp>
        <p:nvSpPr>
          <p:cNvPr id="18" name="Freeform 17"/>
          <p:cNvSpPr/>
          <p:nvPr/>
        </p:nvSpPr>
        <p:spPr>
          <a:xfrm>
            <a:off x="3272916"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19" name="Freeform 18"/>
          <p:cNvSpPr/>
          <p:nvPr/>
        </p:nvSpPr>
        <p:spPr>
          <a:xfrm>
            <a:off x="3700539"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20" name="Freeform 19"/>
          <p:cNvSpPr/>
          <p:nvPr/>
        </p:nvSpPr>
        <p:spPr>
          <a:xfrm>
            <a:off x="4128161"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21" name="Freeform 20"/>
          <p:cNvSpPr/>
          <p:nvPr/>
        </p:nvSpPr>
        <p:spPr>
          <a:xfrm>
            <a:off x="4555784"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22" name="Freeform 21"/>
          <p:cNvSpPr/>
          <p:nvPr/>
        </p:nvSpPr>
        <p:spPr>
          <a:xfrm>
            <a:off x="4983406" y="4624120"/>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23" name="Freeform 22"/>
          <p:cNvSpPr/>
          <p:nvPr/>
        </p:nvSpPr>
        <p:spPr>
          <a:xfrm>
            <a:off x="5411029"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24" name="Freeform 23"/>
          <p:cNvSpPr/>
          <p:nvPr/>
        </p:nvSpPr>
        <p:spPr>
          <a:xfrm>
            <a:off x="5838651" y="4624120"/>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25" name="Freeform 24"/>
          <p:cNvSpPr/>
          <p:nvPr/>
        </p:nvSpPr>
        <p:spPr>
          <a:xfrm>
            <a:off x="6266274"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26" name="Freeform 25"/>
          <p:cNvSpPr/>
          <p:nvPr/>
        </p:nvSpPr>
        <p:spPr>
          <a:xfrm>
            <a:off x="6693896" y="4624120"/>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F3B30"/>
          </a:solidFill>
          <a:ln>
            <a:noFill/>
          </a:ln>
        </p:spPr>
        <p:txBody>
          <a:bodyPr rtlCol="0" anchor="ctr"/>
          <a:lstStyle/>
          <a:p>
            <a:pPr algn="ctr"/>
          </a:p>
        </p:txBody>
      </p:sp>
      <p:sp>
        <p:nvSpPr>
          <p:cNvPr id="27" name="Freeform 26"/>
          <p:cNvSpPr/>
          <p:nvPr/>
        </p:nvSpPr>
        <p:spPr>
          <a:xfrm>
            <a:off x="7121519"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28" name="Freeform 27"/>
          <p:cNvSpPr/>
          <p:nvPr/>
        </p:nvSpPr>
        <p:spPr>
          <a:xfrm>
            <a:off x="7549142"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29" name="Freeform 28"/>
          <p:cNvSpPr/>
          <p:nvPr/>
        </p:nvSpPr>
        <p:spPr>
          <a:xfrm>
            <a:off x="7976764"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30" name="Freeform 29"/>
          <p:cNvSpPr/>
          <p:nvPr/>
        </p:nvSpPr>
        <p:spPr>
          <a:xfrm>
            <a:off x="8404387"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31" name="Freeform 30"/>
          <p:cNvSpPr/>
          <p:nvPr/>
        </p:nvSpPr>
        <p:spPr>
          <a:xfrm>
            <a:off x="8832009" y="4624120"/>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32" name="Freeform 31"/>
          <p:cNvSpPr/>
          <p:nvPr/>
        </p:nvSpPr>
        <p:spPr>
          <a:xfrm>
            <a:off x="9259632"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33" name="Freeform 32"/>
          <p:cNvSpPr/>
          <p:nvPr/>
        </p:nvSpPr>
        <p:spPr>
          <a:xfrm>
            <a:off x="9687254" y="4624120"/>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F3B30"/>
          </a:solidFill>
          <a:ln>
            <a:noFill/>
          </a:ln>
        </p:spPr>
        <p:txBody>
          <a:bodyPr rtlCol="0" anchor="ctr"/>
          <a:lstStyle/>
          <a:p>
            <a:pPr algn="ctr"/>
          </a:p>
        </p:txBody>
      </p:sp>
      <p:sp>
        <p:nvSpPr>
          <p:cNvPr id="34" name="Freeform 33"/>
          <p:cNvSpPr/>
          <p:nvPr/>
        </p:nvSpPr>
        <p:spPr>
          <a:xfrm>
            <a:off x="10114877"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35" name="Freeform 34"/>
          <p:cNvSpPr/>
          <p:nvPr/>
        </p:nvSpPr>
        <p:spPr>
          <a:xfrm>
            <a:off x="10542500"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36" name="Freeform 35"/>
          <p:cNvSpPr/>
          <p:nvPr/>
        </p:nvSpPr>
        <p:spPr>
          <a:xfrm>
            <a:off x="920992"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37" name="Freeform 36"/>
          <p:cNvSpPr/>
          <p:nvPr/>
        </p:nvSpPr>
        <p:spPr>
          <a:xfrm>
            <a:off x="1348614" y="4994452"/>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F3B30"/>
          </a:solidFill>
          <a:ln>
            <a:noFill/>
          </a:ln>
        </p:spPr>
        <p:txBody>
          <a:bodyPr rtlCol="0" anchor="ctr"/>
          <a:lstStyle/>
          <a:p>
            <a:pPr algn="ctr"/>
          </a:p>
        </p:txBody>
      </p:sp>
      <p:sp>
        <p:nvSpPr>
          <p:cNvPr id="38" name="Freeform 37"/>
          <p:cNvSpPr/>
          <p:nvPr/>
        </p:nvSpPr>
        <p:spPr>
          <a:xfrm>
            <a:off x="1776237"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39" name="Freeform 38"/>
          <p:cNvSpPr/>
          <p:nvPr/>
        </p:nvSpPr>
        <p:spPr>
          <a:xfrm>
            <a:off x="2203860"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40" name="Freeform 39"/>
          <p:cNvSpPr/>
          <p:nvPr/>
        </p:nvSpPr>
        <p:spPr>
          <a:xfrm>
            <a:off x="2631482"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41" name="Freeform 40"/>
          <p:cNvSpPr/>
          <p:nvPr/>
        </p:nvSpPr>
        <p:spPr>
          <a:xfrm>
            <a:off x="3059105"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42" name="Freeform 41"/>
          <p:cNvSpPr/>
          <p:nvPr/>
        </p:nvSpPr>
        <p:spPr>
          <a:xfrm>
            <a:off x="3486727" y="4994452"/>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43" name="Freeform 42"/>
          <p:cNvSpPr/>
          <p:nvPr/>
        </p:nvSpPr>
        <p:spPr>
          <a:xfrm>
            <a:off x="3914350"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44" name="Freeform 43"/>
          <p:cNvSpPr/>
          <p:nvPr/>
        </p:nvSpPr>
        <p:spPr>
          <a:xfrm>
            <a:off x="4341972" y="4994452"/>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F3B30"/>
          </a:solidFill>
          <a:ln>
            <a:noFill/>
          </a:ln>
        </p:spPr>
        <p:txBody>
          <a:bodyPr rtlCol="0" anchor="ctr"/>
          <a:lstStyle/>
          <a:p>
            <a:pPr algn="ctr"/>
          </a:p>
        </p:txBody>
      </p:sp>
      <p:sp>
        <p:nvSpPr>
          <p:cNvPr id="45" name="Freeform 44"/>
          <p:cNvSpPr/>
          <p:nvPr/>
        </p:nvSpPr>
        <p:spPr>
          <a:xfrm>
            <a:off x="4769595"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46" name="Freeform 45"/>
          <p:cNvSpPr/>
          <p:nvPr/>
        </p:nvSpPr>
        <p:spPr>
          <a:xfrm>
            <a:off x="5197218"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47" name="Freeform 46"/>
          <p:cNvSpPr/>
          <p:nvPr/>
        </p:nvSpPr>
        <p:spPr>
          <a:xfrm>
            <a:off x="5624840"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48" name="Freeform 47"/>
          <p:cNvSpPr/>
          <p:nvPr/>
        </p:nvSpPr>
        <p:spPr>
          <a:xfrm>
            <a:off x="6052463"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49" name="Freeform 48"/>
          <p:cNvSpPr/>
          <p:nvPr/>
        </p:nvSpPr>
        <p:spPr>
          <a:xfrm>
            <a:off x="6480085"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50" name="Freeform 49"/>
          <p:cNvSpPr/>
          <p:nvPr/>
        </p:nvSpPr>
        <p:spPr>
          <a:xfrm>
            <a:off x="6907708"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51" name="Freeform 50"/>
          <p:cNvSpPr/>
          <p:nvPr/>
        </p:nvSpPr>
        <p:spPr>
          <a:xfrm>
            <a:off x="7335330" y="4994452"/>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52" name="Freeform 51"/>
          <p:cNvSpPr/>
          <p:nvPr/>
        </p:nvSpPr>
        <p:spPr>
          <a:xfrm>
            <a:off x="7762953"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53" name="Freeform 52"/>
          <p:cNvSpPr/>
          <p:nvPr/>
        </p:nvSpPr>
        <p:spPr>
          <a:xfrm>
            <a:off x="8190575" y="4994452"/>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F3B30"/>
          </a:solidFill>
          <a:ln>
            <a:noFill/>
          </a:ln>
        </p:spPr>
        <p:txBody>
          <a:bodyPr rtlCol="0" anchor="ctr"/>
          <a:lstStyle/>
          <a:p>
            <a:pPr algn="ctr"/>
          </a:p>
        </p:txBody>
      </p:sp>
      <p:sp>
        <p:nvSpPr>
          <p:cNvPr id="54" name="Freeform 53"/>
          <p:cNvSpPr/>
          <p:nvPr/>
        </p:nvSpPr>
        <p:spPr>
          <a:xfrm>
            <a:off x="8618198"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55" name="Freeform 54"/>
          <p:cNvSpPr/>
          <p:nvPr/>
        </p:nvSpPr>
        <p:spPr>
          <a:xfrm>
            <a:off x="9045821"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56" name="Freeform 55"/>
          <p:cNvSpPr/>
          <p:nvPr/>
        </p:nvSpPr>
        <p:spPr>
          <a:xfrm>
            <a:off x="9473443"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57" name="Freeform 56"/>
          <p:cNvSpPr/>
          <p:nvPr/>
        </p:nvSpPr>
        <p:spPr>
          <a:xfrm>
            <a:off x="9901066"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58" name="Freeform 57"/>
          <p:cNvSpPr/>
          <p:nvPr/>
        </p:nvSpPr>
        <p:spPr>
          <a:xfrm>
            <a:off x="10328688" y="4994452"/>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59" name="Freeform 58"/>
          <p:cNvSpPr/>
          <p:nvPr/>
        </p:nvSpPr>
        <p:spPr>
          <a:xfrm>
            <a:off x="10756311"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60" name="Freeform 59"/>
          <p:cNvSpPr/>
          <p:nvPr/>
        </p:nvSpPr>
        <p:spPr>
          <a:xfrm>
            <a:off x="707181"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61" name="Freeform 60"/>
          <p:cNvSpPr/>
          <p:nvPr/>
        </p:nvSpPr>
        <p:spPr>
          <a:xfrm>
            <a:off x="1134803"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62" name="Freeform 61"/>
          <p:cNvSpPr/>
          <p:nvPr/>
        </p:nvSpPr>
        <p:spPr>
          <a:xfrm>
            <a:off x="1562426"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63" name="Freeform 62"/>
          <p:cNvSpPr/>
          <p:nvPr/>
        </p:nvSpPr>
        <p:spPr>
          <a:xfrm>
            <a:off x="1990048" y="5364784"/>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64" name="Freeform 63"/>
          <p:cNvSpPr/>
          <p:nvPr/>
        </p:nvSpPr>
        <p:spPr>
          <a:xfrm>
            <a:off x="2417671"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65" name="Freeform 64"/>
          <p:cNvSpPr/>
          <p:nvPr/>
        </p:nvSpPr>
        <p:spPr>
          <a:xfrm>
            <a:off x="2845293" y="5364784"/>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F3B30"/>
          </a:solidFill>
          <a:ln>
            <a:noFill/>
          </a:ln>
        </p:spPr>
        <p:txBody>
          <a:bodyPr rtlCol="0" anchor="ctr"/>
          <a:lstStyle/>
          <a:p>
            <a:pPr algn="ctr"/>
          </a:p>
        </p:txBody>
      </p:sp>
      <p:sp>
        <p:nvSpPr>
          <p:cNvPr id="66" name="Freeform 65"/>
          <p:cNvSpPr/>
          <p:nvPr/>
        </p:nvSpPr>
        <p:spPr>
          <a:xfrm>
            <a:off x="3272916"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67" name="Freeform 66"/>
          <p:cNvSpPr/>
          <p:nvPr/>
        </p:nvSpPr>
        <p:spPr>
          <a:xfrm>
            <a:off x="3700539"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68" name="Freeform 67"/>
          <p:cNvSpPr/>
          <p:nvPr/>
        </p:nvSpPr>
        <p:spPr>
          <a:xfrm>
            <a:off x="4128161"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69" name="Freeform 68"/>
          <p:cNvSpPr/>
          <p:nvPr/>
        </p:nvSpPr>
        <p:spPr>
          <a:xfrm>
            <a:off x="4555784"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70" name="Freeform 69"/>
          <p:cNvSpPr/>
          <p:nvPr/>
        </p:nvSpPr>
        <p:spPr>
          <a:xfrm>
            <a:off x="4983406" y="5364784"/>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71" name="Freeform 70"/>
          <p:cNvSpPr/>
          <p:nvPr/>
        </p:nvSpPr>
        <p:spPr>
          <a:xfrm>
            <a:off x="5411029"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72" name="Freeform 71"/>
          <p:cNvSpPr/>
          <p:nvPr/>
        </p:nvSpPr>
        <p:spPr>
          <a:xfrm>
            <a:off x="5838651" y="5364784"/>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73" name="Freeform 72"/>
          <p:cNvSpPr/>
          <p:nvPr/>
        </p:nvSpPr>
        <p:spPr>
          <a:xfrm>
            <a:off x="6266274"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74" name="Freeform 73"/>
          <p:cNvSpPr/>
          <p:nvPr/>
        </p:nvSpPr>
        <p:spPr>
          <a:xfrm>
            <a:off x="6693896" y="5364784"/>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F3B30"/>
          </a:solidFill>
          <a:ln>
            <a:noFill/>
          </a:ln>
        </p:spPr>
        <p:txBody>
          <a:bodyPr rtlCol="0" anchor="ctr"/>
          <a:lstStyle/>
          <a:p>
            <a:pPr algn="ctr"/>
          </a:p>
        </p:txBody>
      </p:sp>
      <p:sp>
        <p:nvSpPr>
          <p:cNvPr id="75" name="Freeform 74"/>
          <p:cNvSpPr/>
          <p:nvPr/>
        </p:nvSpPr>
        <p:spPr>
          <a:xfrm>
            <a:off x="7121519"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76" name="Freeform 75"/>
          <p:cNvSpPr/>
          <p:nvPr/>
        </p:nvSpPr>
        <p:spPr>
          <a:xfrm>
            <a:off x="7549142"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77" name="Freeform 76"/>
          <p:cNvSpPr/>
          <p:nvPr/>
        </p:nvSpPr>
        <p:spPr>
          <a:xfrm>
            <a:off x="7976764"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78" name="Freeform 77"/>
          <p:cNvSpPr/>
          <p:nvPr/>
        </p:nvSpPr>
        <p:spPr>
          <a:xfrm>
            <a:off x="8404387"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79" name="Freeform 78"/>
          <p:cNvSpPr/>
          <p:nvPr/>
        </p:nvSpPr>
        <p:spPr>
          <a:xfrm>
            <a:off x="8832009" y="5364784"/>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80" name="Freeform 79"/>
          <p:cNvSpPr/>
          <p:nvPr/>
        </p:nvSpPr>
        <p:spPr>
          <a:xfrm>
            <a:off x="9259632"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81" name="Freeform 80"/>
          <p:cNvSpPr/>
          <p:nvPr/>
        </p:nvSpPr>
        <p:spPr>
          <a:xfrm>
            <a:off x="9687254" y="5364784"/>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F3B30"/>
          </a:solidFill>
          <a:ln>
            <a:noFill/>
          </a:ln>
        </p:spPr>
        <p:txBody>
          <a:bodyPr rtlCol="0" anchor="ctr"/>
          <a:lstStyle/>
          <a:p>
            <a:pPr algn="ctr"/>
          </a:p>
        </p:txBody>
      </p:sp>
      <p:sp>
        <p:nvSpPr>
          <p:cNvPr id="82" name="Freeform 81"/>
          <p:cNvSpPr/>
          <p:nvPr/>
        </p:nvSpPr>
        <p:spPr>
          <a:xfrm>
            <a:off x="10114877"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sp>
        <p:nvSpPr>
          <p:cNvPr id="83" name="Freeform 82"/>
          <p:cNvSpPr/>
          <p:nvPr/>
        </p:nvSpPr>
        <p:spPr>
          <a:xfrm>
            <a:off x="10542500"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F3B30"/>
          </a:solidFill>
          <a:ln>
            <a:noFill/>
          </a:ln>
        </p:spPr>
        <p:txBody>
          <a:bodyPr rtlCol="0" anchor="ctr"/>
          <a:lstStyle/>
          <a:p>
            <a:pPr algn="ctr"/>
          </a:p>
        </p:txBody>
      </p:sp>
      <p:grpSp>
        <p:nvGrpSpPr>
          <p:cNvPr id="89" name="Group 88"/>
          <p:cNvGrpSpPr/>
          <p:nvPr/>
        </p:nvGrpSpPr>
        <p:grpSpPr>
          <a:xfrm>
            <a:off x="1990048" y="4624120"/>
            <a:ext cx="1026294" cy="1185063"/>
            <a:chOff x="1990048" y="4624120"/>
            <a:chExt cx="1026294" cy="1185063"/>
          </a:xfrm>
        </p:grpSpPr>
        <p:sp>
          <p:nvSpPr>
            <p:cNvPr id="84" name="Freeform 83"/>
            <p:cNvSpPr/>
            <p:nvPr/>
          </p:nvSpPr>
          <p:spPr>
            <a:xfrm>
              <a:off x="1990048" y="4624120"/>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85" name="Freeform 84"/>
            <p:cNvSpPr/>
            <p:nvPr/>
          </p:nvSpPr>
          <p:spPr>
            <a:xfrm>
              <a:off x="2417671"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86" name="Freeform 85"/>
            <p:cNvSpPr/>
            <p:nvPr/>
          </p:nvSpPr>
          <p:spPr>
            <a:xfrm>
              <a:off x="2631482"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87" name="Freeform 86"/>
            <p:cNvSpPr/>
            <p:nvPr/>
          </p:nvSpPr>
          <p:spPr>
            <a:xfrm>
              <a:off x="1990048" y="5364784"/>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88" name="Freeform 87"/>
            <p:cNvSpPr/>
            <p:nvPr/>
          </p:nvSpPr>
          <p:spPr>
            <a:xfrm>
              <a:off x="2417671"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5A524"/>
            </a:solidFill>
            <a:ln>
              <a:noFill/>
            </a:ln>
          </p:spPr>
          <p:txBody>
            <a:bodyPr rtlCol="0" anchor="ctr"/>
            <a:lstStyle/>
            <a:p>
              <a:pPr algn="ctr"/>
            </a:p>
          </p:txBody>
        </p:sp>
      </p:grpSp>
      <p:grpSp>
        <p:nvGrpSpPr>
          <p:cNvPr id="105" name="Group 104"/>
          <p:cNvGrpSpPr/>
          <p:nvPr/>
        </p:nvGrpSpPr>
        <p:grpSpPr>
          <a:xfrm>
            <a:off x="2845293" y="4624120"/>
            <a:ext cx="2309162" cy="1185063"/>
            <a:chOff x="2845293" y="4624120"/>
            <a:chExt cx="2309162" cy="1185063"/>
          </a:xfrm>
        </p:grpSpPr>
        <p:sp>
          <p:nvSpPr>
            <p:cNvPr id="90" name="Freeform 89"/>
            <p:cNvSpPr/>
            <p:nvPr/>
          </p:nvSpPr>
          <p:spPr>
            <a:xfrm>
              <a:off x="2845293" y="4624120"/>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5A524"/>
            </a:solidFill>
            <a:ln>
              <a:noFill/>
            </a:ln>
          </p:spPr>
          <p:txBody>
            <a:bodyPr rtlCol="0" anchor="ctr"/>
            <a:lstStyle/>
            <a:p>
              <a:pPr algn="ctr"/>
            </a:p>
          </p:txBody>
        </p:sp>
        <p:sp>
          <p:nvSpPr>
            <p:cNvPr id="91" name="Freeform 90"/>
            <p:cNvSpPr/>
            <p:nvPr/>
          </p:nvSpPr>
          <p:spPr>
            <a:xfrm>
              <a:off x="3272916"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92" name="Freeform 91"/>
            <p:cNvSpPr/>
            <p:nvPr/>
          </p:nvSpPr>
          <p:spPr>
            <a:xfrm>
              <a:off x="3700539"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93" name="Freeform 92"/>
            <p:cNvSpPr/>
            <p:nvPr/>
          </p:nvSpPr>
          <p:spPr>
            <a:xfrm>
              <a:off x="4128161"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94" name="Freeform 93"/>
            <p:cNvSpPr/>
            <p:nvPr/>
          </p:nvSpPr>
          <p:spPr>
            <a:xfrm>
              <a:off x="4555784"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95" name="Freeform 94"/>
            <p:cNvSpPr/>
            <p:nvPr/>
          </p:nvSpPr>
          <p:spPr>
            <a:xfrm>
              <a:off x="3059105"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96" name="Freeform 95"/>
            <p:cNvSpPr/>
            <p:nvPr/>
          </p:nvSpPr>
          <p:spPr>
            <a:xfrm>
              <a:off x="3486727" y="4994452"/>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97" name="Freeform 96"/>
            <p:cNvSpPr/>
            <p:nvPr/>
          </p:nvSpPr>
          <p:spPr>
            <a:xfrm>
              <a:off x="3914350"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98" name="Freeform 97"/>
            <p:cNvSpPr/>
            <p:nvPr/>
          </p:nvSpPr>
          <p:spPr>
            <a:xfrm>
              <a:off x="4341972" y="4994452"/>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58B7FF"/>
            </a:solidFill>
            <a:ln>
              <a:noFill/>
            </a:ln>
          </p:spPr>
          <p:txBody>
            <a:bodyPr rtlCol="0" anchor="ctr"/>
            <a:lstStyle/>
            <a:p>
              <a:pPr algn="ctr"/>
            </a:p>
          </p:txBody>
        </p:sp>
        <p:sp>
          <p:nvSpPr>
            <p:cNvPr id="99" name="Freeform 98"/>
            <p:cNvSpPr/>
            <p:nvPr/>
          </p:nvSpPr>
          <p:spPr>
            <a:xfrm>
              <a:off x="4769595"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00" name="Freeform 99"/>
            <p:cNvSpPr/>
            <p:nvPr/>
          </p:nvSpPr>
          <p:spPr>
            <a:xfrm>
              <a:off x="2845293" y="5364784"/>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F5A524"/>
            </a:solidFill>
            <a:ln>
              <a:noFill/>
            </a:ln>
          </p:spPr>
          <p:txBody>
            <a:bodyPr rtlCol="0" anchor="ctr"/>
            <a:lstStyle/>
            <a:p>
              <a:pPr algn="ctr"/>
            </a:p>
          </p:txBody>
        </p:sp>
        <p:sp>
          <p:nvSpPr>
            <p:cNvPr id="101" name="Freeform 100"/>
            <p:cNvSpPr/>
            <p:nvPr/>
          </p:nvSpPr>
          <p:spPr>
            <a:xfrm>
              <a:off x="3272916"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102" name="Freeform 101"/>
            <p:cNvSpPr/>
            <p:nvPr/>
          </p:nvSpPr>
          <p:spPr>
            <a:xfrm>
              <a:off x="3700539"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F5A524"/>
            </a:solidFill>
            <a:ln>
              <a:noFill/>
            </a:ln>
          </p:spPr>
          <p:txBody>
            <a:bodyPr rtlCol="0" anchor="ctr"/>
            <a:lstStyle/>
            <a:p>
              <a:pPr algn="ctr"/>
            </a:p>
          </p:txBody>
        </p:sp>
        <p:sp>
          <p:nvSpPr>
            <p:cNvPr id="103" name="Freeform 102"/>
            <p:cNvSpPr/>
            <p:nvPr/>
          </p:nvSpPr>
          <p:spPr>
            <a:xfrm>
              <a:off x="4128161"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04" name="Freeform 103"/>
            <p:cNvSpPr/>
            <p:nvPr/>
          </p:nvSpPr>
          <p:spPr>
            <a:xfrm>
              <a:off x="4555784"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grpSp>
      <p:grpSp>
        <p:nvGrpSpPr>
          <p:cNvPr id="121" name="Group 120"/>
          <p:cNvGrpSpPr/>
          <p:nvPr/>
        </p:nvGrpSpPr>
        <p:grpSpPr>
          <a:xfrm>
            <a:off x="4983406" y="4624120"/>
            <a:ext cx="2309162" cy="1185063"/>
            <a:chOff x="4983406" y="4624120"/>
            <a:chExt cx="2309162" cy="1185063"/>
          </a:xfrm>
        </p:grpSpPr>
        <p:sp>
          <p:nvSpPr>
            <p:cNvPr id="106" name="Freeform 105"/>
            <p:cNvSpPr/>
            <p:nvPr/>
          </p:nvSpPr>
          <p:spPr>
            <a:xfrm>
              <a:off x="4983406" y="4624120"/>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07" name="Freeform 106"/>
            <p:cNvSpPr/>
            <p:nvPr/>
          </p:nvSpPr>
          <p:spPr>
            <a:xfrm>
              <a:off x="5411029"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08" name="Freeform 107"/>
            <p:cNvSpPr/>
            <p:nvPr/>
          </p:nvSpPr>
          <p:spPr>
            <a:xfrm>
              <a:off x="5838651" y="4624120"/>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09" name="Freeform 108"/>
            <p:cNvSpPr/>
            <p:nvPr/>
          </p:nvSpPr>
          <p:spPr>
            <a:xfrm>
              <a:off x="6266274"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10" name="Freeform 109"/>
            <p:cNvSpPr/>
            <p:nvPr/>
          </p:nvSpPr>
          <p:spPr>
            <a:xfrm>
              <a:off x="6693896" y="4624120"/>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58B7FF"/>
            </a:solidFill>
            <a:ln>
              <a:noFill/>
            </a:ln>
          </p:spPr>
          <p:txBody>
            <a:bodyPr rtlCol="0" anchor="ctr"/>
            <a:lstStyle/>
            <a:p>
              <a:pPr algn="ctr"/>
            </a:p>
          </p:txBody>
        </p:sp>
        <p:sp>
          <p:nvSpPr>
            <p:cNvPr id="111" name="Freeform 110"/>
            <p:cNvSpPr/>
            <p:nvPr/>
          </p:nvSpPr>
          <p:spPr>
            <a:xfrm>
              <a:off x="5197218"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12" name="Freeform 111"/>
            <p:cNvSpPr/>
            <p:nvPr/>
          </p:nvSpPr>
          <p:spPr>
            <a:xfrm>
              <a:off x="5624840"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13" name="Freeform 112"/>
            <p:cNvSpPr/>
            <p:nvPr/>
          </p:nvSpPr>
          <p:spPr>
            <a:xfrm>
              <a:off x="6052463"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14" name="Freeform 113"/>
            <p:cNvSpPr/>
            <p:nvPr/>
          </p:nvSpPr>
          <p:spPr>
            <a:xfrm>
              <a:off x="6480085"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15" name="Freeform 114"/>
            <p:cNvSpPr/>
            <p:nvPr/>
          </p:nvSpPr>
          <p:spPr>
            <a:xfrm>
              <a:off x="6907708"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16" name="Freeform 115"/>
            <p:cNvSpPr/>
            <p:nvPr/>
          </p:nvSpPr>
          <p:spPr>
            <a:xfrm>
              <a:off x="4983406" y="5364784"/>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17" name="Freeform 116"/>
            <p:cNvSpPr/>
            <p:nvPr/>
          </p:nvSpPr>
          <p:spPr>
            <a:xfrm>
              <a:off x="5411029"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18" name="Freeform 117"/>
            <p:cNvSpPr/>
            <p:nvPr/>
          </p:nvSpPr>
          <p:spPr>
            <a:xfrm>
              <a:off x="5838651" y="5364784"/>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19" name="Freeform 118"/>
            <p:cNvSpPr/>
            <p:nvPr/>
          </p:nvSpPr>
          <p:spPr>
            <a:xfrm>
              <a:off x="6266274"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20" name="Freeform 119"/>
            <p:cNvSpPr/>
            <p:nvPr/>
          </p:nvSpPr>
          <p:spPr>
            <a:xfrm>
              <a:off x="6693896" y="5364784"/>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58B7FF"/>
            </a:solidFill>
            <a:ln>
              <a:noFill/>
            </a:ln>
          </p:spPr>
          <p:txBody>
            <a:bodyPr rtlCol="0" anchor="ctr"/>
            <a:lstStyle/>
            <a:p>
              <a:pPr algn="ctr"/>
            </a:p>
          </p:txBody>
        </p:sp>
      </p:grpSp>
      <p:grpSp>
        <p:nvGrpSpPr>
          <p:cNvPr id="137" name="Group 136"/>
          <p:cNvGrpSpPr/>
          <p:nvPr/>
        </p:nvGrpSpPr>
        <p:grpSpPr>
          <a:xfrm>
            <a:off x="7121519" y="4624120"/>
            <a:ext cx="2309162" cy="1185063"/>
            <a:chOff x="7121519" y="4624120"/>
            <a:chExt cx="2309162" cy="1185063"/>
          </a:xfrm>
        </p:grpSpPr>
        <p:sp>
          <p:nvSpPr>
            <p:cNvPr id="122" name="Freeform 121"/>
            <p:cNvSpPr/>
            <p:nvPr/>
          </p:nvSpPr>
          <p:spPr>
            <a:xfrm>
              <a:off x="7121519"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23" name="Freeform 122"/>
            <p:cNvSpPr/>
            <p:nvPr/>
          </p:nvSpPr>
          <p:spPr>
            <a:xfrm>
              <a:off x="7549142"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24" name="Freeform 123"/>
            <p:cNvSpPr/>
            <p:nvPr/>
          </p:nvSpPr>
          <p:spPr>
            <a:xfrm>
              <a:off x="7976764"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25" name="Freeform 124"/>
            <p:cNvSpPr/>
            <p:nvPr/>
          </p:nvSpPr>
          <p:spPr>
            <a:xfrm>
              <a:off x="8404387"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26" name="Freeform 125"/>
            <p:cNvSpPr/>
            <p:nvPr/>
          </p:nvSpPr>
          <p:spPr>
            <a:xfrm>
              <a:off x="8832009" y="4624120"/>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27" name="Freeform 126"/>
            <p:cNvSpPr/>
            <p:nvPr/>
          </p:nvSpPr>
          <p:spPr>
            <a:xfrm>
              <a:off x="7335330" y="4994452"/>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28" name="Freeform 127"/>
            <p:cNvSpPr/>
            <p:nvPr/>
          </p:nvSpPr>
          <p:spPr>
            <a:xfrm>
              <a:off x="7762953"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29" name="Freeform 128"/>
            <p:cNvSpPr/>
            <p:nvPr/>
          </p:nvSpPr>
          <p:spPr>
            <a:xfrm>
              <a:off x="8190575" y="4994452"/>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58B7FF"/>
            </a:solidFill>
            <a:ln>
              <a:noFill/>
            </a:ln>
          </p:spPr>
          <p:txBody>
            <a:bodyPr rtlCol="0" anchor="ctr"/>
            <a:lstStyle/>
            <a:p>
              <a:pPr algn="ctr"/>
            </a:p>
          </p:txBody>
        </p:sp>
        <p:sp>
          <p:nvSpPr>
            <p:cNvPr id="130" name="Freeform 129"/>
            <p:cNvSpPr/>
            <p:nvPr/>
          </p:nvSpPr>
          <p:spPr>
            <a:xfrm>
              <a:off x="8618198"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31" name="Freeform 130"/>
            <p:cNvSpPr/>
            <p:nvPr/>
          </p:nvSpPr>
          <p:spPr>
            <a:xfrm>
              <a:off x="9045821"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32" name="Freeform 131"/>
            <p:cNvSpPr/>
            <p:nvPr/>
          </p:nvSpPr>
          <p:spPr>
            <a:xfrm>
              <a:off x="7121519"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33" name="Freeform 132"/>
            <p:cNvSpPr/>
            <p:nvPr/>
          </p:nvSpPr>
          <p:spPr>
            <a:xfrm>
              <a:off x="7549142"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34" name="Freeform 133"/>
            <p:cNvSpPr/>
            <p:nvPr/>
          </p:nvSpPr>
          <p:spPr>
            <a:xfrm>
              <a:off x="7976764"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35" name="Freeform 134"/>
            <p:cNvSpPr/>
            <p:nvPr/>
          </p:nvSpPr>
          <p:spPr>
            <a:xfrm>
              <a:off x="8404387"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36" name="Freeform 135"/>
            <p:cNvSpPr/>
            <p:nvPr/>
          </p:nvSpPr>
          <p:spPr>
            <a:xfrm>
              <a:off x="8832009" y="5364784"/>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58B7FF"/>
            </a:solidFill>
            <a:ln>
              <a:noFill/>
            </a:ln>
          </p:spPr>
          <p:txBody>
            <a:bodyPr rtlCol="0" anchor="ctr"/>
            <a:lstStyle/>
            <a:p>
              <a:pPr algn="ctr"/>
            </a:p>
          </p:txBody>
        </p:sp>
      </p:grpSp>
      <p:grpSp>
        <p:nvGrpSpPr>
          <p:cNvPr id="150" name="Group 149"/>
          <p:cNvGrpSpPr/>
          <p:nvPr/>
        </p:nvGrpSpPr>
        <p:grpSpPr>
          <a:xfrm>
            <a:off x="9259632" y="4624120"/>
            <a:ext cx="1881539" cy="1185063"/>
            <a:chOff x="9259632" y="4624120"/>
            <a:chExt cx="1881539" cy="1185063"/>
          </a:xfrm>
        </p:grpSpPr>
        <p:sp>
          <p:nvSpPr>
            <p:cNvPr id="138" name="Freeform 137"/>
            <p:cNvSpPr/>
            <p:nvPr/>
          </p:nvSpPr>
          <p:spPr>
            <a:xfrm>
              <a:off x="9259632"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39" name="Freeform 138"/>
            <p:cNvSpPr/>
            <p:nvPr/>
          </p:nvSpPr>
          <p:spPr>
            <a:xfrm>
              <a:off x="9687254" y="4624120"/>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58B7FF"/>
            </a:solidFill>
            <a:ln>
              <a:noFill/>
            </a:ln>
          </p:spPr>
          <p:txBody>
            <a:bodyPr rtlCol="0" anchor="ctr"/>
            <a:lstStyle/>
            <a:p>
              <a:pPr algn="ctr"/>
            </a:p>
          </p:txBody>
        </p:sp>
        <p:sp>
          <p:nvSpPr>
            <p:cNvPr id="140" name="Freeform 139"/>
            <p:cNvSpPr/>
            <p:nvPr/>
          </p:nvSpPr>
          <p:spPr>
            <a:xfrm>
              <a:off x="10114877"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41" name="Freeform 140"/>
            <p:cNvSpPr/>
            <p:nvPr/>
          </p:nvSpPr>
          <p:spPr>
            <a:xfrm>
              <a:off x="10542500" y="4624120"/>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42" name="Freeform 141"/>
            <p:cNvSpPr/>
            <p:nvPr/>
          </p:nvSpPr>
          <p:spPr>
            <a:xfrm>
              <a:off x="9473443"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43" name="Freeform 142"/>
            <p:cNvSpPr/>
            <p:nvPr/>
          </p:nvSpPr>
          <p:spPr>
            <a:xfrm>
              <a:off x="9901066"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44" name="Freeform 143"/>
            <p:cNvSpPr/>
            <p:nvPr/>
          </p:nvSpPr>
          <p:spPr>
            <a:xfrm>
              <a:off x="10328688" y="4994452"/>
              <a:ext cx="384861" cy="444399"/>
            </a:xfrm>
            <a:custGeom>
              <a:avLst/>
              <a:gdLst/>
              <a:ahLst/>
              <a:cxnLst/>
              <a:rect l="l" t="t" r="r" b="b"/>
              <a:pathLst>
                <a:path w="384861" h="444399">
                  <a:moveTo>
                    <a:pt x="192430" y="0"/>
                  </a:moveTo>
                  <a:lnTo>
                    <a:pt x="384861" y="111100"/>
                  </a:lnTo>
                  <a:lnTo>
                    <a:pt x="384861"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45" name="Freeform 144"/>
            <p:cNvSpPr/>
            <p:nvPr/>
          </p:nvSpPr>
          <p:spPr>
            <a:xfrm>
              <a:off x="10756311" y="4994452"/>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46" name="Freeform 145"/>
            <p:cNvSpPr/>
            <p:nvPr/>
          </p:nvSpPr>
          <p:spPr>
            <a:xfrm>
              <a:off x="9259632"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47" name="Freeform 146"/>
            <p:cNvSpPr/>
            <p:nvPr/>
          </p:nvSpPr>
          <p:spPr>
            <a:xfrm>
              <a:off x="9687254" y="5364784"/>
              <a:ext cx="384861" cy="444399"/>
            </a:xfrm>
            <a:custGeom>
              <a:avLst/>
              <a:gdLst/>
              <a:ahLst/>
              <a:cxnLst/>
              <a:rect l="l" t="t" r="r" b="b"/>
              <a:pathLst>
                <a:path w="384861" h="444399">
                  <a:moveTo>
                    <a:pt x="192431" y="0"/>
                  </a:moveTo>
                  <a:lnTo>
                    <a:pt x="384861" y="111100"/>
                  </a:lnTo>
                  <a:lnTo>
                    <a:pt x="384861" y="333299"/>
                  </a:lnTo>
                  <a:lnTo>
                    <a:pt x="192431" y="444399"/>
                  </a:lnTo>
                  <a:lnTo>
                    <a:pt x="0" y="333299"/>
                  </a:lnTo>
                  <a:lnTo>
                    <a:pt x="0" y="111100"/>
                  </a:lnTo>
                  <a:close/>
                </a:path>
              </a:pathLst>
            </a:custGeom>
            <a:solidFill>
              <a:srgbClr val="58B7FF"/>
            </a:solidFill>
            <a:ln>
              <a:noFill/>
            </a:ln>
          </p:spPr>
          <p:txBody>
            <a:bodyPr rtlCol="0" anchor="ctr"/>
            <a:lstStyle/>
            <a:p>
              <a:pPr algn="ctr"/>
            </a:p>
          </p:txBody>
        </p:sp>
        <p:sp>
          <p:nvSpPr>
            <p:cNvPr id="148" name="Freeform 147"/>
            <p:cNvSpPr/>
            <p:nvPr/>
          </p:nvSpPr>
          <p:spPr>
            <a:xfrm>
              <a:off x="10114877"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sp>
          <p:nvSpPr>
            <p:cNvPr id="149" name="Freeform 148"/>
            <p:cNvSpPr/>
            <p:nvPr/>
          </p:nvSpPr>
          <p:spPr>
            <a:xfrm>
              <a:off x="10542500" y="5364784"/>
              <a:ext cx="384860" cy="444399"/>
            </a:xfrm>
            <a:custGeom>
              <a:avLst/>
              <a:gdLst/>
              <a:ahLst/>
              <a:cxnLst/>
              <a:rect l="l" t="t" r="r" b="b"/>
              <a:pathLst>
                <a:path w="384860" h="444399">
                  <a:moveTo>
                    <a:pt x="192430" y="0"/>
                  </a:moveTo>
                  <a:lnTo>
                    <a:pt x="384860" y="111100"/>
                  </a:lnTo>
                  <a:lnTo>
                    <a:pt x="384860" y="333299"/>
                  </a:lnTo>
                  <a:lnTo>
                    <a:pt x="192430" y="444399"/>
                  </a:lnTo>
                  <a:lnTo>
                    <a:pt x="0" y="333299"/>
                  </a:lnTo>
                  <a:lnTo>
                    <a:pt x="0" y="111100"/>
                  </a:lnTo>
                  <a:close/>
                </a:path>
              </a:pathLst>
            </a:custGeom>
            <a:solidFill>
              <a:srgbClr val="58B7FF"/>
            </a:solidFill>
            <a:ln>
              <a:noFill/>
            </a:ln>
          </p:spPr>
          <p:txBody>
            <a:bodyPr rtlCol="0" anchor="ctr"/>
            <a:lstStyle/>
            <a:p>
              <a:pPr algn="ct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350"/>
                                  </p:stCondLst>
                                  <p:childTnLst>
                                    <p:set>
                                      <p:cBhvr>
                                        <p:cTn id="6" dur="1" fill="hold">
                                          <p:stCondLst>
                                            <p:cond delay="0"/>
                                          </p:stCondLst>
                                        </p:cTn>
                                        <p:tgtEl>
                                          <p:spTgt spid="89"/>
                                        </p:tgtEl>
                                        <p:attrNameLst>
                                          <p:attrName>style.visibility</p:attrName>
                                        </p:attrNameLst>
                                      </p:cBhvr>
                                      <p:to>
                                        <p:strVal val="visible"/>
                                      </p:to>
                                    </p:set>
                                    <p:animEffect transition="in" filter="fade">
                                      <p:cBhvr>
                                        <p:cTn id="7" dur="500"/>
                                        <p:tgtEl>
                                          <p:spTgt spid="89"/>
                                        </p:tgtEl>
                                      </p:cBhvr>
                                    </p:animEffect>
                                  </p:childTnLst>
                                </p:cTn>
                              </p:par>
                            </p:childTnLst>
                          </p:cTn>
                        </p:par>
                        <p:par>
                          <p:cTn id="8" fill="hold">
                            <p:stCondLst>
                              <p:cond delay="850"/>
                            </p:stCondLst>
                            <p:childTnLst>
                              <p:par>
                                <p:cTn id="9" presetID="10" presetClass="entr" presetSubtype="0" fill="hold" nodeType="afterEffect">
                                  <p:stCondLst>
                                    <p:cond delay="350"/>
                                  </p:stCondLst>
                                  <p:childTnLst>
                                    <p:set>
                                      <p:cBhvr>
                                        <p:cTn id="10" dur="1" fill="hold">
                                          <p:stCondLst>
                                            <p:cond delay="0"/>
                                          </p:stCondLst>
                                        </p:cTn>
                                        <p:tgtEl>
                                          <p:spTgt spid="105"/>
                                        </p:tgtEl>
                                        <p:attrNameLst>
                                          <p:attrName>style.visibility</p:attrName>
                                        </p:attrNameLst>
                                      </p:cBhvr>
                                      <p:to>
                                        <p:strVal val="visible"/>
                                      </p:to>
                                    </p:set>
                                    <p:animEffect transition="in" filter="fade">
                                      <p:cBhvr>
                                        <p:cTn id="11" dur="500"/>
                                        <p:tgtEl>
                                          <p:spTgt spid="105"/>
                                        </p:tgtEl>
                                      </p:cBhvr>
                                    </p:animEffect>
                                  </p:childTnLst>
                                </p:cTn>
                              </p:par>
                            </p:childTnLst>
                          </p:cTn>
                        </p:par>
                        <p:par>
                          <p:cTn id="12" fill="hold">
                            <p:stCondLst>
                              <p:cond delay="1700"/>
                            </p:stCondLst>
                            <p:childTnLst>
                              <p:par>
                                <p:cTn id="13" presetID="10" presetClass="entr" presetSubtype="0" fill="hold" nodeType="afterEffect">
                                  <p:stCondLst>
                                    <p:cond delay="350"/>
                                  </p:stCondLst>
                                  <p:childTnLst>
                                    <p:set>
                                      <p:cBhvr>
                                        <p:cTn id="14" dur="1" fill="hold">
                                          <p:stCondLst>
                                            <p:cond delay="0"/>
                                          </p:stCondLst>
                                        </p:cTn>
                                        <p:tgtEl>
                                          <p:spTgt spid="121"/>
                                        </p:tgtEl>
                                        <p:attrNameLst>
                                          <p:attrName>style.visibility</p:attrName>
                                        </p:attrNameLst>
                                      </p:cBhvr>
                                      <p:to>
                                        <p:strVal val="visible"/>
                                      </p:to>
                                    </p:set>
                                    <p:animEffect transition="in" filter="fade">
                                      <p:cBhvr>
                                        <p:cTn id="15" dur="500"/>
                                        <p:tgtEl>
                                          <p:spTgt spid="121"/>
                                        </p:tgtEl>
                                      </p:cBhvr>
                                    </p:animEffect>
                                  </p:childTnLst>
                                </p:cTn>
                              </p:par>
                            </p:childTnLst>
                          </p:cTn>
                        </p:par>
                        <p:par>
                          <p:cTn id="16" fill="hold">
                            <p:stCondLst>
                              <p:cond delay="2550"/>
                            </p:stCondLst>
                            <p:childTnLst>
                              <p:par>
                                <p:cTn id="17" presetID="10" presetClass="entr" presetSubtype="0" fill="hold" nodeType="afterEffect">
                                  <p:stCondLst>
                                    <p:cond delay="350"/>
                                  </p:stCondLst>
                                  <p:childTnLst>
                                    <p:set>
                                      <p:cBhvr>
                                        <p:cTn id="18" dur="1" fill="hold">
                                          <p:stCondLst>
                                            <p:cond delay="0"/>
                                          </p:stCondLst>
                                        </p:cTn>
                                        <p:tgtEl>
                                          <p:spTgt spid="137"/>
                                        </p:tgtEl>
                                        <p:attrNameLst>
                                          <p:attrName>style.visibility</p:attrName>
                                        </p:attrNameLst>
                                      </p:cBhvr>
                                      <p:to>
                                        <p:strVal val="visible"/>
                                      </p:to>
                                    </p:set>
                                    <p:animEffect transition="in" filter="fade">
                                      <p:cBhvr>
                                        <p:cTn id="19" dur="500"/>
                                        <p:tgtEl>
                                          <p:spTgt spid="137"/>
                                        </p:tgtEl>
                                      </p:cBhvr>
                                    </p:animEffect>
                                  </p:childTnLst>
                                </p:cTn>
                              </p:par>
                            </p:childTnLst>
                          </p:cTn>
                        </p:par>
                        <p:par>
                          <p:cTn id="20" fill="hold">
                            <p:stCondLst>
                              <p:cond delay="3400"/>
                            </p:stCondLst>
                            <p:childTnLst>
                              <p:par>
                                <p:cTn id="21" presetID="10" presetClass="entr" presetSubtype="0" fill="hold" nodeType="afterEffect">
                                  <p:stCondLst>
                                    <p:cond delay="350"/>
                                  </p:stCondLst>
                                  <p:childTnLst>
                                    <p:set>
                                      <p:cBhvr>
                                        <p:cTn id="22" dur="1" fill="hold">
                                          <p:stCondLst>
                                            <p:cond delay="0"/>
                                          </p:stCondLst>
                                        </p:cTn>
                                        <p:tgtEl>
                                          <p:spTgt spid="150"/>
                                        </p:tgtEl>
                                        <p:attrNameLst>
                                          <p:attrName>style.visibility</p:attrName>
                                        </p:attrNameLst>
                                      </p:cBhvr>
                                      <p:to>
                                        <p:strVal val="visible"/>
                                      </p:to>
                                    </p:set>
                                    <p:animEffect transition="in" filter="fade">
                                      <p:cBhvr>
                                        <p:cTn id="23" dur="500"/>
                                        <p:tgtEl>
                                          <p:spTgt spid="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Mayday: the stop signal for agents</dc:title>
  <dc:subject>Supabase Select 2026 hackathon</dc:subject>
  <dc:creator>Mayday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